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8"/>
  </p:notesMasterIdLst>
  <p:sldIdLst>
    <p:sldId id="2147473145" r:id="rId3"/>
    <p:sldId id="256" r:id="rId4"/>
    <p:sldId id="2147473178" r:id="rId5"/>
    <p:sldId id="2147473146" r:id="rId6"/>
    <p:sldId id="2147473147" r:id="rId7"/>
    <p:sldId id="2147473148" r:id="rId8"/>
    <p:sldId id="2147473149" r:id="rId9"/>
    <p:sldId id="2147473150" r:id="rId10"/>
    <p:sldId id="2147473151" r:id="rId11"/>
    <p:sldId id="2147473267" r:id="rId12"/>
    <p:sldId id="2147473268" r:id="rId13"/>
    <p:sldId id="2147473269" r:id="rId14"/>
    <p:sldId id="2147473270" r:id="rId15"/>
    <p:sldId id="2147473271" r:id="rId16"/>
    <p:sldId id="2147473272" r:id="rId17"/>
    <p:sldId id="2147473273" r:id="rId18"/>
    <p:sldId id="2147473274" r:id="rId19"/>
    <p:sldId id="2147473275" r:id="rId20"/>
    <p:sldId id="2147473179" r:id="rId21"/>
    <p:sldId id="2147473276" r:id="rId22"/>
    <p:sldId id="2147473342" r:id="rId23"/>
    <p:sldId id="2147473277" r:id="rId24"/>
    <p:sldId id="2147473278" r:id="rId25"/>
    <p:sldId id="2147473279" r:id="rId26"/>
    <p:sldId id="2147473280" r:id="rId27"/>
    <p:sldId id="2147473343" r:id="rId28"/>
    <p:sldId id="2147473344" r:id="rId29"/>
    <p:sldId id="2147473345" r:id="rId30"/>
    <p:sldId id="2147473346" r:id="rId31"/>
    <p:sldId id="2147473347" r:id="rId32"/>
    <p:sldId id="2147473348" r:id="rId33"/>
    <p:sldId id="2147473350" r:id="rId34"/>
    <p:sldId id="2147473351" r:id="rId35"/>
    <p:sldId id="2147473352" r:id="rId36"/>
    <p:sldId id="2147473353" r:id="rId37"/>
    <p:sldId id="2147473281" r:id="rId38"/>
    <p:sldId id="2147473282" r:id="rId39"/>
    <p:sldId id="2147473283" r:id="rId40"/>
    <p:sldId id="2147473284" r:id="rId41"/>
    <p:sldId id="2147473285" r:id="rId42"/>
    <p:sldId id="2147473287" r:id="rId43"/>
    <p:sldId id="2147473286" r:id="rId44"/>
    <p:sldId id="2147473289" r:id="rId45"/>
    <p:sldId id="2147473290" r:id="rId46"/>
    <p:sldId id="2147473291" r:id="rId47"/>
    <p:sldId id="2147473292" r:id="rId48"/>
    <p:sldId id="2147473293" r:id="rId49"/>
    <p:sldId id="2147473294" r:id="rId50"/>
    <p:sldId id="2147473295" r:id="rId51"/>
    <p:sldId id="2147473296" r:id="rId52"/>
    <p:sldId id="2147473297" r:id="rId53"/>
    <p:sldId id="2147473298" r:id="rId54"/>
    <p:sldId id="2147473299" r:id="rId55"/>
    <p:sldId id="2147473161" r:id="rId56"/>
    <p:sldId id="2147473152" r:id="rId57"/>
    <p:sldId id="2147473153" r:id="rId58"/>
    <p:sldId id="2147473154" r:id="rId59"/>
    <p:sldId id="2147473155" r:id="rId60"/>
    <p:sldId id="2147473354" r:id="rId61"/>
    <p:sldId id="2147473156" r:id="rId62"/>
    <p:sldId id="2147473300" r:id="rId63"/>
    <p:sldId id="2147473180" r:id="rId64"/>
    <p:sldId id="2147473301" r:id="rId65"/>
    <p:sldId id="2147473302" r:id="rId66"/>
    <p:sldId id="2147473303" r:id="rId67"/>
    <p:sldId id="2147473304" r:id="rId68"/>
    <p:sldId id="2147473305" r:id="rId69"/>
    <p:sldId id="2147473306" r:id="rId70"/>
    <p:sldId id="2147473307" r:id="rId71"/>
    <p:sldId id="2147473308" r:id="rId72"/>
    <p:sldId id="2147473309" r:id="rId73"/>
    <p:sldId id="2147473310" r:id="rId74"/>
    <p:sldId id="2147473311" r:id="rId75"/>
    <p:sldId id="2147473312" r:id="rId76"/>
    <p:sldId id="2147473313" r:id="rId77"/>
    <p:sldId id="2147473314" r:id="rId78"/>
    <p:sldId id="2147473315" r:id="rId79"/>
    <p:sldId id="2147473316" r:id="rId80"/>
    <p:sldId id="2147473317" r:id="rId81"/>
    <p:sldId id="2147473318" r:id="rId82"/>
    <p:sldId id="2147473319" r:id="rId83"/>
    <p:sldId id="2147473320" r:id="rId84"/>
    <p:sldId id="2147473157" r:id="rId85"/>
    <p:sldId id="2147473158" r:id="rId86"/>
    <p:sldId id="2147473159" r:id="rId87"/>
    <p:sldId id="2147473160" r:id="rId88"/>
    <p:sldId id="2147473162" r:id="rId89"/>
    <p:sldId id="2147473163" r:id="rId90"/>
    <p:sldId id="2147473164" r:id="rId91"/>
    <p:sldId id="2147473165" r:id="rId92"/>
    <p:sldId id="2147473322" r:id="rId93"/>
    <p:sldId id="2147473323" r:id="rId94"/>
    <p:sldId id="2147473324" r:id="rId95"/>
    <p:sldId id="2147473326" r:id="rId96"/>
    <p:sldId id="2147473325" r:id="rId97"/>
    <p:sldId id="2147473327" r:id="rId98"/>
    <p:sldId id="2147473328" r:id="rId99"/>
    <p:sldId id="2147473181" r:id="rId100"/>
    <p:sldId id="2147473166" r:id="rId101"/>
    <p:sldId id="2147473168" r:id="rId102"/>
    <p:sldId id="2147473355" r:id="rId103"/>
    <p:sldId id="2147473169" r:id="rId104"/>
    <p:sldId id="2147473170" r:id="rId105"/>
    <p:sldId id="2147473171" r:id="rId106"/>
    <p:sldId id="2147473172" r:id="rId107"/>
    <p:sldId id="2147473173" r:id="rId108"/>
    <p:sldId id="2147473174" r:id="rId109"/>
    <p:sldId id="2147473175" r:id="rId110"/>
    <p:sldId id="2147473176" r:id="rId111"/>
    <p:sldId id="2147473329" r:id="rId112"/>
    <p:sldId id="2147473356" r:id="rId113"/>
    <p:sldId id="2147473330" r:id="rId114"/>
    <p:sldId id="2147473331" r:id="rId115"/>
    <p:sldId id="2147473332" r:id="rId116"/>
    <p:sldId id="2147473182" r:id="rId117"/>
    <p:sldId id="2147473183" r:id="rId118"/>
    <p:sldId id="2147473357" r:id="rId119"/>
    <p:sldId id="2147473184" r:id="rId120"/>
    <p:sldId id="2147473185" r:id="rId121"/>
    <p:sldId id="2147473239" r:id="rId122"/>
    <p:sldId id="2147473333" r:id="rId123"/>
    <p:sldId id="2147473334" r:id="rId124"/>
    <p:sldId id="2147473335" r:id="rId125"/>
    <p:sldId id="2147473336" r:id="rId126"/>
    <p:sldId id="2147473337" r:id="rId127"/>
    <p:sldId id="2147473338" r:id="rId128"/>
    <p:sldId id="2147473339" r:id="rId129"/>
    <p:sldId id="2147473340" r:id="rId130"/>
    <p:sldId id="2147473186" r:id="rId131"/>
    <p:sldId id="2147473187" r:id="rId132"/>
    <p:sldId id="2147473188" r:id="rId133"/>
    <p:sldId id="2147473189" r:id="rId134"/>
    <p:sldId id="2147473190" r:id="rId135"/>
    <p:sldId id="2147473341" r:id="rId136"/>
    <p:sldId id="2147473177" r:id="rId1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4E0B"/>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61" d="100"/>
          <a:sy n="61" d="100"/>
        </p:scale>
        <p:origin x="88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notesMaster" Target="notesMasters/notesMaster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831AA-EFE0-4DF5-A972-2699E951885D}"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49AA6-A44A-486D-B565-D72615D7E6EC}" type="slidenum">
              <a:rPr lang="en-US" smtClean="0"/>
              <a:t>‹#›</a:t>
            </a:fld>
            <a:endParaRPr lang="en-US"/>
          </a:p>
        </p:txBody>
      </p:sp>
    </p:spTree>
    <p:extLst>
      <p:ext uri="{BB962C8B-B14F-4D97-AF65-F5344CB8AC3E}">
        <p14:creationId xmlns:p14="http://schemas.microsoft.com/office/powerpoint/2010/main" val="22237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249AA6-A44A-486D-B565-D72615D7E6EC}" type="slidenum">
              <a:rPr lang="en-US" smtClean="0"/>
              <a:t>94</a:t>
            </a:fld>
            <a:endParaRPr lang="en-US"/>
          </a:p>
        </p:txBody>
      </p:sp>
    </p:spTree>
    <p:extLst>
      <p:ext uri="{BB962C8B-B14F-4D97-AF65-F5344CB8AC3E}">
        <p14:creationId xmlns:p14="http://schemas.microsoft.com/office/powerpoint/2010/main" val="2130139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9E0D-66C1-23D7-D0ED-5D9C08AD1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61D3B2-A432-3482-5D2F-0B27A6ED2E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0710EA-212D-2B93-E75C-10B3D0070199}"/>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C490D43C-6494-EBF2-AB49-4F250AC9BF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15417-9841-375A-8ED8-E651BDB65133}"/>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4271688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8C56-CC20-0DC5-8BBF-319825A668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823FCE-383E-D32A-EFB8-2E9E06451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3240EB-1910-2276-42DB-87507F77A788}"/>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48650C54-0840-0104-536A-15E22CA94E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EBDD04-FECD-F257-94DC-805BB109E084}"/>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266688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DD44E-1BC8-7B54-62D7-3CB12E7827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F4916A-5351-75C7-6DD6-C57284D38A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7785F4-D407-8859-85B5-CBD9BE6E3F64}"/>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A18CE9E8-B911-FB4A-A020-007079381B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E47EFE-D2FE-67AD-C736-D0DC73650D9E}"/>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396794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9C0B-B055-2D0F-FD72-48A2626F53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2CD3A-F02F-6191-2B67-EA801FAF3D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B8888BF-44E8-63A7-8736-E19A6067FB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2FEF22-7251-01F5-827C-2BC8EE8B1A05}"/>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6" name="Footer Placeholder 5">
            <a:extLst>
              <a:ext uri="{FF2B5EF4-FFF2-40B4-BE49-F238E27FC236}">
                <a16:creationId xmlns:a16="http://schemas.microsoft.com/office/drawing/2014/main" id="{47A942BE-38D5-18E8-FA1B-4DA7EDB8C5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DFC305-97BC-DC81-9221-1942D0720F12}"/>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149650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B46B-7FE9-9B4F-A864-DBA4C60563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833DE3-4BD1-03C8-D164-DA45A54FA4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B6B559-A441-BE76-AE84-22C38AC71E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9DACEC-FD19-7A1B-4717-99BD1939A6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7E581-096E-9DA0-606C-EFE509C009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04B6A8-D477-D72D-8801-7B93103F1063}"/>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8" name="Footer Placeholder 7">
            <a:extLst>
              <a:ext uri="{FF2B5EF4-FFF2-40B4-BE49-F238E27FC236}">
                <a16:creationId xmlns:a16="http://schemas.microsoft.com/office/drawing/2014/main" id="{8C41AE45-9CA1-048A-64FF-F089FA781F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D5D97A-DF12-A867-869F-D404741F19DC}"/>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352956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938D-F4B7-EDCF-628E-6FAD30030E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2476EC-D7F7-A26D-1BB9-91215364BDA3}"/>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4" name="Footer Placeholder 3">
            <a:extLst>
              <a:ext uri="{FF2B5EF4-FFF2-40B4-BE49-F238E27FC236}">
                <a16:creationId xmlns:a16="http://schemas.microsoft.com/office/drawing/2014/main" id="{8948A254-2C98-56DE-8C7A-1412CB6DC6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E3FA58-B784-F8AE-AC6A-7428760A5CD2}"/>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21400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D87E68-F1F3-428E-FC3D-A80D7D4DB588}"/>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3" name="Footer Placeholder 2">
            <a:extLst>
              <a:ext uri="{FF2B5EF4-FFF2-40B4-BE49-F238E27FC236}">
                <a16:creationId xmlns:a16="http://schemas.microsoft.com/office/drawing/2014/main" id="{A6BAD9D5-5FBE-8E2D-5959-AF731CADEF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A70803-2373-AE18-3F0E-6651F33A4AB0}"/>
              </a:ext>
            </a:extLst>
          </p:cNvPr>
          <p:cNvSpPr>
            <a:spLocks noGrp="1"/>
          </p:cNvSpPr>
          <p:nvPr>
            <p:ph type="sldNum" sz="quarter" idx="12"/>
          </p:nvPr>
        </p:nvSpPr>
        <p:spPr/>
        <p:txBody>
          <a:bodyPr/>
          <a:lstStyle/>
          <a:p>
            <a:fld id="{65EE6106-BBA8-4E04-8268-D4E90756E95D}" type="slidenum">
              <a:rPr lang="en-IN" smtClean="0"/>
              <a:t>‹#›</a:t>
            </a:fld>
            <a:endParaRPr lang="en-IN"/>
          </a:p>
        </p:txBody>
      </p:sp>
      <p:pic>
        <p:nvPicPr>
          <p:cNvPr id="5" name="Picture 4">
            <a:extLst>
              <a:ext uri="{FF2B5EF4-FFF2-40B4-BE49-F238E27FC236}">
                <a16:creationId xmlns:a16="http://schemas.microsoft.com/office/drawing/2014/main" id="{8D76F044-561F-690A-5BB5-186E0932CE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7768" y="5900620"/>
            <a:ext cx="990600" cy="635000"/>
          </a:xfrm>
          <a:prstGeom prst="rect">
            <a:avLst/>
          </a:prstGeom>
        </p:spPr>
      </p:pic>
    </p:spTree>
    <p:extLst>
      <p:ext uri="{BB962C8B-B14F-4D97-AF65-F5344CB8AC3E}">
        <p14:creationId xmlns:p14="http://schemas.microsoft.com/office/powerpoint/2010/main" val="1899813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84D5-B21B-64FE-A646-426FA1964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A74B75-5248-E242-E97E-C0A7AA2DFF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629FC1-772B-020F-06AD-5D7A3AD63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FAF10-8B8E-6786-1CF1-9ABCFB78C686}"/>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6" name="Footer Placeholder 5">
            <a:extLst>
              <a:ext uri="{FF2B5EF4-FFF2-40B4-BE49-F238E27FC236}">
                <a16:creationId xmlns:a16="http://schemas.microsoft.com/office/drawing/2014/main" id="{D4924BE5-BABF-0354-C2F6-3562745C45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F59117-D67E-50A9-10A4-E0E0B2379B4D}"/>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2474816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8419B-4C25-AF0B-0257-3A232B5A9A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ABED1C-00B4-FCA9-9D0D-C3DC1732AA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0AF4AF-C75D-42B3-6CA2-D28279B7C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38EEC-D1EF-964A-9299-20F9F6E727C9}"/>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6" name="Footer Placeholder 5">
            <a:extLst>
              <a:ext uri="{FF2B5EF4-FFF2-40B4-BE49-F238E27FC236}">
                <a16:creationId xmlns:a16="http://schemas.microsoft.com/office/drawing/2014/main" id="{038E2B7C-4559-54D1-2308-EC1DEB54E2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976433-4B1F-A401-1038-A8772C7CB9F4}"/>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2106505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0D93C-21B7-2F11-2044-A067A5EFB0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152E43-4A09-861F-FCB4-C24010C551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1BF02-440B-E450-9B07-7E4E8D3C6EBE}"/>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631E66B2-408E-FE72-8FDD-94FE0C8D27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6168B2-AE2B-A270-F9B1-ACAC5C8A4A1C}"/>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1566574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6C23C-B0E8-4AF0-0C64-97C3C3EF3B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3262B3-C229-109C-BFC8-7B9FBAE17F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3C3007-186F-9D24-2700-1A866843362D}"/>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D44A3B61-1207-A1DB-89CC-610DFD5BB5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F02F8B-CC35-4A74-3EAA-4B76C29D7820}"/>
              </a:ext>
            </a:extLst>
          </p:cNvPr>
          <p:cNvSpPr>
            <a:spLocks noGrp="1"/>
          </p:cNvSpPr>
          <p:nvPr>
            <p:ph type="sldNum" sz="quarter" idx="12"/>
          </p:nvPr>
        </p:nvSpPr>
        <p:spPr/>
        <p:txBody>
          <a:bodyPr/>
          <a:lstStyle/>
          <a:p>
            <a:fld id="{65EE6106-BBA8-4E04-8268-D4E90756E95D}" type="slidenum">
              <a:rPr lang="en-IN" smtClean="0"/>
              <a:t>‹#›</a:t>
            </a:fld>
            <a:endParaRPr lang="en-IN"/>
          </a:p>
        </p:txBody>
      </p:sp>
    </p:spTree>
    <p:extLst>
      <p:ext uri="{BB962C8B-B14F-4D97-AF65-F5344CB8AC3E}">
        <p14:creationId xmlns:p14="http://schemas.microsoft.com/office/powerpoint/2010/main" val="83716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3"/>
            <a:ext cx="10490758" cy="6679475"/>
          </a:xfrm>
          <a:prstGeom prst="rect">
            <a:avLst/>
          </a:prstGeom>
        </p:spPr>
      </p:pic>
    </p:spTree>
    <p:extLst>
      <p:ext uri="{BB962C8B-B14F-4D97-AF65-F5344CB8AC3E}">
        <p14:creationId xmlns:p14="http://schemas.microsoft.com/office/powerpoint/2010/main" val="5303276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258643651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1"/>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027502"/>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Tree>
    <p:extLst>
      <p:ext uri="{BB962C8B-B14F-4D97-AF65-F5344CB8AC3E}">
        <p14:creationId xmlns:p14="http://schemas.microsoft.com/office/powerpoint/2010/main" val="408676448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1"/>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027502"/>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8"/>
            <a:ext cx="990600" cy="635000"/>
          </a:xfrm>
          <a:prstGeom prst="rect">
            <a:avLst/>
          </a:prstGeom>
        </p:spPr>
      </p:pic>
    </p:spTree>
    <p:extLst>
      <p:ext uri="{BB962C8B-B14F-4D97-AF65-F5344CB8AC3E}">
        <p14:creationId xmlns:p14="http://schemas.microsoft.com/office/powerpoint/2010/main" val="3641947281"/>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1"/>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027502"/>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968332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1"/>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027502"/>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4510430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854928"/>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378622"/>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600" y="6639863"/>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3"/>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341007192"/>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854928"/>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600" y="6639860"/>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103491253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e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7" y="1705357"/>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378622"/>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grpSp>
    </p:spTree>
    <p:extLst>
      <p:ext uri="{BB962C8B-B14F-4D97-AF65-F5344CB8AC3E}">
        <p14:creationId xmlns:p14="http://schemas.microsoft.com/office/powerpoint/2010/main" val="28029363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e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8138" y="6351323"/>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70"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grpSp>
    </p:spTree>
    <p:extLst>
      <p:ext uri="{BB962C8B-B14F-4D97-AF65-F5344CB8AC3E}">
        <p14:creationId xmlns:p14="http://schemas.microsoft.com/office/powerpoint/2010/main" val="114524423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e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7" y="1705357"/>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11509" y="6337674"/>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grpSp>
    </p:spTree>
    <p:extLst>
      <p:ext uri="{BB962C8B-B14F-4D97-AF65-F5344CB8AC3E}">
        <p14:creationId xmlns:p14="http://schemas.microsoft.com/office/powerpoint/2010/main" val="4106269817"/>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e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337674"/>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grpSp>
    </p:spTree>
    <p:extLst>
      <p:ext uri="{BB962C8B-B14F-4D97-AF65-F5344CB8AC3E}">
        <p14:creationId xmlns:p14="http://schemas.microsoft.com/office/powerpoint/2010/main" val="2391075785"/>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e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7" y="1705357"/>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Tree>
    <p:extLst>
      <p:ext uri="{BB962C8B-B14F-4D97-AF65-F5344CB8AC3E}">
        <p14:creationId xmlns:p14="http://schemas.microsoft.com/office/powerpoint/2010/main" val="3640047198"/>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e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32402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Tree>
    <p:extLst>
      <p:ext uri="{BB962C8B-B14F-4D97-AF65-F5344CB8AC3E}">
        <p14:creationId xmlns:p14="http://schemas.microsoft.com/office/powerpoint/2010/main" val="330464275"/>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e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p>
        </p:txBody>
      </p:sp>
      <p:sp>
        <p:nvSpPr>
          <p:cNvPr id="2" name="Title 1"/>
          <p:cNvSpPr>
            <a:spLocks noGrp="1"/>
          </p:cNvSpPr>
          <p:nvPr>
            <p:ph type="ctrTitle"/>
          </p:nvPr>
        </p:nvSpPr>
        <p:spPr>
          <a:xfrm>
            <a:off x="6679097" y="1705357"/>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7233501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600" y="6394199"/>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1" y="3429001"/>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1"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1"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7" y="3429001"/>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248539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3"/>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30" y="1478698"/>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288591122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1"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3"/>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30" y="1478698"/>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164582939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1"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3"/>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30" y="1478698"/>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35069635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1"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3"/>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160598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dirty="0"/>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1"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30102644"/>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1"/>
            <a:ext cx="7300912" cy="5484813"/>
          </a:xfrm>
          <a:solidFill>
            <a:schemeClr val="bg1"/>
          </a:solidFill>
        </p:spPr>
        <p:txBody>
          <a:bodyPr anchor="ctr" anchorCtr="0"/>
          <a:lstStyle>
            <a:lvl1pPr marL="0" indent="0" algn="ctr">
              <a:buNone/>
              <a:defRPr sz="1600"/>
            </a:lvl1pPr>
          </a:lstStyle>
          <a:p>
            <a:pPr lvl="0"/>
            <a:r>
              <a:rPr lang="en-US" dirty="0"/>
              <a:t>Insert infographics within this area</a:t>
            </a:r>
          </a:p>
        </p:txBody>
      </p:sp>
    </p:spTree>
    <p:extLst>
      <p:ext uri="{BB962C8B-B14F-4D97-AF65-F5344CB8AC3E}">
        <p14:creationId xmlns:p14="http://schemas.microsoft.com/office/powerpoint/2010/main" val="159839894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dirty="0"/>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66715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6715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86313683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6"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6" y="1485901"/>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9"/>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0990850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1"/>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1"/>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1"/>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9"/>
            <a:ext cx="3646488" cy="1890713"/>
          </a:xfrm>
          <a:noFill/>
        </p:spPr>
        <p:txBody>
          <a:bodyPr anchor="ctr" anchorCtr="0"/>
          <a:lstStyle>
            <a:lvl1pPr marL="0" indent="0" algn="ctr">
              <a:buNone/>
              <a:defRPr sz="1200"/>
            </a:lvl1pPr>
          </a:lstStyle>
          <a:p>
            <a:pPr lvl="0"/>
            <a:r>
              <a:rPr lang="en-US" dirty="0"/>
              <a:t>Insert infographics within this area</a:t>
            </a:r>
          </a:p>
        </p:txBody>
      </p:sp>
    </p:spTree>
    <p:extLst>
      <p:ext uri="{BB962C8B-B14F-4D97-AF65-F5344CB8AC3E}">
        <p14:creationId xmlns:p14="http://schemas.microsoft.com/office/powerpoint/2010/main" val="192828735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4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4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4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4"/>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4"/>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4"/>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2672785602"/>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7"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2"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9"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9"/>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8852029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9"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7" y="1483669"/>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9"/>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0859088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9"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4"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9"/>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775085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dirty="0"/>
              <a:t>Click to edit </a:t>
            </a:r>
            <a:br>
              <a:rPr lang="en-US" dirty="0"/>
            </a:br>
            <a:r>
              <a:rPr lang="en-US" dirty="0"/>
              <a:t>Master </a:t>
            </a:r>
            <a:br>
              <a:rPr lang="en-US" dirty="0"/>
            </a:br>
            <a:r>
              <a:rPr lang="en-US" dirty="0"/>
              <a:t>title style</a:t>
            </a:r>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1"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4"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1"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90"/>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281238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dirty="0"/>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Tree>
    <p:extLst>
      <p:ext uri="{BB962C8B-B14F-4D97-AF65-F5344CB8AC3E}">
        <p14:creationId xmlns:p14="http://schemas.microsoft.com/office/powerpoint/2010/main" val="12433390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Tree>
    <p:extLst>
      <p:ext uri="{BB962C8B-B14F-4D97-AF65-F5344CB8AC3E}">
        <p14:creationId xmlns:p14="http://schemas.microsoft.com/office/powerpoint/2010/main" val="1547058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9" y="1485901"/>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7" y="1485901"/>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9"/>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6151063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1"/>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1"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9"/>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624766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3" y="6394199"/>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9"/>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1"/>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1"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7" y="2214542"/>
            <a:ext cx="3849205" cy="3488834"/>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6" y="1485901"/>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Tree>
    <p:extLst>
      <p:ext uri="{BB962C8B-B14F-4D97-AF65-F5344CB8AC3E}">
        <p14:creationId xmlns:p14="http://schemas.microsoft.com/office/powerpoint/2010/main" val="223448279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7"/>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Tree>
    <p:extLst>
      <p:ext uri="{BB962C8B-B14F-4D97-AF65-F5344CB8AC3E}">
        <p14:creationId xmlns:p14="http://schemas.microsoft.com/office/powerpoint/2010/main" val="3536665230"/>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7"/>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8"/>
            <a:ext cx="990600" cy="635000"/>
          </a:xfrm>
          <a:prstGeom prst="rect">
            <a:avLst/>
          </a:prstGeom>
        </p:spPr>
      </p:pic>
    </p:spTree>
    <p:extLst>
      <p:ext uri="{BB962C8B-B14F-4D97-AF65-F5344CB8AC3E}">
        <p14:creationId xmlns:p14="http://schemas.microsoft.com/office/powerpoint/2010/main" val="16238250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1"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1"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1"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1"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1"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1"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8"/>
            <a:ext cx="1797646" cy="1152337"/>
          </a:xfrm>
          <a:prstGeom prst="rect">
            <a:avLst/>
          </a:prstGeom>
        </p:spPr>
      </p:pic>
    </p:spTree>
    <p:extLst>
      <p:ext uri="{BB962C8B-B14F-4D97-AF65-F5344CB8AC3E}">
        <p14:creationId xmlns:p14="http://schemas.microsoft.com/office/powerpoint/2010/main" val="36468070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1"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1"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1"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1"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1"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1"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5" y="1133448"/>
            <a:ext cx="1797645" cy="1152337"/>
          </a:xfrm>
          <a:prstGeom prst="rect">
            <a:avLst/>
          </a:prstGeom>
        </p:spPr>
      </p:pic>
    </p:spTree>
    <p:extLst>
      <p:ext uri="{BB962C8B-B14F-4D97-AF65-F5344CB8AC3E}">
        <p14:creationId xmlns:p14="http://schemas.microsoft.com/office/powerpoint/2010/main" val="419269572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20" name="Rectangle 19"/>
          <p:cNvSpPr/>
          <p:nvPr/>
        </p:nvSpPr>
        <p:spPr>
          <a:xfrm>
            <a:off x="-1" y="549351"/>
            <a:ext cx="10425195" cy="6308650"/>
          </a:xfrm>
          <a:custGeom>
            <a:avLst/>
            <a:gdLst>
              <a:gd name="connsiteX0" fmla="*/ 0 w 10347704"/>
              <a:gd name="connsiteY0" fmla="*/ 0 h 6308650"/>
              <a:gd name="connsiteX1" fmla="*/ 10347704 w 10347704"/>
              <a:gd name="connsiteY1" fmla="*/ 0 h 6308650"/>
              <a:gd name="connsiteX2" fmla="*/ 10347704 w 10347704"/>
              <a:gd name="connsiteY2" fmla="*/ 6308650 h 6308650"/>
              <a:gd name="connsiteX3" fmla="*/ 0 w 10347704"/>
              <a:gd name="connsiteY3" fmla="*/ 6308650 h 6308650"/>
              <a:gd name="connsiteX4" fmla="*/ 0 w 10347704"/>
              <a:gd name="connsiteY4" fmla="*/ 0 h 6308650"/>
              <a:gd name="connsiteX0" fmla="*/ 0 w 10347704"/>
              <a:gd name="connsiteY0" fmla="*/ 0 h 6308650"/>
              <a:gd name="connsiteX1" fmla="*/ 10347704 w 10347704"/>
              <a:gd name="connsiteY1" fmla="*/ 0 h 6308650"/>
              <a:gd name="connsiteX2" fmla="*/ 7020734 w 10347704"/>
              <a:gd name="connsiteY2" fmla="*/ 6303484 h 6308650"/>
              <a:gd name="connsiteX3" fmla="*/ 0 w 10347704"/>
              <a:gd name="connsiteY3" fmla="*/ 6308650 h 6308650"/>
              <a:gd name="connsiteX4" fmla="*/ 0 w 10347704"/>
              <a:gd name="connsiteY4" fmla="*/ 0 h 6308650"/>
              <a:gd name="connsiteX0" fmla="*/ 0 w 10347704"/>
              <a:gd name="connsiteY0" fmla="*/ 0 h 6308650"/>
              <a:gd name="connsiteX1" fmla="*/ 10347704 w 10347704"/>
              <a:gd name="connsiteY1" fmla="*/ 0 h 6308650"/>
              <a:gd name="connsiteX2" fmla="*/ 5894523 w 10347704"/>
              <a:gd name="connsiteY2" fmla="*/ 6308650 h 6308650"/>
              <a:gd name="connsiteX3" fmla="*/ 0 w 10347704"/>
              <a:gd name="connsiteY3" fmla="*/ 6308650 h 6308650"/>
              <a:gd name="connsiteX4" fmla="*/ 0 w 10347704"/>
              <a:gd name="connsiteY4" fmla="*/ 0 h 6308650"/>
              <a:gd name="connsiteX0" fmla="*/ 0 w 10347704"/>
              <a:gd name="connsiteY0" fmla="*/ 0 h 6308650"/>
              <a:gd name="connsiteX1" fmla="*/ 10347704 w 10347704"/>
              <a:gd name="connsiteY1" fmla="*/ 0 h 6308650"/>
              <a:gd name="connsiteX2" fmla="*/ 6281981 w 10347704"/>
              <a:gd name="connsiteY2" fmla="*/ 6308650 h 6308650"/>
              <a:gd name="connsiteX3" fmla="*/ 0 w 10347704"/>
              <a:gd name="connsiteY3" fmla="*/ 6308650 h 6308650"/>
              <a:gd name="connsiteX4" fmla="*/ 0 w 10347704"/>
              <a:gd name="connsiteY4" fmla="*/ 0 h 6308650"/>
              <a:gd name="connsiteX0" fmla="*/ 0 w 10425195"/>
              <a:gd name="connsiteY0" fmla="*/ 0 h 6308650"/>
              <a:gd name="connsiteX1" fmla="*/ 10425195 w 10425195"/>
              <a:gd name="connsiteY1" fmla="*/ 72325 h 6308650"/>
              <a:gd name="connsiteX2" fmla="*/ 6281981 w 10425195"/>
              <a:gd name="connsiteY2" fmla="*/ 6308650 h 6308650"/>
              <a:gd name="connsiteX3" fmla="*/ 0 w 10425195"/>
              <a:gd name="connsiteY3" fmla="*/ 6308650 h 6308650"/>
              <a:gd name="connsiteX4" fmla="*/ 0 w 10425195"/>
              <a:gd name="connsiteY4" fmla="*/ 0 h 630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5195" h="6308650">
                <a:moveTo>
                  <a:pt x="0" y="0"/>
                </a:moveTo>
                <a:lnTo>
                  <a:pt x="10425195" y="72325"/>
                </a:lnTo>
                <a:lnTo>
                  <a:pt x="6281981" y="6308650"/>
                </a:lnTo>
                <a:lnTo>
                  <a:pt x="0" y="630865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13"/>
          <p:cNvSpPr/>
          <p:nvPr/>
        </p:nvSpPr>
        <p:spPr>
          <a:xfrm>
            <a:off x="0" y="3"/>
            <a:ext cx="10843708" cy="763793"/>
          </a:xfrm>
          <a:custGeom>
            <a:avLst/>
            <a:gdLst>
              <a:gd name="connsiteX0" fmla="*/ 0 w 10843708"/>
              <a:gd name="connsiteY0" fmla="*/ 0 h 763793"/>
              <a:gd name="connsiteX1" fmla="*/ 10843708 w 10843708"/>
              <a:gd name="connsiteY1" fmla="*/ 0 h 763793"/>
              <a:gd name="connsiteX2" fmla="*/ 10843708 w 10843708"/>
              <a:gd name="connsiteY2" fmla="*/ 763793 h 763793"/>
              <a:gd name="connsiteX3" fmla="*/ 0 w 10843708"/>
              <a:gd name="connsiteY3" fmla="*/ 763793 h 763793"/>
              <a:gd name="connsiteX4" fmla="*/ 0 w 10843708"/>
              <a:gd name="connsiteY4" fmla="*/ 0 h 763793"/>
              <a:gd name="connsiteX0" fmla="*/ 0 w 10843708"/>
              <a:gd name="connsiteY0" fmla="*/ 0 h 763793"/>
              <a:gd name="connsiteX1" fmla="*/ 10843708 w 10843708"/>
              <a:gd name="connsiteY1" fmla="*/ 0 h 763793"/>
              <a:gd name="connsiteX2" fmla="*/ 10338099 w 10843708"/>
              <a:gd name="connsiteY2" fmla="*/ 763793 h 763793"/>
              <a:gd name="connsiteX3" fmla="*/ 0 w 10843708"/>
              <a:gd name="connsiteY3" fmla="*/ 763793 h 763793"/>
              <a:gd name="connsiteX4" fmla="*/ 0 w 10843708"/>
              <a:gd name="connsiteY4" fmla="*/ 0 h 763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708" h="763793">
                <a:moveTo>
                  <a:pt x="0" y="0"/>
                </a:moveTo>
                <a:lnTo>
                  <a:pt x="10843708" y="0"/>
                </a:lnTo>
                <a:lnTo>
                  <a:pt x="10338099" y="763793"/>
                </a:lnTo>
                <a:lnTo>
                  <a:pt x="0" y="76379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09604" y="2057401"/>
            <a:ext cx="3490913" cy="2506437"/>
          </a:xfrm>
        </p:spPr>
        <p:txBody>
          <a:bodyPr/>
          <a:lstStyle>
            <a:lvl1pPr marL="0" indent="0">
              <a:spcAft>
                <a:spcPts val="1800"/>
              </a:spcAft>
              <a:buNone/>
              <a:defRPr sz="2000" b="1">
                <a:solidFill>
                  <a:schemeClr val="accent3"/>
                </a:solidFill>
              </a:defRPr>
            </a:lvl1pPr>
            <a:lvl2pPr marL="0" indent="0">
              <a:lnSpc>
                <a:spcPct val="110000"/>
              </a:lnSpc>
              <a:spcBef>
                <a:spcPts val="0"/>
              </a:spcBef>
              <a:buNone/>
              <a:tabLst/>
              <a:defRPr sz="1100">
                <a:solidFill>
                  <a:schemeClr val="bg1"/>
                </a:solidFill>
              </a:defRPr>
            </a:lvl2pPr>
            <a:lvl3pPr marL="292107" indent="-138116">
              <a:lnSpc>
                <a:spcPct val="110000"/>
              </a:lnSpc>
              <a:spcBef>
                <a:spcPts val="0"/>
              </a:spcBef>
              <a:tabLst/>
              <a:defRPr sz="1100">
                <a:solidFill>
                  <a:schemeClr val="bg1"/>
                </a:solidFill>
              </a:defRPr>
            </a:lvl3pPr>
            <a:lvl4pPr marL="292107" indent="-138116">
              <a:lnSpc>
                <a:spcPct val="110000"/>
              </a:lnSpc>
              <a:spcBef>
                <a:spcPts val="0"/>
              </a:spcBef>
              <a:tabLst/>
              <a:defRPr sz="1100">
                <a:solidFill>
                  <a:schemeClr val="bg1"/>
                </a:solidFill>
              </a:defRPr>
            </a:lvl4pPr>
            <a:lvl5pPr marL="292107" indent="-138116">
              <a:lnSpc>
                <a:spcPct val="110000"/>
              </a:lnSpc>
              <a:spcBef>
                <a:spcPts val="0"/>
              </a:spcBef>
              <a:tabLst/>
              <a:defRPr sz="1100">
                <a:solidFill>
                  <a:schemeClr val="bg1"/>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hasCustomPrompt="1"/>
          </p:nvPr>
        </p:nvSpPr>
        <p:spPr>
          <a:xfrm>
            <a:off x="609605" y="88938"/>
            <a:ext cx="9624163" cy="585920"/>
          </a:xfrm>
        </p:spPr>
        <p:txBody>
          <a:bodyPr anchor="ctr">
            <a:normAutofit/>
          </a:bodyPr>
          <a:lstStyle>
            <a:lvl1pPr marL="0" indent="0">
              <a:buNone/>
              <a:defRPr sz="2300" b="1" cap="all" baseline="0">
                <a:solidFill>
                  <a:schemeClr val="bg1"/>
                </a:solidFill>
              </a:defRPr>
            </a:lvl1pPr>
          </a:lstStyle>
          <a:p>
            <a:pPr lvl="0"/>
            <a:r>
              <a:rPr lang="en-US" dirty="0"/>
              <a:t>Click to edit Page Heading</a:t>
            </a:r>
          </a:p>
        </p:txBody>
      </p:sp>
      <p:sp>
        <p:nvSpPr>
          <p:cNvPr id="16" name="Content Placeholder 2"/>
          <p:cNvSpPr>
            <a:spLocks noGrp="1"/>
          </p:cNvSpPr>
          <p:nvPr>
            <p:ph idx="14"/>
          </p:nvPr>
        </p:nvSpPr>
        <p:spPr>
          <a:xfrm>
            <a:off x="4318005" y="2057401"/>
            <a:ext cx="3490913" cy="2506437"/>
          </a:xfrm>
        </p:spPr>
        <p:txBody>
          <a:bodyPr/>
          <a:lstStyle>
            <a:lvl1pPr marL="0" indent="0">
              <a:spcAft>
                <a:spcPts val="1800"/>
              </a:spcAft>
              <a:buNone/>
              <a:defRPr sz="2000" b="1">
                <a:solidFill>
                  <a:schemeClr val="accent3"/>
                </a:solidFill>
              </a:defRPr>
            </a:lvl1pPr>
            <a:lvl2pPr marL="0" indent="0">
              <a:lnSpc>
                <a:spcPct val="110000"/>
              </a:lnSpc>
              <a:spcBef>
                <a:spcPts val="0"/>
              </a:spcBef>
              <a:buNone/>
              <a:tabLst/>
              <a:defRPr sz="1100">
                <a:solidFill>
                  <a:schemeClr val="bg1"/>
                </a:solidFill>
              </a:defRPr>
            </a:lvl2pPr>
            <a:lvl3pPr marL="292107" indent="-138116">
              <a:lnSpc>
                <a:spcPct val="110000"/>
              </a:lnSpc>
              <a:spcBef>
                <a:spcPts val="0"/>
              </a:spcBef>
              <a:tabLst/>
              <a:defRPr sz="1100">
                <a:solidFill>
                  <a:schemeClr val="bg1"/>
                </a:solidFill>
              </a:defRPr>
            </a:lvl3pPr>
            <a:lvl4pPr marL="292107" indent="-138116">
              <a:lnSpc>
                <a:spcPct val="110000"/>
              </a:lnSpc>
              <a:spcBef>
                <a:spcPts val="0"/>
              </a:spcBef>
              <a:tabLst/>
              <a:defRPr sz="1100">
                <a:solidFill>
                  <a:schemeClr val="bg1"/>
                </a:solidFill>
              </a:defRPr>
            </a:lvl4pPr>
            <a:lvl5pPr marL="292107" indent="-138116">
              <a:lnSpc>
                <a:spcPct val="110000"/>
              </a:lnSpc>
              <a:spcBef>
                <a:spcPts val="0"/>
              </a:spcBef>
              <a:tabLst/>
              <a:defRPr sz="1100">
                <a:solidFill>
                  <a:schemeClr val="bg1"/>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p:cNvSpPr txBox="1"/>
          <p:nvPr/>
        </p:nvSpPr>
        <p:spPr>
          <a:xfrm>
            <a:off x="609600" y="4735290"/>
            <a:ext cx="6770914" cy="307777"/>
          </a:xfrm>
          <a:prstGeom prst="rect">
            <a:avLst/>
          </a:prstGeom>
          <a:noFill/>
        </p:spPr>
        <p:txBody>
          <a:bodyPr wrap="square" lIns="0" tIns="0" rIns="0" bIns="0" rtlCol="0">
            <a:spAutoFit/>
          </a:bodyPr>
          <a:lstStyle/>
          <a:p>
            <a:pPr marL="0" marR="0" indent="0" algn="l" defTabSz="914422" rtl="0" eaLnBrk="1" fontAlgn="auto" latinLnBrk="0" hangingPunct="1">
              <a:lnSpc>
                <a:spcPct val="100000"/>
              </a:lnSpc>
              <a:spcBef>
                <a:spcPts val="0"/>
              </a:spcBef>
              <a:spcAft>
                <a:spcPts val="0"/>
              </a:spcAft>
              <a:buClrTx/>
              <a:buSzTx/>
              <a:buFontTx/>
              <a:buNone/>
              <a:tabLst/>
              <a:defRPr/>
            </a:pPr>
            <a:r>
              <a:rPr lang="en-US" sz="1000" kern="1200" dirty="0">
                <a:solidFill>
                  <a:schemeClr val="bg1"/>
                </a:solidFill>
                <a:effectLst/>
                <a:latin typeface="+mn-lt"/>
                <a:ea typeface="+mn-ea"/>
                <a:cs typeface="+mn-cs"/>
              </a:rPr>
              <a:t>© 2</a:t>
            </a:r>
            <a:r>
              <a:rPr lang="en-US" sz="1000" kern="1200" spc="-50" baseline="0" dirty="0">
                <a:solidFill>
                  <a:schemeClr val="bg1"/>
                </a:solidFill>
                <a:effectLst/>
                <a:latin typeface="+mn-lt"/>
                <a:ea typeface="+mn-ea"/>
                <a:cs typeface="+mn-cs"/>
              </a:rPr>
              <a:t>01</a:t>
            </a:r>
            <a:r>
              <a:rPr lang="en-US" sz="1000" kern="1200" dirty="0">
                <a:solidFill>
                  <a:schemeClr val="bg1"/>
                </a:solidFill>
                <a:effectLst/>
                <a:latin typeface="+mn-lt"/>
                <a:ea typeface="+mn-ea"/>
                <a:cs typeface="+mn-cs"/>
              </a:rPr>
              <a:t>8 </a:t>
            </a:r>
            <a:r>
              <a:rPr lang="en-US" sz="1000" kern="1200" dirty="0" err="1">
                <a:solidFill>
                  <a:schemeClr val="bg1"/>
                </a:solidFill>
                <a:effectLst/>
                <a:latin typeface="+mn-lt"/>
                <a:ea typeface="+mn-ea"/>
                <a:cs typeface="+mn-cs"/>
              </a:rPr>
              <a:t>ExlService</a:t>
            </a:r>
            <a:r>
              <a:rPr lang="en-US" sz="1000" kern="1200" dirty="0">
                <a:solidFill>
                  <a:schemeClr val="bg1"/>
                </a:solidFill>
                <a:effectLst/>
                <a:latin typeface="+mn-lt"/>
                <a:ea typeface="+mn-ea"/>
                <a:cs typeface="+mn-cs"/>
              </a:rPr>
              <a:t> Holdings, Inc.  All rights reserved. For more information go to </a:t>
            </a:r>
            <a:r>
              <a:rPr lang="en-US" sz="1000" kern="1200" dirty="0" err="1">
                <a:solidFill>
                  <a:schemeClr val="bg1"/>
                </a:solidFill>
                <a:effectLst/>
                <a:latin typeface="+mn-lt"/>
                <a:ea typeface="+mn-ea"/>
                <a:cs typeface="+mn-cs"/>
              </a:rPr>
              <a:t>www.exlservice.com</a:t>
            </a:r>
            <a:r>
              <a:rPr lang="en-US" sz="1000" kern="1200" dirty="0">
                <a:solidFill>
                  <a:schemeClr val="bg1"/>
                </a:solidFill>
                <a:effectLst/>
                <a:latin typeface="+mn-lt"/>
                <a:ea typeface="+mn-ea"/>
                <a:cs typeface="+mn-cs"/>
              </a:rPr>
              <a:t>/legal-disclaimer</a:t>
            </a:r>
          </a:p>
          <a:p>
            <a:endParaRPr lang="en-US" sz="1000" dirty="0">
              <a:solidFill>
                <a:schemeClr val="bg1"/>
              </a:solidFill>
            </a:endParaRPr>
          </a:p>
        </p:txBody>
      </p:sp>
      <p:sp>
        <p:nvSpPr>
          <p:cNvPr id="18" name="TextBox 17"/>
          <p:cNvSpPr txBox="1"/>
          <p:nvPr/>
        </p:nvSpPr>
        <p:spPr>
          <a:xfrm>
            <a:off x="609605" y="5225147"/>
            <a:ext cx="5995307" cy="692497"/>
          </a:xfrm>
          <a:prstGeom prst="rect">
            <a:avLst/>
          </a:prstGeom>
          <a:noFill/>
        </p:spPr>
        <p:txBody>
          <a:bodyPr wrap="square" lIns="0" tIns="0" rIns="0" bIns="0" rtlCol="0">
            <a:spAutoFit/>
          </a:bodyPr>
          <a:lstStyle/>
          <a:p>
            <a:r>
              <a:rPr lang="en-US" sz="750" kern="1200" dirty="0">
                <a:solidFill>
                  <a:schemeClr val="bg2"/>
                </a:solidFill>
                <a:effectLst/>
                <a:latin typeface="+mn-lt"/>
                <a:ea typeface="+mn-ea"/>
                <a:cs typeface="+mn-cs"/>
              </a:rPr>
              <a:t>EXL (NASDAQ: EXLS) is a leading operations management and analytics company that designs and enables agile, customer-centric operating models to help clients improve their revenue growth and profitability. Our delivery model provides market-leading business outcomes using EXL’s proprietary Business </a:t>
            </a:r>
            <a:r>
              <a:rPr lang="en-US" sz="750" kern="1200" dirty="0" err="1">
                <a:solidFill>
                  <a:schemeClr val="bg2"/>
                </a:solidFill>
                <a:effectLst/>
                <a:latin typeface="+mn-lt"/>
                <a:ea typeface="+mn-ea"/>
                <a:cs typeface="+mn-cs"/>
              </a:rPr>
              <a:t>EXLerator</a:t>
            </a:r>
            <a:r>
              <a:rPr lang="en-US" sz="750" kern="1200" dirty="0">
                <a:solidFill>
                  <a:schemeClr val="bg2"/>
                </a:solidFill>
                <a:effectLst/>
                <a:latin typeface="+mn-lt"/>
                <a:ea typeface="+mn-ea"/>
                <a:cs typeface="+mn-cs"/>
              </a:rPr>
              <a:t> Framework</a:t>
            </a:r>
            <a:r>
              <a:rPr lang="en-US" sz="750" kern="1200" baseline="30000" dirty="0">
                <a:solidFill>
                  <a:schemeClr val="bg2"/>
                </a:solidFill>
                <a:effectLst/>
                <a:latin typeface="+mn-lt"/>
                <a:ea typeface="+mn-ea"/>
                <a:cs typeface="+mn-cs"/>
              </a:rPr>
              <a:t>®</a:t>
            </a:r>
            <a:r>
              <a:rPr lang="en-US" sz="750" kern="1200" dirty="0">
                <a:solidFill>
                  <a:schemeClr val="bg2"/>
                </a:solidFill>
                <a:effectLst/>
                <a:latin typeface="+mn-lt"/>
                <a:ea typeface="+mn-ea"/>
                <a:cs typeface="+mn-cs"/>
              </a:rPr>
              <a:t>, cutting-edge analytics, digital transformation and domain expertise. At EXL, we look deeper to help companies improve global operations, enhance data-driven insights, increase customer satisfaction, and manage risk and compliance. EXL serves the insurance, healthcare, banking and financial services, utilities, travel, transportation and logistics industries. Headquartered in New York, New York, EXL has more than 2</a:t>
            </a:r>
            <a:r>
              <a:rPr lang="en-US" sz="750" kern="1200" spc="-150" dirty="0">
                <a:solidFill>
                  <a:schemeClr val="bg2"/>
                </a:solidFill>
                <a:effectLst/>
                <a:latin typeface="+mn-lt"/>
                <a:ea typeface="+mn-ea"/>
                <a:cs typeface="+mn-cs"/>
              </a:rPr>
              <a:t>7</a:t>
            </a:r>
            <a:r>
              <a:rPr lang="en-US" sz="750" kern="1200" dirty="0">
                <a:solidFill>
                  <a:schemeClr val="bg2"/>
                </a:solidFill>
                <a:effectLst/>
                <a:latin typeface="+mn-lt"/>
                <a:ea typeface="+mn-ea"/>
                <a:cs typeface="+mn-cs"/>
              </a:rPr>
              <a:t>,000 professionals in locations throughout the United States, Europe, Asia (primarily India and Philippines), South America, Australia and South Africa. </a:t>
            </a:r>
          </a:p>
        </p:txBody>
      </p:sp>
      <p:sp>
        <p:nvSpPr>
          <p:cNvPr id="19" name="Rectangle 18"/>
          <p:cNvSpPr/>
          <p:nvPr/>
        </p:nvSpPr>
        <p:spPr>
          <a:xfrm>
            <a:off x="8852764" y="3581715"/>
            <a:ext cx="2729641" cy="2108269"/>
          </a:xfrm>
          <a:prstGeom prst="rect">
            <a:avLst/>
          </a:prstGeom>
        </p:spPr>
        <p:txBody>
          <a:bodyPr wrap="square">
            <a:spAutoFit/>
          </a:bodyPr>
          <a:lstStyle/>
          <a:p>
            <a:pPr>
              <a:spcAft>
                <a:spcPts val="1200"/>
              </a:spcAft>
            </a:pPr>
            <a:r>
              <a:rPr lang="en-US" sz="2300" b="1" dirty="0" err="1">
                <a:solidFill>
                  <a:srgbClr val="123D71"/>
                </a:solidFill>
                <a:effectLst/>
                <a:latin typeface="Arial" charset="0"/>
              </a:rPr>
              <a:t>EXLservice.com</a:t>
            </a:r>
            <a:endParaRPr lang="en-US" sz="2300" dirty="0">
              <a:solidFill>
                <a:srgbClr val="123D71"/>
              </a:solidFill>
              <a:effectLst/>
              <a:latin typeface="Arial" charset="0"/>
            </a:endParaRPr>
          </a:p>
          <a:p>
            <a:pPr>
              <a:spcAft>
                <a:spcPts val="1200"/>
              </a:spcAft>
            </a:pPr>
            <a:r>
              <a:rPr lang="en-US" sz="1500" b="1" dirty="0">
                <a:solidFill>
                  <a:srgbClr val="FF7C00"/>
                </a:solidFill>
                <a:effectLst/>
                <a:latin typeface="Arial" charset="0"/>
              </a:rPr>
              <a:t>GLOBAL HEADQUARTERS</a:t>
            </a:r>
            <a:endParaRPr lang="en-US" sz="1500" dirty="0">
              <a:solidFill>
                <a:srgbClr val="FF7C00"/>
              </a:solidFill>
              <a:effectLst/>
              <a:latin typeface="Arial" charset="0"/>
            </a:endParaRPr>
          </a:p>
          <a:p>
            <a:r>
              <a:rPr lang="en-US" sz="1100" dirty="0">
                <a:solidFill>
                  <a:srgbClr val="123D71"/>
                </a:solidFill>
                <a:effectLst/>
                <a:latin typeface="Arial" charset="0"/>
              </a:rPr>
              <a:t>280 Park Avenue, 38th Floor</a:t>
            </a:r>
          </a:p>
          <a:p>
            <a:r>
              <a:rPr lang="en-US" sz="1100" dirty="0">
                <a:solidFill>
                  <a:srgbClr val="123D71"/>
                </a:solidFill>
                <a:effectLst/>
                <a:latin typeface="Arial" charset="0"/>
              </a:rPr>
              <a:t>New York, New York 10017</a:t>
            </a:r>
          </a:p>
          <a:p>
            <a:pPr>
              <a:spcAft>
                <a:spcPts val="1200"/>
              </a:spcAft>
            </a:pPr>
            <a:r>
              <a:rPr lang="en-US" sz="1100" b="1" dirty="0">
                <a:solidFill>
                  <a:srgbClr val="123D71"/>
                </a:solidFill>
                <a:effectLst/>
                <a:latin typeface="Arial" charset="0"/>
              </a:rPr>
              <a:t>T</a:t>
            </a:r>
            <a:r>
              <a:rPr lang="en-US" sz="1100" dirty="0">
                <a:solidFill>
                  <a:srgbClr val="123D71"/>
                </a:solidFill>
                <a:effectLst/>
                <a:latin typeface="Arial" charset="0"/>
              </a:rPr>
              <a:t> +1 212.277.7100    </a:t>
            </a:r>
            <a:r>
              <a:rPr lang="en-US" sz="1100" b="1" dirty="0">
                <a:solidFill>
                  <a:srgbClr val="123D71"/>
                </a:solidFill>
                <a:effectLst/>
                <a:latin typeface="Arial" charset="0"/>
              </a:rPr>
              <a:t>F</a:t>
            </a:r>
            <a:r>
              <a:rPr lang="en-US" sz="1100" dirty="0">
                <a:solidFill>
                  <a:srgbClr val="123D71"/>
                </a:solidFill>
                <a:effectLst/>
                <a:latin typeface="Arial" charset="0"/>
              </a:rPr>
              <a:t> +1 212.771.7111</a:t>
            </a:r>
          </a:p>
          <a:p>
            <a:r>
              <a:rPr lang="en-US" sz="1000" dirty="0">
                <a:solidFill>
                  <a:srgbClr val="123D71"/>
                </a:solidFill>
                <a:effectLst/>
                <a:latin typeface="Arial" charset="0"/>
              </a:rPr>
              <a:t>United States  •  United Kingdom  •  Czech Republic  •  Romania  •  Bulgaria  •  India  •  Philippines  •  Colombia  •  South Africa</a:t>
            </a:r>
          </a:p>
        </p:txBody>
      </p:sp>
      <p:grpSp>
        <p:nvGrpSpPr>
          <p:cNvPr id="22" name="Group 21"/>
          <p:cNvGrpSpPr/>
          <p:nvPr/>
        </p:nvGrpSpPr>
        <p:grpSpPr>
          <a:xfrm>
            <a:off x="6260956" y="6558704"/>
            <a:ext cx="5931049" cy="299299"/>
            <a:chOff x="6260951" y="6558701"/>
            <a:chExt cx="5931049" cy="299299"/>
          </a:xfrm>
        </p:grpSpPr>
        <p:sp>
          <p:nvSpPr>
            <p:cNvPr id="23" name="Rectangle 15"/>
            <p:cNvSpPr/>
            <p:nvPr userDrawn="1"/>
          </p:nvSpPr>
          <p:spPr>
            <a:xfrm>
              <a:off x="6260951" y="6558701"/>
              <a:ext cx="5931049" cy="299299"/>
            </a:xfrm>
            <a:custGeom>
              <a:avLst/>
              <a:gdLst>
                <a:gd name="connsiteX0" fmla="*/ 0 w 5931049"/>
                <a:gd name="connsiteY0" fmla="*/ 0 h 299299"/>
                <a:gd name="connsiteX1" fmla="*/ 5931049 w 5931049"/>
                <a:gd name="connsiteY1" fmla="*/ 0 h 299299"/>
                <a:gd name="connsiteX2" fmla="*/ 5931049 w 5931049"/>
                <a:gd name="connsiteY2" fmla="*/ 299299 h 299299"/>
                <a:gd name="connsiteX3" fmla="*/ 0 w 5931049"/>
                <a:gd name="connsiteY3" fmla="*/ 299299 h 299299"/>
                <a:gd name="connsiteX4" fmla="*/ 0 w 5931049"/>
                <a:gd name="connsiteY4" fmla="*/ 0 h 299299"/>
                <a:gd name="connsiteX0" fmla="*/ 209228 w 5931049"/>
                <a:gd name="connsiteY0" fmla="*/ 0 h 299299"/>
                <a:gd name="connsiteX1" fmla="*/ 5931049 w 5931049"/>
                <a:gd name="connsiteY1" fmla="*/ 0 h 299299"/>
                <a:gd name="connsiteX2" fmla="*/ 5931049 w 5931049"/>
                <a:gd name="connsiteY2" fmla="*/ 299299 h 299299"/>
                <a:gd name="connsiteX3" fmla="*/ 0 w 5931049"/>
                <a:gd name="connsiteY3" fmla="*/ 299299 h 299299"/>
                <a:gd name="connsiteX4" fmla="*/ 209228 w 5931049"/>
                <a:gd name="connsiteY4" fmla="*/ 0 h 299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1049" h="299299">
                  <a:moveTo>
                    <a:pt x="209228" y="0"/>
                  </a:moveTo>
                  <a:lnTo>
                    <a:pt x="5931049" y="0"/>
                  </a:lnTo>
                  <a:lnTo>
                    <a:pt x="5931049" y="299299"/>
                  </a:lnTo>
                  <a:lnTo>
                    <a:pt x="0" y="299299"/>
                  </a:lnTo>
                  <a:lnTo>
                    <a:pt x="209228"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24" name="Group 23"/>
            <p:cNvGrpSpPr/>
            <p:nvPr userDrawn="1"/>
          </p:nvGrpSpPr>
          <p:grpSpPr>
            <a:xfrm>
              <a:off x="8799513" y="6615920"/>
              <a:ext cx="2703555" cy="162839"/>
              <a:chOff x="8799513" y="6615920"/>
              <a:chExt cx="2703555" cy="162839"/>
            </a:xfrm>
          </p:grpSpPr>
          <p:cxnSp>
            <p:nvCxnSpPr>
              <p:cNvPr id="25" name="Straight Connector 24"/>
              <p:cNvCxnSpPr/>
              <p:nvPr userDrawn="1"/>
            </p:nvCxnSpPr>
            <p:spPr>
              <a:xfrm flipH="1">
                <a:off x="8799513" y="6615920"/>
                <a:ext cx="106492" cy="162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flipH="1">
                <a:off x="11396576" y="6615920"/>
                <a:ext cx="106492" cy="1628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p:cNvSpPr txBox="1"/>
          <p:nvPr/>
        </p:nvSpPr>
        <p:spPr>
          <a:xfrm>
            <a:off x="6483179" y="6648874"/>
            <a:ext cx="2079575" cy="138499"/>
          </a:xfrm>
          <a:prstGeom prst="rect">
            <a:avLst/>
          </a:prstGeom>
          <a:noFill/>
        </p:spPr>
        <p:txBody>
          <a:bodyPr wrap="square" lIns="0" tIns="0" rIns="0" bIns="0" rtlCol="0">
            <a:spAutoFit/>
          </a:bodyPr>
          <a:lstStyle/>
          <a:p>
            <a:pPr algn="r"/>
            <a:fld id="{79C7C16D-3FCE-4FD9-B5D5-8D283AC2A2D0}" type="datetime4">
              <a:rPr lang="en-US" sz="900" smtClean="0">
                <a:solidFill>
                  <a:schemeClr val="bg1"/>
                </a:solidFill>
              </a:rPr>
              <a:t>November 7, 2025</a:t>
            </a:fld>
            <a:endParaRPr lang="en-US" sz="900" dirty="0">
              <a:solidFill>
                <a:schemeClr val="bg1"/>
              </a:solidFill>
            </a:endParaRPr>
          </a:p>
        </p:txBody>
      </p:sp>
      <p:sp>
        <p:nvSpPr>
          <p:cNvPr id="28" name="TextBox 27"/>
          <p:cNvSpPr txBox="1"/>
          <p:nvPr/>
        </p:nvSpPr>
        <p:spPr>
          <a:xfrm>
            <a:off x="11503068" y="6648874"/>
            <a:ext cx="334512" cy="138499"/>
          </a:xfrm>
          <a:prstGeom prst="rect">
            <a:avLst/>
          </a:prstGeom>
          <a:noFill/>
        </p:spPr>
        <p:txBody>
          <a:bodyPr wrap="square" lIns="0" tIns="0" rIns="0" bIns="0" rtlCol="0">
            <a:spAutoFit/>
          </a:bodyPr>
          <a:lstStyle/>
          <a:p>
            <a:pPr algn="r"/>
            <a:fld id="{13DD8D3D-9F5D-40B5-8723-5F4A9233747C}" type="slidenum">
              <a:rPr lang="en-US" sz="900" smtClean="0">
                <a:solidFill>
                  <a:schemeClr val="bg1"/>
                </a:solidFill>
              </a:rPr>
              <a:t>‹#›</a:t>
            </a:fld>
            <a:endParaRPr lang="en-US" sz="900" dirty="0">
              <a:solidFill>
                <a:schemeClr val="bg1"/>
              </a:solidFill>
            </a:endParaRPr>
          </a:p>
        </p:txBody>
      </p:sp>
      <p:sp>
        <p:nvSpPr>
          <p:cNvPr id="29" name="TextBox 28"/>
          <p:cNvSpPr txBox="1"/>
          <p:nvPr/>
        </p:nvSpPr>
        <p:spPr>
          <a:xfrm>
            <a:off x="9128076" y="6648874"/>
            <a:ext cx="2079575" cy="138499"/>
          </a:xfrm>
          <a:prstGeom prst="rect">
            <a:avLst/>
          </a:prstGeom>
          <a:noFill/>
        </p:spPr>
        <p:txBody>
          <a:bodyPr wrap="square" lIns="0" tIns="0" rIns="0" bIns="0" rtlCol="0">
            <a:spAutoFit/>
          </a:bodyPr>
          <a:lstStyle/>
          <a:p>
            <a:pPr algn="l"/>
            <a:r>
              <a:rPr lang="en-US" sz="900" dirty="0">
                <a:solidFill>
                  <a:schemeClr val="bg1"/>
                </a:solidFill>
              </a:rPr>
              <a:t>© 2018 EXLSERVICE HOLDINGS, INC</a:t>
            </a:r>
          </a:p>
        </p:txBody>
      </p:sp>
      <p:pic>
        <p:nvPicPr>
          <p:cNvPr id="21" name="Picture 20">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53819" y="5907226"/>
            <a:ext cx="990600" cy="635000"/>
          </a:xfrm>
          <a:prstGeom prst="rect">
            <a:avLst/>
          </a:prstGeom>
        </p:spPr>
      </p:pic>
    </p:spTree>
    <p:extLst>
      <p:ext uri="{BB962C8B-B14F-4D97-AF65-F5344CB8AC3E}">
        <p14:creationId xmlns:p14="http://schemas.microsoft.com/office/powerpoint/2010/main" val="13395017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D87E68-F1F3-428E-FC3D-A80D7D4DB588}"/>
              </a:ext>
            </a:extLst>
          </p:cNvPr>
          <p:cNvSpPr>
            <a:spLocks noGrp="1"/>
          </p:cNvSpPr>
          <p:nvPr>
            <p:ph type="dt" sz="half" idx="10"/>
          </p:nvPr>
        </p:nvSpPr>
        <p:spPr/>
        <p:txBody>
          <a:bodyPr/>
          <a:lstStyle/>
          <a:p>
            <a:fld id="{451FB712-1741-48E9-969F-4F453B5C7E3E}" type="datetimeFigureOut">
              <a:rPr lang="en-IN" smtClean="0"/>
              <a:t>07-11-2025</a:t>
            </a:fld>
            <a:endParaRPr lang="en-IN"/>
          </a:p>
        </p:txBody>
      </p:sp>
      <p:sp>
        <p:nvSpPr>
          <p:cNvPr id="3" name="Footer Placeholder 2">
            <a:extLst>
              <a:ext uri="{FF2B5EF4-FFF2-40B4-BE49-F238E27FC236}">
                <a16:creationId xmlns:a16="http://schemas.microsoft.com/office/drawing/2014/main" id="{A6BAD9D5-5FBE-8E2D-5959-AF731CADEF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A70803-2373-AE18-3F0E-6651F33A4AB0}"/>
              </a:ext>
            </a:extLst>
          </p:cNvPr>
          <p:cNvSpPr>
            <a:spLocks noGrp="1"/>
          </p:cNvSpPr>
          <p:nvPr>
            <p:ph type="sldNum" sz="quarter" idx="12"/>
          </p:nvPr>
        </p:nvSpPr>
        <p:spPr/>
        <p:txBody>
          <a:bodyPr/>
          <a:lstStyle/>
          <a:p>
            <a:fld id="{65EE6106-BBA8-4E04-8268-D4E90756E95D}" type="slidenum">
              <a:rPr lang="en-IN" smtClean="0"/>
              <a:t>‹#›</a:t>
            </a:fld>
            <a:endParaRPr lang="en-IN"/>
          </a:p>
        </p:txBody>
      </p:sp>
      <p:pic>
        <p:nvPicPr>
          <p:cNvPr id="5" name="Picture 4">
            <a:extLst>
              <a:ext uri="{FF2B5EF4-FFF2-40B4-BE49-F238E27FC236}">
                <a16:creationId xmlns:a16="http://schemas.microsoft.com/office/drawing/2014/main" id="{8D76F044-561F-690A-5BB5-186E0932CE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7768" y="5900620"/>
            <a:ext cx="990600" cy="635000"/>
          </a:xfrm>
          <a:prstGeom prst="rect">
            <a:avLst/>
          </a:prstGeom>
        </p:spPr>
      </p:pic>
    </p:spTree>
    <p:extLst>
      <p:ext uri="{BB962C8B-B14F-4D97-AF65-F5344CB8AC3E}">
        <p14:creationId xmlns:p14="http://schemas.microsoft.com/office/powerpoint/2010/main" val="43137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161578-1D86-AC3F-07EC-342D920372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09043A-7AA8-8594-7EB2-45B6C7B26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F8995-6856-9952-1DD0-A6EB4B0056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1FB712-1741-48E9-969F-4F453B5C7E3E}" type="datetimeFigureOut">
              <a:rPr lang="en-IN" smtClean="0"/>
              <a:t>07-11-2025</a:t>
            </a:fld>
            <a:endParaRPr lang="en-IN"/>
          </a:p>
        </p:txBody>
      </p:sp>
      <p:sp>
        <p:nvSpPr>
          <p:cNvPr id="5" name="Footer Placeholder 4">
            <a:extLst>
              <a:ext uri="{FF2B5EF4-FFF2-40B4-BE49-F238E27FC236}">
                <a16:creationId xmlns:a16="http://schemas.microsoft.com/office/drawing/2014/main" id="{7BD1AF1C-E065-530F-DFBB-0288CC1ED3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CB84C95-59C0-0EE6-FFCA-3181F8B80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EE6106-BBA8-4E04-8268-D4E90756E95D}" type="slidenum">
              <a:rPr lang="en-IN" smtClean="0"/>
              <a:t>‹#›</a:t>
            </a:fld>
            <a:endParaRPr lang="en-IN"/>
          </a:p>
        </p:txBody>
      </p:sp>
    </p:spTree>
    <p:extLst>
      <p:ext uri="{BB962C8B-B14F-4D97-AF65-F5344CB8AC3E}">
        <p14:creationId xmlns:p14="http://schemas.microsoft.com/office/powerpoint/2010/main" val="35569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1"/>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6"/>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4"/>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11/7/2025</a:t>
            </a:fld>
            <a:endParaRPr lang="en-US" dirty="0"/>
          </a:p>
        </p:txBody>
      </p:sp>
      <p:sp>
        <p:nvSpPr>
          <p:cNvPr id="5" name="Footer Placeholder 4"/>
          <p:cNvSpPr>
            <a:spLocks noGrp="1"/>
          </p:cNvSpPr>
          <p:nvPr>
            <p:ph type="ftr" sz="quarter" idx="3"/>
          </p:nvPr>
        </p:nvSpPr>
        <p:spPr>
          <a:xfrm>
            <a:off x="4038600" y="6176964"/>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©2021 Exl Service Holdings, Inc. All rights reserved.</a:t>
            </a:r>
          </a:p>
        </p:txBody>
      </p:sp>
      <p:sp>
        <p:nvSpPr>
          <p:cNvPr id="6" name="Slide Number Placeholder 5"/>
          <p:cNvSpPr>
            <a:spLocks noGrp="1"/>
          </p:cNvSpPr>
          <p:nvPr>
            <p:ph type="sldNum" sz="quarter" idx="4"/>
          </p:nvPr>
        </p:nvSpPr>
        <p:spPr>
          <a:xfrm>
            <a:off x="8991600" y="6176964"/>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1638832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9.xml.rels><?xml version="1.0" encoding="UTF-8" standalone="yes"?>
<Relationships xmlns="http://schemas.openxmlformats.org/package/2006/relationships"><Relationship Id="rId3" Type="http://schemas.openxmlformats.org/officeDocument/2006/relationships/hyperlink" Target="https://forms.office.com/r/GBfkWAG69p" TargetMode="External"/><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3.xml"/></Relationships>
</file>

<file path=ppt/slides/_rels/slide11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3.xml"/></Relationships>
</file>

<file path=ppt/slides/_rels/slide13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83F0C31A-E72E-4779-A16A-AE2B5D8E5E35}"/>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D79E1712-ADB2-4F8E-BC0B-613EC50DB0D9}"/>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65E5F198-1498-45A1-AA11-959D3B74B9EF}"/>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1FF6C12C-5F29-4873-A726-F0B5C2023C61}"/>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1CD4B557-CEAD-4C43-92A9-C17961708DE7}"/>
              </a:ext>
            </a:extLst>
          </p:cNvPr>
          <p:cNvSpPr/>
          <p:nvPr/>
        </p:nvSpPr>
        <p:spPr>
          <a:xfrm>
            <a:off x="4897275" y="2791048"/>
            <a:ext cx="6745375" cy="1200329"/>
          </a:xfrm>
          <a:prstGeom prst="rect">
            <a:avLst/>
          </a:prstGeom>
        </p:spPr>
        <p:txBody>
          <a:bodyPr wrap="square">
            <a:spAutoFit/>
          </a:bodyPr>
          <a:lstStyle/>
          <a:p>
            <a:pPr lvl="0" defTabSz="457166">
              <a:defRPr/>
            </a:pPr>
            <a:r>
              <a:rPr lang="en-US" sz="3600" dirty="0">
                <a:solidFill>
                  <a:srgbClr val="FFFFFF"/>
                </a:solidFill>
              </a:rPr>
              <a:t>Databricks Certified Generative AI Engineer Associate Module 2025</a:t>
            </a:r>
            <a:endParaRPr kumimoji="0" lang="en-US" sz="3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903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771F7F-C663-FFE6-7143-BE323037D41F}"/>
              </a:ext>
            </a:extLst>
          </p:cNvPr>
          <p:cNvSpPr txBox="1"/>
          <p:nvPr/>
        </p:nvSpPr>
        <p:spPr>
          <a:xfrm>
            <a:off x="337457" y="214060"/>
            <a:ext cx="11495314" cy="6343981"/>
          </a:xfrm>
          <a:prstGeom prst="rect">
            <a:avLst/>
          </a:prstGeom>
          <a:noFill/>
        </p:spPr>
        <p:txBody>
          <a:bodyPr wrap="square">
            <a:spAutoFit/>
          </a:bodyPr>
          <a:lstStyle/>
          <a:p>
            <a:pPr>
              <a:lnSpc>
                <a:spcPct val="115000"/>
              </a:lnSpc>
              <a:spcAft>
                <a:spcPts val="800"/>
              </a:spcAft>
              <a:buNone/>
            </a:pPr>
            <a:r>
              <a:rPr lang="en-IN" sz="2400" b="1" kern="100" dirty="0">
                <a:solidFill>
                  <a:srgbClr val="FB4E0B"/>
                </a:solidFill>
                <a:effectLst/>
                <a:latin typeface="+mj-lt"/>
                <a:ea typeface="Aptos" panose="020B0004020202020204" pitchFamily="34" charset="0"/>
                <a:cs typeface="Times New Roman" panose="02020603050405020304" pitchFamily="18" charset="0"/>
              </a:rPr>
              <a:t>Definition:</a:t>
            </a:r>
            <a:endParaRPr lang="en-IN" sz="2400" kern="100" dirty="0">
              <a:solidFill>
                <a:srgbClr val="FB4E0B"/>
              </a:solidFill>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The Databricks Certified Generative AI Engineer Associate certification exam assesses an individual’s ability to design and implement LLM-enabled solutions using Databricks. This includes problem decomposition to break down complex requirements into manageable tasks as well as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choosing appropriate models, tools, and approaches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from the current generative AI landscape for developing comprehensive solutions. </a:t>
            </a: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It also assesses Databricks-specific tools such as </a:t>
            </a:r>
          </a:p>
          <a:p>
            <a:pPr marL="342900" indent="-342900">
              <a:lnSpc>
                <a:spcPct val="115000"/>
              </a:lnSpc>
              <a:spcAft>
                <a:spcPts val="800"/>
              </a:spcAft>
              <a:buAutoNum type="arabicPeriod"/>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Vector Search</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semantic similarity searches, </a:t>
            </a:r>
          </a:p>
          <a:p>
            <a:pPr marL="342900" indent="-342900">
              <a:lnSpc>
                <a:spcPct val="115000"/>
              </a:lnSpc>
              <a:spcAft>
                <a:spcPts val="800"/>
              </a:spcAft>
              <a:buAutoNum type="arabicPeriod"/>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Serving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deploying models and solutions, </a:t>
            </a:r>
          </a:p>
          <a:p>
            <a:pPr marL="342900" indent="-342900">
              <a:lnSpc>
                <a:spcPct val="115000"/>
              </a:lnSpc>
              <a:spcAft>
                <a:spcPts val="800"/>
              </a:spcAft>
              <a:buAutoNum type="arabicPeriod"/>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managing solution lifecycle, and </a:t>
            </a:r>
          </a:p>
          <a:p>
            <a:pPr marL="342900" indent="-342900">
              <a:lnSpc>
                <a:spcPct val="115000"/>
              </a:lnSpc>
              <a:spcAft>
                <a:spcPts val="800"/>
              </a:spcAft>
              <a:buAutoNum type="arabicPeriod"/>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Unity </a:t>
            </a: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data governance. </a:t>
            </a:r>
          </a:p>
          <a:p>
            <a:r>
              <a:rPr lang="en-IN" kern="100" dirty="0">
                <a:latin typeface="Aptos Display" panose="020B0004020202020204" pitchFamily="34" charset="0"/>
                <a:cs typeface="Times New Roman" panose="02020603050405020304" pitchFamily="18" charset="0"/>
              </a:rPr>
              <a:t>These questions are segmented into six Pillars and 45 sub-segments:</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Design Applications — 14%</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Data Preparation — 14%</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Application Development — 30%</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Assembling and Deploying Apps — 22%</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Governance — 8%</a:t>
            </a:r>
          </a:p>
          <a:p>
            <a:pPr marL="342900" lvl="0" indent="-342900">
              <a:buFont typeface="Arial" panose="020B0604020202020204" pitchFamily="34" charset="0"/>
              <a:buChar char="•"/>
            </a:pPr>
            <a:r>
              <a:rPr lang="en-IN" kern="100" dirty="0">
                <a:latin typeface="Aptos Display" panose="020B0004020202020204" pitchFamily="34" charset="0"/>
                <a:cs typeface="Times New Roman" panose="02020603050405020304" pitchFamily="18" charset="0"/>
              </a:rPr>
              <a:t>Evaluation and Monitoring — 12%</a:t>
            </a:r>
          </a:p>
          <a:p>
            <a:pPr>
              <a:lnSpc>
                <a:spcPct val="115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99057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A8EB892A-3F03-2E3E-C9BD-B127E8ACE510}"/>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BC6C8210-7926-2A4D-DD06-E2E28FFE45B0}"/>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9C550263-016D-B401-E09F-9373A5F8EC5E}"/>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2118086A-4F46-B452-1B83-309EDBA22183}"/>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2CA6C98F-3010-8EB3-5820-2C4413A8EDC3}"/>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581AC71D-0840-CDE7-9F73-F9B582D52C5F}"/>
              </a:ext>
            </a:extLst>
          </p:cNvPr>
          <p:cNvSpPr/>
          <p:nvPr/>
        </p:nvSpPr>
        <p:spPr>
          <a:xfrm>
            <a:off x="4909597" y="3105832"/>
            <a:ext cx="6745375" cy="646331"/>
          </a:xfrm>
          <a:prstGeom prst="rect">
            <a:avLst/>
          </a:prstGeom>
        </p:spPr>
        <p:txBody>
          <a:bodyPr wrap="square">
            <a:spAutoFit/>
          </a:bodyPr>
          <a:lstStyle/>
          <a:p>
            <a:pPr lvl="0" defTabSz="457166">
              <a:defRPr/>
            </a:pPr>
            <a:r>
              <a:rPr lang="en-US" sz="3600" dirty="0">
                <a:solidFill>
                  <a:srgbClr val="FFFFFF"/>
                </a:solidFill>
              </a:rPr>
              <a:t>Section 1: Design Applications</a:t>
            </a:r>
          </a:p>
        </p:txBody>
      </p:sp>
    </p:spTree>
    <p:extLst>
      <p:ext uri="{BB962C8B-B14F-4D97-AF65-F5344CB8AC3E}">
        <p14:creationId xmlns:p14="http://schemas.microsoft.com/office/powerpoint/2010/main" val="3497113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3A140D-094B-650E-C768-05C59B2A52F8}"/>
              </a:ext>
            </a:extLst>
          </p:cNvPr>
          <p:cNvSpPr txBox="1"/>
          <p:nvPr/>
        </p:nvSpPr>
        <p:spPr>
          <a:xfrm>
            <a:off x="468086" y="172528"/>
            <a:ext cx="6096000" cy="496098"/>
          </a:xfrm>
          <a:prstGeom prst="rect">
            <a:avLst/>
          </a:prstGeom>
          <a:noFill/>
        </p:spPr>
        <p:txBody>
          <a:bodyPr wrap="square">
            <a:spAutoFit/>
          </a:bodyPr>
          <a:lstStyle/>
          <a:p>
            <a:pPr>
              <a:lnSpc>
                <a:spcPct val="115000"/>
              </a:lnSpc>
              <a:spcAft>
                <a:spcPts val="800"/>
              </a:spcAft>
              <a:buNone/>
            </a:pPr>
            <a:r>
              <a:rPr lang="en-IN" sz="2400" b="1" kern="100" dirty="0">
                <a:solidFill>
                  <a:srgbClr val="FB4E0B"/>
                </a:solidFill>
                <a:effectLst/>
                <a:latin typeface="Aptos Display" panose="020B0004020202020204" pitchFamily="34" charset="0"/>
                <a:ea typeface="Aptos" panose="020B0004020202020204" pitchFamily="34" charset="0"/>
                <a:cs typeface="Times New Roman" panose="02020603050405020304" pitchFamily="18" charset="0"/>
              </a:rPr>
              <a:t>Section 1: Design Applications</a:t>
            </a:r>
            <a:endParaRPr lang="en-IN" sz="2400" kern="100" dirty="0">
              <a:solidFill>
                <a:srgbClr val="FB4E0B"/>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824E50B-227E-C337-F93D-C403910765D8}"/>
              </a:ext>
            </a:extLst>
          </p:cNvPr>
          <p:cNvSpPr txBox="1"/>
          <p:nvPr/>
        </p:nvSpPr>
        <p:spPr>
          <a:xfrm>
            <a:off x="468086" y="660806"/>
            <a:ext cx="11136085" cy="5487849"/>
          </a:xfrm>
          <a:prstGeom prst="rect">
            <a:avLst/>
          </a:prstGeom>
          <a:noFill/>
        </p:spPr>
        <p:txBody>
          <a:bodyPr wrap="square">
            <a:spAutoFit/>
          </a:bodyPr>
          <a:lstStyle/>
          <a:p>
            <a:pPr>
              <a:lnSpc>
                <a:spcPct val="115000"/>
              </a:lnSpc>
              <a:spcAft>
                <a:spcPts val="800"/>
              </a:spcAft>
              <a:buNone/>
            </a:pPr>
            <a:endParaRPr lang="en-IN" sz="800" b="1" kern="100" dirty="0">
              <a:effectLst/>
              <a:latin typeface="Aptos Display"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 Design a prompt that elicits a specifically formatted response</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Tips for Effective Prompt Engineering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Model-Specific Prompts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Iterative Development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Avoiding Bias and Hallucinations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Include instructions to avoid generating false information. Example: “Do not make things up if you do not know. Say ‘I do not have that information’.”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Use Delimiters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delimiters to distinguish between instruction and context, such as ###, `````, {}, `[]`, or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Structured Output: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“Return the movie name mentioned in the form of a JSON object. The output should look like {‘Title’: ‘In and Out’}.”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Examples of Advanced Prompting Techniques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SzPts val="1000"/>
              <a:buFont typeface="Arial" panose="020B0604020202020204" pitchFamily="34" charset="0"/>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Zero-shot Prompting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Without examples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SzPts val="1000"/>
              <a:buFont typeface="Arial" panose="020B0604020202020204" pitchFamily="34" charset="0"/>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Few-shot Prompting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Fancy word for more than 1 example in a prompt.</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SzPts val="1000"/>
              <a:buFont typeface="Arial" panose="020B0604020202020204" pitchFamily="34" charset="0"/>
              <a:buChar char="•"/>
              <a:tabLst>
                <a:tab pos="457200" algn="l"/>
              </a:tabLst>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Prompt Chaining </a:t>
            </a:r>
            <a:r>
              <a:rPr lang="en-IN" kern="100" dirty="0">
                <a:latin typeface="Aptos Display" panose="020B0004020202020204" pitchFamily="34" charset="0"/>
                <a:ea typeface="Aptos" panose="020B0004020202020204" pitchFamily="34" charset="0"/>
                <a:cs typeface="Times New Roman" panose="02020603050405020304" pitchFamily="18" charset="0"/>
              </a:rPr>
              <a:t>— Chain of prompts</a:t>
            </a:r>
            <a:endParaRPr lang="en-IN" dirty="0"/>
          </a:p>
        </p:txBody>
      </p:sp>
    </p:spTree>
    <p:extLst>
      <p:ext uri="{BB962C8B-B14F-4D97-AF65-F5344CB8AC3E}">
        <p14:creationId xmlns:p14="http://schemas.microsoft.com/office/powerpoint/2010/main" val="2141444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DEE001-DCA6-D7C1-C8CF-FE1C578282F7}"/>
              </a:ext>
            </a:extLst>
          </p:cNvPr>
          <p:cNvSpPr txBox="1"/>
          <p:nvPr/>
        </p:nvSpPr>
        <p:spPr>
          <a:xfrm>
            <a:off x="402770" y="326007"/>
            <a:ext cx="11038115" cy="2079737"/>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Key Elements of a Good Prompt: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Clear Instruction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Provide a clear directive specifying what the model should do.</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Contextual Information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Include background or additional information that helps the model understand the task.</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Input / Question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Specify the query or data the model needs to process.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Output Type / Format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Define the desired structure or style of the response.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50EC330-56D0-6C73-89EF-4BF768410D18}"/>
              </a:ext>
            </a:extLst>
          </p:cNvPr>
          <p:cNvSpPr txBox="1"/>
          <p:nvPr/>
        </p:nvSpPr>
        <p:spPr>
          <a:xfrm>
            <a:off x="402770" y="2568975"/>
            <a:ext cx="11038115" cy="377507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 Select model tasks to accomplish a given business requirement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Steps in Selecting Model Tasks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Identify Business Objectives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Decompose the Problem</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Break down the overall objective into smaller, manageable tasks. Example: For improving customer service, tasks might include sentiment analysis, FAQ retrieval, and automated response generation.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Task Mapping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Match the business objectives to specific AI model tasks; you could use multiple LLM for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specilized</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tasks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Select Appropriate Models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MPT VS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Chatgpt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VS Lamma VS BERT or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RoBERTa</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Vs other models; Which all models are open source? Text generation model vs other kinds of model.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26368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F7DA-743F-D7BC-D204-ECA56DF32A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41AAF1-503B-C119-FECB-DE012F9AA2DF}"/>
              </a:ext>
            </a:extLst>
          </p:cNvPr>
          <p:cNvSpPr txBox="1"/>
          <p:nvPr/>
        </p:nvSpPr>
        <p:spPr>
          <a:xfrm>
            <a:off x="446315" y="320890"/>
            <a:ext cx="11005456" cy="2511650"/>
          </a:xfrm>
          <a:prstGeom prst="rect">
            <a:avLst/>
          </a:prstGeom>
          <a:noFill/>
        </p:spPr>
        <p:txBody>
          <a:bodyPr wrap="square">
            <a:spAutoFit/>
          </a:bodyPr>
          <a:lstStyle/>
          <a:p>
            <a:pPr marL="342900" lvl="0" indent="-342900">
              <a:lnSpc>
                <a:spcPct val="115000"/>
              </a:lnSpc>
              <a:spcAft>
                <a:spcPts val="800"/>
              </a:spcAft>
              <a:buFont typeface="+mj-lt"/>
              <a:buAutoNum type="arabicPeriod" startAt="5"/>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Consider the Interaction Between Tasks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Sentiment analysis might be performed first, followed by retrieval of FAQs, and finally, response generation.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startAt="5"/>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Utilize Tools and Frameworks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Using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creating multi-stage reasoning chains that handle complex workflows.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startAt="5"/>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Evaluate, Optimize and Iterate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Continuously evaluate and optimize the models and tasks to ensure they meet the business requirements based on performance, accuracy, and context applicability. Example: Regularly updating the training data and fine-tuning models to improve performance.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DF4FB55-F1D2-2C4F-B47E-E802D0B79923}"/>
              </a:ext>
            </a:extLst>
          </p:cNvPr>
          <p:cNvSpPr txBox="1"/>
          <p:nvPr/>
        </p:nvSpPr>
        <p:spPr>
          <a:xfrm>
            <a:off x="446315" y="2832540"/>
            <a:ext cx="11745685" cy="3438890"/>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 Select chain components for a desired model input and output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Frameworks and Libraries for Building Chains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kern="100" dirty="0">
                <a:latin typeface="Aptos" panose="020B0004020202020204" pitchFamily="34" charset="0"/>
                <a:ea typeface="Aptos" panose="020B0004020202020204" pitchFamily="34" charset="0"/>
                <a:cs typeface="Times New Roman" panose="02020603050405020304" pitchFamily="18" charset="0"/>
              </a:rPr>
              <a:t>, 	</a:t>
            </a:r>
            <a:r>
              <a:rPr lang="en-IN" b="1" kern="100" dirty="0">
                <a:latin typeface="Aptos" panose="020B0004020202020204" pitchFamily="34" charset="0"/>
                <a:ea typeface="Aptos" panose="020B0004020202020204" pitchFamily="34" charset="0"/>
                <a:cs typeface="Times New Roman" panose="02020603050405020304" pitchFamily="18" charset="0"/>
              </a:rPr>
              <a:t>2.</a:t>
            </a:r>
            <a:r>
              <a:rPr lang="en-IN" kern="100" dirty="0">
                <a:latin typeface="Aptos" panose="020B0004020202020204" pitchFamily="34" charset="0"/>
                <a:ea typeface="Aptos" panose="020B0004020202020204" pitchFamily="34" charset="0"/>
                <a:cs typeface="Times New Roman" panose="02020603050405020304" pitchFamily="18" charset="0"/>
              </a:rPr>
              <a:t> </a:t>
            </a: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LLamaIndex</a:t>
            </a:r>
            <a:r>
              <a:rPr lang="en-IN" kern="100" dirty="0">
                <a:latin typeface="Aptos" panose="020B0004020202020204" pitchFamily="34" charset="0"/>
                <a:ea typeface="Aptos" panose="020B0004020202020204" pitchFamily="34" charset="0"/>
                <a:cs typeface="Times New Roman" panose="02020603050405020304" pitchFamily="18" charset="0"/>
              </a:rPr>
              <a:t>, 	</a:t>
            </a:r>
            <a:r>
              <a:rPr lang="en-IN" b="1" kern="100" dirty="0">
                <a:latin typeface="Aptos" panose="020B0004020202020204" pitchFamily="34" charset="0"/>
                <a:ea typeface="Aptos" panose="020B0004020202020204" pitchFamily="34" charset="0"/>
                <a:cs typeface="Times New Roman" panose="02020603050405020304" pitchFamily="18" charset="0"/>
              </a:rPr>
              <a:t>3.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OpenAI Agents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Components: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US" b="1" dirty="0"/>
              <a:t>Chain: </a:t>
            </a:r>
            <a:r>
              <a:rPr lang="en-US" dirty="0"/>
              <a:t>An ordered sequence of components that processes information step-by-step for a specific AI task.</a:t>
            </a:r>
          </a:p>
          <a:p>
            <a:pPr marL="285750" indent="-285750">
              <a:buFont typeface="Arial" panose="020B0604020202020204" pitchFamily="34" charset="0"/>
              <a:buChar char="•"/>
            </a:pPr>
            <a:r>
              <a:rPr lang="en-US" b="1" dirty="0"/>
              <a:t>Prompt: </a:t>
            </a:r>
            <a:r>
              <a:rPr lang="en-US" dirty="0"/>
              <a:t>The text input or instruction designed to guide an AI model's response.</a:t>
            </a:r>
          </a:p>
          <a:p>
            <a:pPr marL="285750" indent="-285750">
              <a:buFont typeface="Arial" panose="020B0604020202020204" pitchFamily="34" charset="0"/>
              <a:buChar char="•"/>
            </a:pPr>
            <a:r>
              <a:rPr lang="en-US" b="1" dirty="0"/>
              <a:t>Retriever</a:t>
            </a:r>
            <a:r>
              <a:rPr lang="en-US" dirty="0"/>
              <a:t>: A component that fetches relevant documents or information from a source to support the AI's output.</a:t>
            </a:r>
          </a:p>
          <a:p>
            <a:pPr marL="285750" indent="-285750">
              <a:buFont typeface="Arial" panose="020B0604020202020204" pitchFamily="34" charset="0"/>
              <a:buChar char="•"/>
            </a:pPr>
            <a:r>
              <a:rPr lang="en-US" b="1" dirty="0"/>
              <a:t>Tool or ChatGPT Function Calling: </a:t>
            </a:r>
            <a:r>
              <a:rPr lang="en-US" dirty="0"/>
              <a:t>Mechanisms that allow the AI to interact with external functions, APIs, or tools for additional capabilities.</a:t>
            </a:r>
          </a:p>
          <a:p>
            <a:pPr marL="285750" indent="-285750">
              <a:buFont typeface="Arial" panose="020B0604020202020204" pitchFamily="34" charset="0"/>
              <a:buChar char="•"/>
            </a:pPr>
            <a:r>
              <a:rPr lang="en-US" b="1" dirty="0"/>
              <a:t>LLM: </a:t>
            </a:r>
            <a:r>
              <a:rPr lang="en-US" dirty="0"/>
              <a:t>A large language model that generates human-like text responses based on given input.</a:t>
            </a:r>
          </a:p>
        </p:txBody>
      </p:sp>
    </p:spTree>
    <p:extLst>
      <p:ext uri="{BB962C8B-B14F-4D97-AF65-F5344CB8AC3E}">
        <p14:creationId xmlns:p14="http://schemas.microsoft.com/office/powerpoint/2010/main" val="251712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BC20A-6287-FCF7-8759-28B624B81D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07B9C0-BA78-89B2-DB5E-21EAF3BCCC24}"/>
              </a:ext>
            </a:extLst>
          </p:cNvPr>
          <p:cNvSpPr txBox="1"/>
          <p:nvPr/>
        </p:nvSpPr>
        <p:spPr>
          <a:xfrm>
            <a:off x="566057" y="403354"/>
            <a:ext cx="10352313" cy="303538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Integration and Implementation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1. 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Framework Integration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 build and manage the chain components. Integrate with databases and external APIs for dynamic data retrieval and interaction.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2. 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Logging and Monitoring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 log the performance of each component in the chain. Monitor the entire workflow to ensure high performance and accuracy.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3. 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Optimization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Continuously evaluate the chain’s performance and make necessary adjustments. Update models and retrain as needed to maintain accuracy and relevance.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4. Translate business use case goals into a description of the desired inputs and outputs for the AI pipeline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17F549A-1B01-2776-8244-C7E5F40E3E4C}"/>
              </a:ext>
            </a:extLst>
          </p:cNvPr>
          <p:cNvSpPr txBox="1"/>
          <p:nvPr/>
        </p:nvSpPr>
        <p:spPr>
          <a:xfrm>
            <a:off x="566057" y="3635220"/>
            <a:ext cx="9971314" cy="2819426"/>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Implementation Considerations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Data Quality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Selection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Choose models that are well-suited for each task — accuracy VS speed VS cost VS open source VS regulations VS hosting cost VS performance — relevance to the business goals.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Integration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of all components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Testing and Optimization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5.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Define and order tools that gather knowledge or take actions for multi-stage reasoning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5844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AF43-F89A-DBCE-EED1-4E31D3DD13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025CDD-3F9D-8040-C958-E9B49615F13E}"/>
              </a:ext>
            </a:extLst>
          </p:cNvPr>
          <p:cNvSpPr txBox="1"/>
          <p:nvPr/>
        </p:nvSpPr>
        <p:spPr>
          <a:xfrm>
            <a:off x="424543" y="592482"/>
            <a:ext cx="10243457" cy="460658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Patterns for Agent Reasoning:</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ReAct</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(Reason + Act)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Thought or Reason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Reflect on the problem given and previous actions taken.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Act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Choose the correct tool and input format to use.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Observe (Continues to Reason)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Evaluate the result of the action and generate the next thought.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2. 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Tool Use / Function Calling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Agents interact with external tools and APIs to perform specific tasks.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Example Tools</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Research / Search Tools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Web browsing, search engines, Wikipedia.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Document Retrieval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Database retriever, vector DB retriever, document loader.</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Image Processing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Image generation, object detection, image classification.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Coding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Code execution, documentation generator, debugging/testing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8656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EECBB-BC46-D1EF-C921-1E983E060B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10FC9B-B788-65CF-F5AA-DF4784B524F1}"/>
              </a:ext>
            </a:extLst>
          </p:cNvPr>
          <p:cNvSpPr txBox="1"/>
          <p:nvPr/>
        </p:nvSpPr>
        <p:spPr>
          <a:xfrm>
            <a:off x="478971" y="431122"/>
            <a:ext cx="8240486" cy="3980257"/>
          </a:xfrm>
          <a:prstGeom prst="rect">
            <a:avLst/>
          </a:prstGeom>
          <a:noFill/>
        </p:spPr>
        <p:txBody>
          <a:bodyPr wrap="square">
            <a:spAutoFit/>
          </a:bodyPr>
          <a:lstStyle/>
          <a:p>
            <a:pPr>
              <a:lnSpc>
                <a:spcPct val="115000"/>
              </a:lnSpc>
              <a:spcAft>
                <a:spcPts val="800"/>
              </a:spcAft>
            </a:pPr>
            <a:r>
              <a:rPr lang="en-IN" kern="100" dirty="0">
                <a:latin typeface="Aptos Display" panose="020B0004020202020204" pitchFamily="34" charset="0"/>
                <a:ea typeface="Aptos" panose="020B0004020202020204" pitchFamily="34" charset="0"/>
                <a:cs typeface="Times New Roman" panose="02020603050405020304" pitchFamily="18" charset="0"/>
              </a:rPr>
              <a:t>3. </a:t>
            </a:r>
            <a:r>
              <a:rPr lang="en-IN" b="1" kern="100" dirty="0">
                <a:latin typeface="Aptos Display" panose="020B0004020202020204" pitchFamily="34" charset="0"/>
                <a:ea typeface="Aptos" panose="020B0004020202020204" pitchFamily="34" charset="0"/>
                <a:cs typeface="Times New Roman" panose="02020603050405020304" pitchFamily="18" charset="0"/>
              </a:rPr>
              <a:t>Planning</a:t>
            </a:r>
            <a:r>
              <a:rPr lang="en-IN" kern="100" dirty="0">
                <a:latin typeface="Aptos Display" panose="020B0004020202020204" pitchFamily="34" charset="0"/>
                <a:ea typeface="Aptos" panose="020B0004020202020204" pitchFamily="34" charset="0"/>
                <a:cs typeface="Times New Roman" panose="02020603050405020304" pitchFamily="18" charset="0"/>
              </a:rPr>
              <a:t>: Agents must dynamically adjust their goals and plans based on changing conditions.</a:t>
            </a:r>
          </a:p>
          <a:p>
            <a:pPr>
              <a:lnSpc>
                <a:spcPct val="115000"/>
              </a:lnSpc>
              <a:spcAft>
                <a:spcPts val="800"/>
              </a:spcAft>
              <a:buNone/>
            </a:pPr>
            <a:r>
              <a:rPr lang="en-IN" b="1"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Tasks</a:t>
            </a:r>
            <a:r>
              <a:rPr lang="en-IN"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a:t>
            </a:r>
            <a:endParaRPr lang="en-IN" kern="100" dirty="0">
              <a:solidFill>
                <a:schemeClr val="accent1"/>
              </a:solidFill>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latin typeface="Aptos Display" panose="020B0004020202020204" pitchFamily="34" charset="0"/>
                <a:ea typeface="Aptos" panose="020B0004020202020204" pitchFamily="34" charset="0"/>
                <a:cs typeface="Times New Roman" panose="02020603050405020304" pitchFamily="18" charset="0"/>
              </a:rPr>
              <a:t>Single Task</a:t>
            </a:r>
            <a:r>
              <a:rPr lang="en-IN" kern="100" dirty="0">
                <a:latin typeface="Aptos Display" panose="020B0004020202020204" pitchFamily="34" charset="0"/>
                <a:ea typeface="Aptos" panose="020B0004020202020204" pitchFamily="34" charset="0"/>
                <a:cs typeface="Times New Roman" panose="02020603050405020304" pitchFamily="18" charset="0"/>
              </a:rPr>
              <a:t>: A straightforward task with a single goal.</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latin typeface="Aptos Display" panose="020B0004020202020204" pitchFamily="34" charset="0"/>
                <a:ea typeface="Aptos" panose="020B0004020202020204" pitchFamily="34" charset="0"/>
                <a:cs typeface="Times New Roman" panose="02020603050405020304" pitchFamily="18" charset="0"/>
              </a:rPr>
              <a:t>Sequential Task</a:t>
            </a:r>
            <a:r>
              <a:rPr lang="en-IN" kern="100" dirty="0">
                <a:latin typeface="Aptos Display" panose="020B0004020202020204" pitchFamily="34" charset="0"/>
                <a:ea typeface="Aptos" panose="020B0004020202020204" pitchFamily="34" charset="0"/>
                <a:cs typeface="Times New Roman" panose="02020603050405020304" pitchFamily="18" charset="0"/>
              </a:rPr>
              <a:t>: Tasks that need to be performed in a specific order.</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b="1" kern="100" dirty="0">
                <a:latin typeface="Aptos Display" panose="020B0004020202020204" pitchFamily="34" charset="0"/>
                <a:ea typeface="Aptos" panose="020B0004020202020204" pitchFamily="34" charset="0"/>
                <a:cs typeface="Times New Roman" panose="02020603050405020304" pitchFamily="18" charset="0"/>
              </a:rPr>
              <a:t>Graph Task</a:t>
            </a:r>
            <a:r>
              <a:rPr lang="en-IN" kern="100" dirty="0">
                <a:latin typeface="Aptos Display" panose="020B0004020202020204" pitchFamily="34" charset="0"/>
                <a:ea typeface="Aptos" panose="020B0004020202020204" pitchFamily="34" charset="0"/>
                <a:cs typeface="Times New Roman" panose="02020603050405020304" pitchFamily="18" charset="0"/>
              </a:rPr>
              <a:t>: Complex tasks that involve multiple interdependent actions.</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IN" sz="1800" kern="100" dirty="0">
              <a:effectLst/>
              <a:latin typeface="Aptos Display"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4. 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Multi-Agent Collaboration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Multiple agents work collaboratively, each handling different aspects of a complex task.</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Benefits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Allows modularization and specialization.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38092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69BAAA-B477-DD31-76E4-E64A40179AE1}"/>
              </a:ext>
            </a:extLst>
          </p:cNvPr>
          <p:cNvSpPr txBox="1"/>
          <p:nvPr/>
        </p:nvSpPr>
        <p:spPr>
          <a:xfrm>
            <a:off x="839513" y="455408"/>
            <a:ext cx="8919342" cy="679032"/>
          </a:xfrm>
          <a:prstGeom prst="rect">
            <a:avLst/>
          </a:prstGeom>
          <a:noFill/>
        </p:spPr>
        <p:txBody>
          <a:bodyPr wrap="square">
            <a:spAutoFit/>
          </a:bodyPr>
          <a:lstStyle/>
          <a:p>
            <a:pPr>
              <a:lnSpc>
                <a:spcPts val="2250"/>
              </a:lnSpc>
              <a:buNone/>
            </a:pPr>
            <a:r>
              <a:rPr lang="en-US" b="1" i="0" dirty="0">
                <a:solidFill>
                  <a:srgbClr val="242424"/>
                </a:solidFill>
                <a:effectLst/>
                <a:latin typeface="+mj-lt"/>
              </a:rPr>
              <a:t>Anatomy of an Effective Prompt</a:t>
            </a:r>
          </a:p>
          <a:p>
            <a:pPr>
              <a:lnSpc>
                <a:spcPts val="2400"/>
              </a:lnSpc>
              <a:buNone/>
            </a:pPr>
            <a:r>
              <a:rPr lang="en-US" b="0" i="0" dirty="0">
                <a:solidFill>
                  <a:srgbClr val="242424"/>
                </a:solidFill>
                <a:effectLst/>
                <a:latin typeface="+mj-lt"/>
              </a:rPr>
              <a:t>A high-quality prompt is:</a:t>
            </a:r>
          </a:p>
        </p:txBody>
      </p:sp>
      <p:pic>
        <p:nvPicPr>
          <p:cNvPr id="7170" name="Picture 2">
            <a:extLst>
              <a:ext uri="{FF2B5EF4-FFF2-40B4-BE49-F238E27FC236}">
                <a16:creationId xmlns:a16="http://schemas.microsoft.com/office/drawing/2014/main" id="{32BDC0BD-42ED-17FB-9AAC-68105DA0A8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513" y="1387037"/>
            <a:ext cx="6667500" cy="2381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1613F5E-194B-3765-DA45-C2E852FC2C51}"/>
              </a:ext>
            </a:extLst>
          </p:cNvPr>
          <p:cNvSpPr txBox="1"/>
          <p:nvPr/>
        </p:nvSpPr>
        <p:spPr>
          <a:xfrm>
            <a:off x="839512" y="3569124"/>
            <a:ext cx="10149053" cy="2528706"/>
          </a:xfrm>
          <a:prstGeom prst="rect">
            <a:avLst/>
          </a:prstGeom>
          <a:noFill/>
        </p:spPr>
        <p:txBody>
          <a:bodyPr wrap="square">
            <a:spAutoFit/>
          </a:bodyPr>
          <a:lstStyle/>
          <a:p>
            <a:pPr algn="l">
              <a:lnSpc>
                <a:spcPts val="2250"/>
              </a:lnSpc>
              <a:buNone/>
            </a:pPr>
            <a:r>
              <a:rPr lang="en-US" b="1" i="0" dirty="0">
                <a:solidFill>
                  <a:srgbClr val="242424"/>
                </a:solidFill>
                <a:effectLst/>
                <a:latin typeface="+mj-lt"/>
              </a:rPr>
              <a:t>Example:</a:t>
            </a:r>
          </a:p>
          <a:p>
            <a:pPr algn="l">
              <a:lnSpc>
                <a:spcPts val="2400"/>
              </a:lnSpc>
              <a:buNone/>
            </a:pPr>
            <a:r>
              <a:rPr lang="en-US" b="0" i="0" dirty="0">
                <a:solidFill>
                  <a:srgbClr val="242424"/>
                </a:solidFill>
                <a:effectLst/>
                <a:latin typeface="+mj-lt"/>
              </a:rPr>
              <a:t>“You are a helpful assistant trained to summarize insurance policy documents. Summarize the key coverage conditions in 3 bullet points using non-technical language.”</a:t>
            </a:r>
            <a:endParaRPr lang="en-US" b="0" i="1" dirty="0">
              <a:solidFill>
                <a:srgbClr val="242424"/>
              </a:solidFill>
              <a:effectLst/>
              <a:latin typeface="+mj-lt"/>
            </a:endParaRPr>
          </a:p>
          <a:p>
            <a:pPr algn="l">
              <a:lnSpc>
                <a:spcPts val="2400"/>
              </a:lnSpc>
              <a:buNone/>
            </a:pPr>
            <a:r>
              <a:rPr lang="en-US" b="0" i="0" dirty="0">
                <a:solidFill>
                  <a:srgbClr val="242424"/>
                </a:solidFill>
                <a:effectLst/>
                <a:latin typeface="+mj-lt"/>
              </a:rPr>
              <a:t>This sets:</a:t>
            </a:r>
          </a:p>
          <a:p>
            <a:pPr marL="285750" indent="-285750" algn="l">
              <a:lnSpc>
                <a:spcPts val="2400"/>
              </a:lnSpc>
              <a:buFont typeface="Arial" panose="020B0604020202020204" pitchFamily="34" charset="0"/>
              <a:buChar char="•"/>
            </a:pPr>
            <a:r>
              <a:rPr lang="en-US" b="0" i="0" dirty="0">
                <a:solidFill>
                  <a:srgbClr val="242424"/>
                </a:solidFill>
                <a:effectLst/>
                <a:latin typeface="+mj-lt"/>
              </a:rPr>
              <a:t>The </a:t>
            </a:r>
            <a:r>
              <a:rPr lang="en-US" b="1" i="0" dirty="0">
                <a:solidFill>
                  <a:srgbClr val="242424"/>
                </a:solidFill>
                <a:effectLst/>
                <a:latin typeface="+mj-lt"/>
              </a:rPr>
              <a:t>role</a:t>
            </a:r>
            <a:r>
              <a:rPr lang="en-US" b="0" i="0" dirty="0">
                <a:solidFill>
                  <a:srgbClr val="242424"/>
                </a:solidFill>
                <a:effectLst/>
                <a:latin typeface="+mj-lt"/>
              </a:rPr>
              <a:t> (a helpful assistant)</a:t>
            </a:r>
          </a:p>
          <a:p>
            <a:pPr marL="285750" indent="-285750" algn="l">
              <a:lnSpc>
                <a:spcPts val="2400"/>
              </a:lnSpc>
              <a:buFont typeface="Arial" panose="020B0604020202020204" pitchFamily="34" charset="0"/>
              <a:buChar char="•"/>
            </a:pPr>
            <a:r>
              <a:rPr lang="en-US" b="0" i="0" dirty="0">
                <a:solidFill>
                  <a:srgbClr val="242424"/>
                </a:solidFill>
                <a:effectLst/>
                <a:latin typeface="+mj-lt"/>
              </a:rPr>
              <a:t>The </a:t>
            </a:r>
            <a:r>
              <a:rPr lang="en-US" b="1" i="0" dirty="0">
                <a:solidFill>
                  <a:srgbClr val="242424"/>
                </a:solidFill>
                <a:effectLst/>
                <a:latin typeface="+mj-lt"/>
              </a:rPr>
              <a:t>task</a:t>
            </a:r>
            <a:r>
              <a:rPr lang="en-US" b="0" i="0" dirty="0">
                <a:solidFill>
                  <a:srgbClr val="242424"/>
                </a:solidFill>
                <a:effectLst/>
                <a:latin typeface="+mj-lt"/>
              </a:rPr>
              <a:t> (summarization)</a:t>
            </a:r>
          </a:p>
          <a:p>
            <a:pPr marL="285750" indent="-285750" algn="l">
              <a:lnSpc>
                <a:spcPts val="2400"/>
              </a:lnSpc>
              <a:buFont typeface="Arial" panose="020B0604020202020204" pitchFamily="34" charset="0"/>
              <a:buChar char="•"/>
            </a:pPr>
            <a:r>
              <a:rPr lang="en-US" b="0" i="0" dirty="0">
                <a:solidFill>
                  <a:srgbClr val="242424"/>
                </a:solidFill>
                <a:effectLst/>
                <a:latin typeface="+mj-lt"/>
              </a:rPr>
              <a:t>The </a:t>
            </a:r>
            <a:r>
              <a:rPr lang="en-US" b="1" i="0" dirty="0">
                <a:solidFill>
                  <a:srgbClr val="242424"/>
                </a:solidFill>
                <a:effectLst/>
                <a:latin typeface="+mj-lt"/>
              </a:rPr>
              <a:t>format</a:t>
            </a:r>
            <a:r>
              <a:rPr lang="en-US" b="0" i="0" dirty="0">
                <a:solidFill>
                  <a:srgbClr val="242424"/>
                </a:solidFill>
                <a:effectLst/>
                <a:latin typeface="+mj-lt"/>
              </a:rPr>
              <a:t> (3 bullet points)</a:t>
            </a:r>
          </a:p>
          <a:p>
            <a:pPr marL="285750" indent="-285750" algn="l">
              <a:lnSpc>
                <a:spcPts val="2400"/>
              </a:lnSpc>
              <a:buFont typeface="Arial" panose="020B0604020202020204" pitchFamily="34" charset="0"/>
              <a:buChar char="•"/>
            </a:pPr>
            <a:r>
              <a:rPr lang="en-US" b="0" i="0" dirty="0">
                <a:solidFill>
                  <a:srgbClr val="242424"/>
                </a:solidFill>
                <a:effectLst/>
                <a:latin typeface="+mj-lt"/>
              </a:rPr>
              <a:t>The </a:t>
            </a:r>
            <a:r>
              <a:rPr lang="en-US" b="1" i="0" dirty="0">
                <a:solidFill>
                  <a:srgbClr val="242424"/>
                </a:solidFill>
                <a:effectLst/>
                <a:latin typeface="+mj-lt"/>
              </a:rPr>
              <a:t>style</a:t>
            </a:r>
            <a:r>
              <a:rPr lang="en-US" b="0" i="0" dirty="0">
                <a:solidFill>
                  <a:srgbClr val="242424"/>
                </a:solidFill>
                <a:effectLst/>
                <a:latin typeface="+mj-lt"/>
              </a:rPr>
              <a:t> (non-technical)</a:t>
            </a:r>
          </a:p>
        </p:txBody>
      </p:sp>
    </p:spTree>
    <p:extLst>
      <p:ext uri="{BB962C8B-B14F-4D97-AF65-F5344CB8AC3E}">
        <p14:creationId xmlns:p14="http://schemas.microsoft.com/office/powerpoint/2010/main" val="2239596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641A63-5509-02E8-9E87-E7B51F2DCC85}"/>
              </a:ext>
            </a:extLst>
          </p:cNvPr>
          <p:cNvSpPr txBox="1"/>
          <p:nvPr/>
        </p:nvSpPr>
        <p:spPr>
          <a:xfrm>
            <a:off x="650327" y="419742"/>
            <a:ext cx="6093372" cy="374461"/>
          </a:xfrm>
          <a:prstGeom prst="rect">
            <a:avLst/>
          </a:prstGeom>
          <a:noFill/>
        </p:spPr>
        <p:txBody>
          <a:bodyPr wrap="square">
            <a:spAutoFit/>
          </a:bodyPr>
          <a:lstStyle/>
          <a:p>
            <a:pPr algn="l">
              <a:lnSpc>
                <a:spcPts val="2250"/>
              </a:lnSpc>
              <a:buNone/>
            </a:pPr>
            <a:r>
              <a:rPr lang="en-US" b="1" i="0" dirty="0">
                <a:solidFill>
                  <a:srgbClr val="242424"/>
                </a:solidFill>
                <a:effectLst/>
                <a:latin typeface="sohne"/>
              </a:rPr>
              <a:t>Prompt Types in Enterprise Applications</a:t>
            </a:r>
          </a:p>
        </p:txBody>
      </p:sp>
      <p:pic>
        <p:nvPicPr>
          <p:cNvPr id="8194" name="Picture 2">
            <a:extLst>
              <a:ext uri="{FF2B5EF4-FFF2-40B4-BE49-F238E27FC236}">
                <a16:creationId xmlns:a16="http://schemas.microsoft.com/office/drawing/2014/main" id="{71E8434E-D278-B0E9-4820-D11CB2FB9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27" y="1226590"/>
            <a:ext cx="9620732" cy="39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923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57D0F8-DC5A-427C-8398-254E7D15C611}"/>
              </a:ext>
            </a:extLst>
          </p:cNvPr>
          <p:cNvSpPr txBox="1"/>
          <p:nvPr/>
        </p:nvSpPr>
        <p:spPr>
          <a:xfrm>
            <a:off x="816005" y="594068"/>
            <a:ext cx="8538294" cy="1294585"/>
          </a:xfrm>
          <a:prstGeom prst="rect">
            <a:avLst/>
          </a:prstGeom>
          <a:noFill/>
        </p:spPr>
        <p:txBody>
          <a:bodyPr wrap="square">
            <a:spAutoFit/>
          </a:bodyPr>
          <a:lstStyle/>
          <a:p>
            <a:pPr algn="l">
              <a:lnSpc>
                <a:spcPts val="2250"/>
              </a:lnSpc>
              <a:buNone/>
            </a:pPr>
            <a:r>
              <a:rPr lang="en-US" b="1" i="0" dirty="0">
                <a:solidFill>
                  <a:srgbClr val="242424"/>
                </a:solidFill>
                <a:effectLst/>
                <a:latin typeface="+mj-lt"/>
              </a:rPr>
              <a:t>Prompt Engineering on Databricks</a:t>
            </a:r>
          </a:p>
          <a:p>
            <a:pPr algn="l">
              <a:lnSpc>
                <a:spcPts val="2400"/>
              </a:lnSpc>
              <a:buNone/>
            </a:pPr>
            <a:r>
              <a:rPr lang="en-US" b="0" i="0" dirty="0">
                <a:solidFill>
                  <a:srgbClr val="242424"/>
                </a:solidFill>
                <a:effectLst/>
                <a:latin typeface="+mj-lt"/>
              </a:rPr>
              <a:t>Databricks provides two core frameworks for working with prompts:</a:t>
            </a:r>
          </a:p>
          <a:p>
            <a:pPr marL="285750" indent="-285750" algn="l">
              <a:lnSpc>
                <a:spcPts val="2400"/>
              </a:lnSpc>
              <a:buFont typeface="Arial" panose="020B0604020202020204" pitchFamily="34" charset="0"/>
              <a:buChar char="•"/>
            </a:pPr>
            <a:r>
              <a:rPr lang="en-US" b="1" i="0" dirty="0">
                <a:solidFill>
                  <a:srgbClr val="242424"/>
                </a:solidFill>
                <a:effectLst/>
                <a:latin typeface="+mj-lt"/>
              </a:rPr>
              <a:t>LangChain </a:t>
            </a:r>
            <a:endParaRPr lang="en-US" b="0" i="0" dirty="0">
              <a:solidFill>
                <a:srgbClr val="242424"/>
              </a:solidFill>
              <a:effectLst/>
              <a:latin typeface="+mj-lt"/>
            </a:endParaRPr>
          </a:p>
          <a:p>
            <a:pPr marL="285750" indent="-285750" algn="l">
              <a:lnSpc>
                <a:spcPts val="2400"/>
              </a:lnSpc>
              <a:buFont typeface="Arial" panose="020B0604020202020204" pitchFamily="34" charset="0"/>
              <a:buChar char="•"/>
            </a:pPr>
            <a:r>
              <a:rPr lang="en-US" b="1" i="0" dirty="0">
                <a:solidFill>
                  <a:srgbClr val="242424"/>
                </a:solidFill>
                <a:effectLst/>
                <a:latin typeface="+mj-lt"/>
              </a:rPr>
              <a:t>Mosaic AI Prompt Playground</a:t>
            </a:r>
            <a:endParaRPr lang="en-US" b="0" i="0" dirty="0">
              <a:solidFill>
                <a:srgbClr val="242424"/>
              </a:solidFill>
              <a:effectLst/>
              <a:latin typeface="+mj-lt"/>
            </a:endParaRPr>
          </a:p>
        </p:txBody>
      </p:sp>
      <p:sp>
        <p:nvSpPr>
          <p:cNvPr id="4" name="TextBox 3">
            <a:extLst>
              <a:ext uri="{FF2B5EF4-FFF2-40B4-BE49-F238E27FC236}">
                <a16:creationId xmlns:a16="http://schemas.microsoft.com/office/drawing/2014/main" id="{2DC98B5F-6AE3-ED1F-4374-B37C0240940F}"/>
              </a:ext>
            </a:extLst>
          </p:cNvPr>
          <p:cNvSpPr txBox="1"/>
          <p:nvPr/>
        </p:nvSpPr>
        <p:spPr>
          <a:xfrm>
            <a:off x="816005" y="3859485"/>
            <a:ext cx="2195209" cy="2146485"/>
          </a:xfrm>
          <a:prstGeom prst="rect">
            <a:avLst/>
          </a:prstGeom>
          <a:noFill/>
        </p:spPr>
        <p:txBody>
          <a:bodyPr wrap="square">
            <a:spAutoFit/>
          </a:bodyPr>
          <a:lstStyle/>
          <a:p>
            <a:pPr algn="l">
              <a:lnSpc>
                <a:spcPts val="2250"/>
              </a:lnSpc>
              <a:buNone/>
            </a:pPr>
            <a:r>
              <a:rPr lang="en-US" b="1" i="0" dirty="0">
                <a:solidFill>
                  <a:srgbClr val="242424"/>
                </a:solidFill>
                <a:effectLst/>
                <a:highlight>
                  <a:srgbClr val="00FF00"/>
                </a:highlight>
                <a:latin typeface="+mj-lt"/>
              </a:rPr>
              <a:t>LangChain Example</a:t>
            </a:r>
          </a:p>
          <a:p>
            <a:pPr algn="l">
              <a:lnSpc>
                <a:spcPts val="2250"/>
              </a:lnSpc>
              <a:buNone/>
            </a:pPr>
            <a:endParaRPr lang="en-US" b="1" dirty="0">
              <a:solidFill>
                <a:srgbClr val="242424"/>
              </a:solidFill>
              <a:highlight>
                <a:srgbClr val="00FF00"/>
              </a:highlight>
              <a:latin typeface="+mj-lt"/>
            </a:endParaRPr>
          </a:p>
          <a:p>
            <a:pPr>
              <a:lnSpc>
                <a:spcPts val="2250"/>
              </a:lnSpc>
            </a:pPr>
            <a:r>
              <a:rPr lang="en-US" dirty="0"/>
              <a:t>Create chains of prompts and responses to execute multi-step AI workflows.</a:t>
            </a:r>
            <a:endParaRPr lang="en-US" b="1" i="0" dirty="0">
              <a:solidFill>
                <a:srgbClr val="242424"/>
              </a:solidFill>
              <a:effectLst/>
              <a:highlight>
                <a:srgbClr val="00FF00"/>
              </a:highlight>
              <a:latin typeface="+mj-lt"/>
            </a:endParaRPr>
          </a:p>
        </p:txBody>
      </p:sp>
      <p:sp>
        <p:nvSpPr>
          <p:cNvPr id="8" name="TextBox 7">
            <a:extLst>
              <a:ext uri="{FF2B5EF4-FFF2-40B4-BE49-F238E27FC236}">
                <a16:creationId xmlns:a16="http://schemas.microsoft.com/office/drawing/2014/main" id="{61CF80C2-1D62-26FE-53D5-A1249020873D}"/>
              </a:ext>
            </a:extLst>
          </p:cNvPr>
          <p:cNvSpPr txBox="1"/>
          <p:nvPr/>
        </p:nvSpPr>
        <p:spPr>
          <a:xfrm>
            <a:off x="3693071" y="3024120"/>
            <a:ext cx="7122073" cy="2862322"/>
          </a:xfrm>
          <a:prstGeom prst="rect">
            <a:avLst/>
          </a:prstGeom>
          <a:noFill/>
          <a:ln w="38100">
            <a:solidFill>
              <a:srgbClr val="92D050"/>
            </a:solidFill>
          </a:ln>
        </p:spPr>
        <p:txBody>
          <a:bodyPr wrap="square">
            <a:spAutoFit/>
          </a:bodyPr>
          <a:lstStyle/>
          <a:p>
            <a:r>
              <a:rPr lang="en-US" b="0" i="0" dirty="0">
                <a:solidFill>
                  <a:srgbClr val="AA0D91"/>
                </a:solidFill>
                <a:effectLst/>
                <a:latin typeface="+mj-lt"/>
              </a:rPr>
              <a:t>from</a:t>
            </a:r>
            <a:r>
              <a:rPr lang="en-US" b="0" i="0" dirty="0">
                <a:solidFill>
                  <a:srgbClr val="242424"/>
                </a:solidFill>
                <a:effectLst/>
                <a:latin typeface="+mj-lt"/>
              </a:rPr>
              <a:t> </a:t>
            </a:r>
            <a:r>
              <a:rPr lang="en-US" b="0" i="0" dirty="0" err="1">
                <a:solidFill>
                  <a:srgbClr val="242424"/>
                </a:solidFill>
                <a:effectLst/>
                <a:latin typeface="+mj-lt"/>
              </a:rPr>
              <a:t>langchain.prompts</a:t>
            </a:r>
            <a:r>
              <a:rPr lang="en-US" b="0" i="0" dirty="0">
                <a:solidFill>
                  <a:srgbClr val="242424"/>
                </a:solidFill>
                <a:effectLst/>
                <a:latin typeface="+mj-lt"/>
              </a:rPr>
              <a:t> </a:t>
            </a:r>
            <a:r>
              <a:rPr lang="en-US" b="0" i="0" dirty="0">
                <a:solidFill>
                  <a:srgbClr val="AA0D91"/>
                </a:solidFill>
                <a:effectLst/>
                <a:latin typeface="+mj-lt"/>
              </a:rPr>
              <a:t>import</a:t>
            </a:r>
            <a:r>
              <a:rPr lang="en-US" b="0" i="0" dirty="0">
                <a:solidFill>
                  <a:srgbClr val="242424"/>
                </a:solidFill>
                <a:effectLst/>
                <a:latin typeface="+mj-lt"/>
              </a:rPr>
              <a:t> </a:t>
            </a:r>
            <a:r>
              <a:rPr lang="en-US" b="0" i="0" dirty="0" err="1">
                <a:solidFill>
                  <a:srgbClr val="242424"/>
                </a:solidFill>
                <a:effectLst/>
                <a:latin typeface="+mj-lt"/>
              </a:rPr>
              <a:t>PromptTemplate</a:t>
            </a:r>
            <a:br>
              <a:rPr lang="en-US" dirty="0">
                <a:latin typeface="+mj-lt"/>
              </a:rPr>
            </a:br>
            <a:br>
              <a:rPr lang="en-US" dirty="0">
                <a:latin typeface="+mj-lt"/>
              </a:rPr>
            </a:br>
            <a:r>
              <a:rPr lang="en-US" b="0" i="0" dirty="0" err="1">
                <a:solidFill>
                  <a:srgbClr val="242424"/>
                </a:solidFill>
                <a:effectLst/>
                <a:latin typeface="+mj-lt"/>
              </a:rPr>
              <a:t>prompt_template</a:t>
            </a:r>
            <a:r>
              <a:rPr lang="en-US" b="0" i="0" dirty="0">
                <a:solidFill>
                  <a:srgbClr val="242424"/>
                </a:solidFill>
                <a:effectLst/>
                <a:latin typeface="+mj-lt"/>
              </a:rPr>
              <a:t> = </a:t>
            </a:r>
            <a:r>
              <a:rPr lang="en-US" b="0" i="0" dirty="0" err="1">
                <a:solidFill>
                  <a:srgbClr val="242424"/>
                </a:solidFill>
                <a:effectLst/>
                <a:latin typeface="+mj-lt"/>
              </a:rPr>
              <a:t>PromptTemplate</a:t>
            </a:r>
            <a:r>
              <a:rPr lang="en-US" b="0" i="0" dirty="0">
                <a:solidFill>
                  <a:srgbClr val="242424"/>
                </a:solidFill>
                <a:effectLst/>
                <a:latin typeface="+mj-lt"/>
              </a:rPr>
              <a:t>(</a:t>
            </a:r>
            <a:br>
              <a:rPr lang="en-US" dirty="0">
                <a:latin typeface="+mj-lt"/>
              </a:rPr>
            </a:br>
            <a:r>
              <a:rPr lang="en-US" b="0" i="0" dirty="0" err="1">
                <a:solidFill>
                  <a:srgbClr val="242424"/>
                </a:solidFill>
                <a:effectLst/>
                <a:latin typeface="+mj-lt"/>
              </a:rPr>
              <a:t>input_variables</a:t>
            </a:r>
            <a:r>
              <a:rPr lang="en-US" b="0" i="0" dirty="0">
                <a:solidFill>
                  <a:srgbClr val="242424"/>
                </a:solidFill>
                <a:effectLst/>
                <a:latin typeface="+mj-lt"/>
              </a:rPr>
              <a:t>=[</a:t>
            </a:r>
            <a:r>
              <a:rPr lang="en-US" b="0" i="0" dirty="0">
                <a:solidFill>
                  <a:srgbClr val="C41A16"/>
                </a:solidFill>
                <a:effectLst/>
                <a:latin typeface="+mj-lt"/>
              </a:rPr>
              <a:t>"product"</a:t>
            </a:r>
            <a:r>
              <a:rPr lang="en-US" b="0" i="0" dirty="0">
                <a:solidFill>
                  <a:srgbClr val="242424"/>
                </a:solidFill>
                <a:effectLst/>
                <a:latin typeface="+mj-lt"/>
              </a:rPr>
              <a:t>, </a:t>
            </a:r>
            <a:r>
              <a:rPr lang="en-US" b="0" i="0" dirty="0">
                <a:solidFill>
                  <a:srgbClr val="C41A16"/>
                </a:solidFill>
                <a:effectLst/>
                <a:latin typeface="+mj-lt"/>
              </a:rPr>
              <a:t>"features"</a:t>
            </a:r>
            <a:r>
              <a:rPr lang="en-US" b="0" i="0" dirty="0">
                <a:solidFill>
                  <a:srgbClr val="242424"/>
                </a:solidFill>
                <a:effectLst/>
                <a:latin typeface="+mj-lt"/>
              </a:rPr>
              <a:t>],</a:t>
            </a:r>
            <a:br>
              <a:rPr lang="en-US" dirty="0">
                <a:latin typeface="+mj-lt"/>
              </a:rPr>
            </a:br>
            <a:r>
              <a:rPr lang="en-US" b="0" i="0" dirty="0">
                <a:solidFill>
                  <a:srgbClr val="242424"/>
                </a:solidFill>
                <a:effectLst/>
                <a:latin typeface="+mj-lt"/>
              </a:rPr>
              <a:t>template=</a:t>
            </a:r>
            <a:r>
              <a:rPr lang="en-US" b="0" i="0" dirty="0">
                <a:solidFill>
                  <a:srgbClr val="C41A16"/>
                </a:solidFill>
                <a:effectLst/>
                <a:latin typeface="+mj-lt"/>
              </a:rPr>
              <a:t>"Generate a concise product summary for {product} highlighting: {features}."</a:t>
            </a:r>
            <a:br>
              <a:rPr lang="en-US" dirty="0">
                <a:latin typeface="+mj-lt"/>
              </a:rPr>
            </a:br>
            <a:r>
              <a:rPr lang="en-US" b="0" i="0" dirty="0">
                <a:solidFill>
                  <a:srgbClr val="242424"/>
                </a:solidFill>
                <a:effectLst/>
                <a:latin typeface="+mj-lt"/>
              </a:rPr>
              <a:t>)</a:t>
            </a:r>
            <a:br>
              <a:rPr lang="en-US" dirty="0">
                <a:latin typeface="+mj-lt"/>
              </a:rPr>
            </a:br>
            <a:br>
              <a:rPr lang="en-US" dirty="0">
                <a:latin typeface="+mj-lt"/>
              </a:rPr>
            </a:br>
            <a:r>
              <a:rPr lang="en-US" b="0" i="0" dirty="0">
                <a:solidFill>
                  <a:srgbClr val="242424"/>
                </a:solidFill>
                <a:effectLst/>
                <a:latin typeface="+mj-lt"/>
              </a:rPr>
              <a:t>prompt = </a:t>
            </a:r>
            <a:r>
              <a:rPr lang="en-US" b="0" i="0" dirty="0" err="1">
                <a:solidFill>
                  <a:srgbClr val="242424"/>
                </a:solidFill>
                <a:effectLst/>
                <a:latin typeface="+mj-lt"/>
              </a:rPr>
              <a:t>prompt_template.</a:t>
            </a:r>
            <a:r>
              <a:rPr lang="en-US" b="0" i="0" dirty="0" err="1">
                <a:solidFill>
                  <a:srgbClr val="5C2699"/>
                </a:solidFill>
                <a:effectLst/>
                <a:latin typeface="+mj-lt"/>
              </a:rPr>
              <a:t>format</a:t>
            </a:r>
            <a:r>
              <a:rPr lang="en-US" b="0" i="0" dirty="0">
                <a:solidFill>
                  <a:srgbClr val="242424"/>
                </a:solidFill>
                <a:effectLst/>
                <a:latin typeface="+mj-lt"/>
              </a:rPr>
              <a:t>(product=</a:t>
            </a:r>
            <a:r>
              <a:rPr lang="en-US" b="0" i="0" dirty="0">
                <a:solidFill>
                  <a:srgbClr val="C41A16"/>
                </a:solidFill>
                <a:effectLst/>
                <a:latin typeface="+mj-lt"/>
              </a:rPr>
              <a:t>"Auto Insurance"</a:t>
            </a:r>
            <a:r>
              <a:rPr lang="en-US" b="0" i="0" dirty="0">
                <a:solidFill>
                  <a:srgbClr val="242424"/>
                </a:solidFill>
                <a:effectLst/>
                <a:latin typeface="+mj-lt"/>
              </a:rPr>
              <a:t>, features=</a:t>
            </a:r>
            <a:r>
              <a:rPr lang="en-US" b="0" i="0" dirty="0">
                <a:solidFill>
                  <a:srgbClr val="C41A16"/>
                </a:solidFill>
                <a:effectLst/>
                <a:latin typeface="+mj-lt"/>
              </a:rPr>
              <a:t>"accident forgiveness, roadside assistance"</a:t>
            </a:r>
            <a:r>
              <a:rPr lang="en-US" b="0" i="0" dirty="0">
                <a:solidFill>
                  <a:srgbClr val="242424"/>
                </a:solidFill>
                <a:effectLst/>
                <a:latin typeface="+mj-lt"/>
              </a:rPr>
              <a:t>)</a:t>
            </a:r>
            <a:endParaRPr lang="en-US" dirty="0">
              <a:latin typeface="+mj-lt"/>
            </a:endParaRPr>
          </a:p>
        </p:txBody>
      </p:sp>
      <p:cxnSp>
        <p:nvCxnSpPr>
          <p:cNvPr id="10" name="Straight Arrow Connector 9">
            <a:extLst>
              <a:ext uri="{FF2B5EF4-FFF2-40B4-BE49-F238E27FC236}">
                <a16:creationId xmlns:a16="http://schemas.microsoft.com/office/drawing/2014/main" id="{72BD5771-6A41-E038-3E4C-F15D7A070E1F}"/>
              </a:ext>
            </a:extLst>
          </p:cNvPr>
          <p:cNvCxnSpPr/>
          <p:nvPr/>
        </p:nvCxnSpPr>
        <p:spPr>
          <a:xfrm>
            <a:off x="2758966" y="4046715"/>
            <a:ext cx="804041" cy="0"/>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83579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2E5D1C-A1EB-D95A-AB51-9E54995BE3E6}"/>
              </a:ext>
            </a:extLst>
          </p:cNvPr>
          <p:cNvSpPr txBox="1"/>
          <p:nvPr/>
        </p:nvSpPr>
        <p:spPr>
          <a:xfrm>
            <a:off x="630621" y="394139"/>
            <a:ext cx="8509437" cy="2512867"/>
          </a:xfrm>
          <a:prstGeom prst="rect">
            <a:avLst/>
          </a:prstGeom>
          <a:noFill/>
        </p:spPr>
        <p:txBody>
          <a:bodyPr wrap="square">
            <a:spAutoFit/>
          </a:bodyPr>
          <a:lstStyle/>
          <a:p>
            <a:pPr algn="l">
              <a:lnSpc>
                <a:spcPts val="2250"/>
              </a:lnSpc>
              <a:buNone/>
            </a:pPr>
            <a:r>
              <a:rPr lang="en-US" sz="2400" b="1" i="0" dirty="0">
                <a:solidFill>
                  <a:srgbClr val="FB4E0B"/>
                </a:solidFill>
                <a:effectLst/>
                <a:latin typeface="+mj-lt"/>
              </a:rPr>
              <a:t>Mosaic AI Prompt Playground</a:t>
            </a:r>
          </a:p>
          <a:p>
            <a:pPr algn="l">
              <a:lnSpc>
                <a:spcPts val="2250"/>
              </a:lnSpc>
              <a:buNone/>
            </a:pPr>
            <a:endParaRPr lang="en-US" b="1" i="0" dirty="0">
              <a:solidFill>
                <a:srgbClr val="242424"/>
              </a:solidFill>
              <a:effectLst/>
              <a:latin typeface="+mj-lt"/>
            </a:endParaRPr>
          </a:p>
          <a:p>
            <a:pPr algn="l">
              <a:lnSpc>
                <a:spcPts val="2400"/>
              </a:lnSpc>
              <a:buNone/>
            </a:pPr>
            <a:r>
              <a:rPr lang="en-US" b="0" i="0" dirty="0">
                <a:solidFill>
                  <a:srgbClr val="242424"/>
                </a:solidFill>
                <a:effectLst/>
                <a:latin typeface="+mj-lt"/>
              </a:rPr>
              <a:t>Mosaic AI lets you:</a:t>
            </a:r>
          </a:p>
          <a:p>
            <a:pPr algn="l">
              <a:lnSpc>
                <a:spcPts val="2400"/>
              </a:lnSpc>
              <a:buNone/>
            </a:pPr>
            <a:endParaRPr lang="en-US" b="0" i="0" dirty="0">
              <a:solidFill>
                <a:srgbClr val="242424"/>
              </a:solidFill>
              <a:effectLst/>
              <a:latin typeface="+mj-lt"/>
            </a:endParaRPr>
          </a:p>
          <a:p>
            <a:pPr marL="285750" indent="-285750" algn="l">
              <a:lnSpc>
                <a:spcPts val="2400"/>
              </a:lnSpc>
              <a:buFont typeface="Arial" panose="020B0604020202020204" pitchFamily="34" charset="0"/>
              <a:buChar char="•"/>
            </a:pPr>
            <a:r>
              <a:rPr lang="en-US" b="0" i="0" dirty="0">
                <a:solidFill>
                  <a:srgbClr val="242424"/>
                </a:solidFill>
                <a:effectLst/>
                <a:latin typeface="+mj-lt"/>
              </a:rPr>
              <a:t>Experiment with prompts in a UI</a:t>
            </a:r>
          </a:p>
          <a:p>
            <a:pPr marL="285750" indent="-285750" algn="l">
              <a:lnSpc>
                <a:spcPts val="2400"/>
              </a:lnSpc>
              <a:buFont typeface="Arial" panose="020B0604020202020204" pitchFamily="34" charset="0"/>
              <a:buChar char="•"/>
            </a:pPr>
            <a:r>
              <a:rPr lang="en-US" b="0" i="0" dirty="0">
                <a:solidFill>
                  <a:srgbClr val="242424"/>
                </a:solidFill>
                <a:effectLst/>
                <a:latin typeface="+mj-lt"/>
              </a:rPr>
              <a:t>Compare model responses across providers (DBRX, GPT-4, MPT)</a:t>
            </a:r>
          </a:p>
          <a:p>
            <a:pPr marL="285750" indent="-285750" algn="l">
              <a:lnSpc>
                <a:spcPts val="2400"/>
              </a:lnSpc>
              <a:buFont typeface="Arial" panose="020B0604020202020204" pitchFamily="34" charset="0"/>
              <a:buChar char="•"/>
            </a:pPr>
            <a:r>
              <a:rPr lang="en-US" b="0" i="0" dirty="0">
                <a:solidFill>
                  <a:srgbClr val="242424"/>
                </a:solidFill>
                <a:effectLst/>
                <a:latin typeface="+mj-lt"/>
              </a:rPr>
              <a:t>Save and productionize prompts into chains or agents</a:t>
            </a:r>
          </a:p>
          <a:p>
            <a:pPr marL="285750" indent="-285750" algn="l">
              <a:lnSpc>
                <a:spcPts val="2400"/>
              </a:lnSpc>
              <a:buFont typeface="Arial" panose="020B0604020202020204" pitchFamily="34" charset="0"/>
              <a:buChar char="•"/>
            </a:pPr>
            <a:r>
              <a:rPr lang="en-US" b="0" i="0" dirty="0">
                <a:solidFill>
                  <a:srgbClr val="242424"/>
                </a:solidFill>
                <a:effectLst/>
                <a:latin typeface="+mj-lt"/>
              </a:rPr>
              <a:t>Evaluate hallucination, tone, style consistency</a:t>
            </a:r>
          </a:p>
        </p:txBody>
      </p:sp>
      <p:sp>
        <p:nvSpPr>
          <p:cNvPr id="5" name="TextBox 4">
            <a:extLst>
              <a:ext uri="{FF2B5EF4-FFF2-40B4-BE49-F238E27FC236}">
                <a16:creationId xmlns:a16="http://schemas.microsoft.com/office/drawing/2014/main" id="{62934A24-AB5C-7AA1-324E-AAFBD39F48CE}"/>
              </a:ext>
            </a:extLst>
          </p:cNvPr>
          <p:cNvSpPr txBox="1"/>
          <p:nvPr/>
        </p:nvSpPr>
        <p:spPr>
          <a:xfrm>
            <a:off x="630621" y="3114851"/>
            <a:ext cx="6093372" cy="941283"/>
          </a:xfrm>
          <a:prstGeom prst="rect">
            <a:avLst/>
          </a:prstGeom>
          <a:noFill/>
        </p:spPr>
        <p:txBody>
          <a:bodyPr wrap="square">
            <a:spAutoFit/>
          </a:bodyPr>
          <a:lstStyle/>
          <a:p>
            <a:pPr>
              <a:lnSpc>
                <a:spcPts val="2250"/>
              </a:lnSpc>
              <a:buNone/>
            </a:pPr>
            <a:r>
              <a:rPr lang="en-US" sz="2400" b="1" dirty="0">
                <a:solidFill>
                  <a:srgbClr val="FB4E0B"/>
                </a:solidFill>
                <a:latin typeface="+mj-lt"/>
              </a:rPr>
              <a:t>Techniques to Improve Prompt Performance</a:t>
            </a:r>
          </a:p>
          <a:p>
            <a:pPr>
              <a:buNone/>
            </a:pPr>
            <a:br>
              <a:rPr lang="en-US" dirty="0">
                <a:effectLst/>
              </a:rPr>
            </a:br>
            <a:endParaRPr lang="en-US" dirty="0"/>
          </a:p>
        </p:txBody>
      </p:sp>
      <p:pic>
        <p:nvPicPr>
          <p:cNvPr id="1026" name="Picture 2">
            <a:extLst>
              <a:ext uri="{FF2B5EF4-FFF2-40B4-BE49-F238E27FC236}">
                <a16:creationId xmlns:a16="http://schemas.microsoft.com/office/drawing/2014/main" id="{3E8B68F6-9425-4F15-B316-E98622AA0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621" y="3610304"/>
            <a:ext cx="8345234" cy="3016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660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9F627C-07D8-0548-289C-19F70A3CB843}"/>
              </a:ext>
            </a:extLst>
          </p:cNvPr>
          <p:cNvSpPr txBox="1"/>
          <p:nvPr/>
        </p:nvSpPr>
        <p:spPr>
          <a:xfrm>
            <a:off x="378373" y="309020"/>
            <a:ext cx="10893971" cy="5260223"/>
          </a:xfrm>
          <a:prstGeom prst="rect">
            <a:avLst/>
          </a:prstGeom>
          <a:noFill/>
        </p:spPr>
        <p:txBody>
          <a:bodyPr wrap="square">
            <a:spAutoFit/>
          </a:bodyPr>
          <a:lstStyle/>
          <a:p>
            <a:pPr>
              <a:lnSpc>
                <a:spcPts val="2250"/>
              </a:lnSpc>
            </a:pPr>
            <a:r>
              <a:rPr lang="en-US" sz="2400" b="1" dirty="0">
                <a:solidFill>
                  <a:srgbClr val="FB4E0B"/>
                </a:solidFill>
                <a:latin typeface="+mj-lt"/>
              </a:rPr>
              <a:t>Key Evaluation Metrics:</a:t>
            </a:r>
          </a:p>
          <a:p>
            <a:pPr>
              <a:lnSpc>
                <a:spcPts val="2250"/>
              </a:lnSpc>
            </a:pPr>
            <a:endParaRPr lang="en-US" sz="2400" b="1" dirty="0">
              <a:solidFill>
                <a:srgbClr val="FB4E0B"/>
              </a:solidFill>
              <a:latin typeface="+mj-lt"/>
            </a:endParaRPr>
          </a:p>
          <a:p>
            <a:pPr marL="342900" indent="-342900" algn="l">
              <a:lnSpc>
                <a:spcPts val="2400"/>
              </a:lnSpc>
              <a:buFont typeface="+mj-lt"/>
              <a:buAutoNum type="arabicPeriod"/>
            </a:pPr>
            <a:r>
              <a:rPr lang="en-US" b="1" i="0" dirty="0">
                <a:solidFill>
                  <a:srgbClr val="242424"/>
                </a:solidFill>
                <a:effectLst/>
                <a:latin typeface="+mj-lt"/>
              </a:rPr>
              <a:t>Relevance</a:t>
            </a:r>
            <a:r>
              <a:rPr lang="en-US" b="0" i="0" dirty="0">
                <a:solidFill>
                  <a:srgbClr val="242424"/>
                </a:solidFill>
                <a:effectLst/>
                <a:latin typeface="+mj-lt"/>
              </a:rPr>
              <a:t>: Is the response on-topic?</a:t>
            </a:r>
          </a:p>
          <a:p>
            <a:pPr marL="342900" indent="-342900" algn="l">
              <a:lnSpc>
                <a:spcPts val="2400"/>
              </a:lnSpc>
              <a:buFont typeface="+mj-lt"/>
              <a:buAutoNum type="arabicPeriod"/>
            </a:pPr>
            <a:r>
              <a:rPr lang="en-US" b="1" i="0" dirty="0">
                <a:solidFill>
                  <a:srgbClr val="242424"/>
                </a:solidFill>
                <a:effectLst/>
                <a:latin typeface="+mj-lt"/>
              </a:rPr>
              <a:t>Factuality</a:t>
            </a:r>
            <a:r>
              <a:rPr lang="en-US" b="0" i="0" dirty="0">
                <a:solidFill>
                  <a:srgbClr val="242424"/>
                </a:solidFill>
                <a:effectLst/>
                <a:latin typeface="+mj-lt"/>
              </a:rPr>
              <a:t>: Are the facts accurate?</a:t>
            </a:r>
          </a:p>
          <a:p>
            <a:pPr marL="342900" indent="-342900" algn="l">
              <a:lnSpc>
                <a:spcPts val="2400"/>
              </a:lnSpc>
              <a:buFont typeface="+mj-lt"/>
              <a:buAutoNum type="arabicPeriod"/>
            </a:pPr>
            <a:r>
              <a:rPr lang="en-US" b="1" i="0" dirty="0">
                <a:solidFill>
                  <a:srgbClr val="242424"/>
                </a:solidFill>
                <a:effectLst/>
                <a:latin typeface="+mj-lt"/>
              </a:rPr>
              <a:t>Completeness</a:t>
            </a:r>
            <a:r>
              <a:rPr lang="en-US" b="0" i="0" dirty="0">
                <a:solidFill>
                  <a:srgbClr val="242424"/>
                </a:solidFill>
                <a:effectLst/>
                <a:latin typeface="+mj-lt"/>
              </a:rPr>
              <a:t>: Are all user queries addressed?</a:t>
            </a:r>
          </a:p>
          <a:p>
            <a:pPr marL="342900" indent="-342900" algn="l">
              <a:lnSpc>
                <a:spcPts val="2400"/>
              </a:lnSpc>
              <a:buFont typeface="+mj-lt"/>
              <a:buAutoNum type="arabicPeriod"/>
            </a:pPr>
            <a:r>
              <a:rPr lang="en-US" b="1" i="0" dirty="0">
                <a:solidFill>
                  <a:srgbClr val="242424"/>
                </a:solidFill>
                <a:effectLst/>
                <a:latin typeface="+mj-lt"/>
              </a:rPr>
              <a:t>Style</a:t>
            </a:r>
            <a:r>
              <a:rPr lang="en-US" b="0" i="0" dirty="0">
                <a:solidFill>
                  <a:srgbClr val="242424"/>
                </a:solidFill>
                <a:effectLst/>
                <a:latin typeface="+mj-lt"/>
              </a:rPr>
              <a:t>: Does it match tone and format expectations?</a:t>
            </a:r>
          </a:p>
          <a:p>
            <a:pPr marL="342900" indent="-342900" algn="l">
              <a:lnSpc>
                <a:spcPts val="2400"/>
              </a:lnSpc>
              <a:buFont typeface="+mj-lt"/>
              <a:buAutoNum type="arabicPeriod"/>
            </a:pPr>
            <a:endParaRPr lang="en-US" b="0" i="0" dirty="0">
              <a:solidFill>
                <a:srgbClr val="242424"/>
              </a:solidFill>
              <a:effectLst/>
              <a:latin typeface="+mj-lt"/>
            </a:endParaRPr>
          </a:p>
          <a:p>
            <a:pPr algn="l">
              <a:lnSpc>
                <a:spcPts val="2250"/>
              </a:lnSpc>
              <a:buNone/>
            </a:pPr>
            <a:r>
              <a:rPr lang="en-US" b="1" i="0" dirty="0">
                <a:solidFill>
                  <a:srgbClr val="242424"/>
                </a:solidFill>
                <a:effectLst/>
                <a:latin typeface="+mj-lt"/>
              </a:rPr>
              <a:t>Sample Business Scenario:</a:t>
            </a:r>
          </a:p>
          <a:p>
            <a:pPr algn="l">
              <a:lnSpc>
                <a:spcPts val="2400"/>
              </a:lnSpc>
              <a:buNone/>
            </a:pPr>
            <a:r>
              <a:rPr lang="en-US" b="0" i="0" dirty="0">
                <a:solidFill>
                  <a:srgbClr val="242424"/>
                </a:solidFill>
                <a:effectLst/>
                <a:latin typeface="+mj-lt"/>
              </a:rPr>
              <a:t>You want to create a Gen AI assistant that answers customer queries about health insurance.</a:t>
            </a:r>
          </a:p>
          <a:p>
            <a:pPr algn="l">
              <a:lnSpc>
                <a:spcPts val="2400"/>
              </a:lnSpc>
              <a:buNone/>
            </a:pPr>
            <a:r>
              <a:rPr lang="en-US" b="0" i="0" dirty="0">
                <a:solidFill>
                  <a:srgbClr val="242424"/>
                </a:solidFill>
                <a:effectLst/>
                <a:latin typeface="+mj-lt"/>
              </a:rPr>
              <a:t>Bad Prompt:</a:t>
            </a:r>
          </a:p>
          <a:p>
            <a:pPr algn="l">
              <a:lnSpc>
                <a:spcPts val="2400"/>
              </a:lnSpc>
              <a:buNone/>
            </a:pPr>
            <a:r>
              <a:rPr lang="en-US" b="0" i="0" dirty="0">
                <a:solidFill>
                  <a:srgbClr val="242424"/>
                </a:solidFill>
                <a:effectLst/>
                <a:latin typeface="+mj-lt"/>
              </a:rPr>
              <a:t>“Explain health insurance.”</a:t>
            </a:r>
            <a:endParaRPr lang="en-US" b="0" i="1" dirty="0">
              <a:solidFill>
                <a:srgbClr val="242424"/>
              </a:solidFill>
              <a:effectLst/>
              <a:latin typeface="+mj-lt"/>
            </a:endParaRPr>
          </a:p>
          <a:p>
            <a:pPr algn="l">
              <a:lnSpc>
                <a:spcPts val="2400"/>
              </a:lnSpc>
              <a:buNone/>
            </a:pPr>
            <a:r>
              <a:rPr lang="en-US" b="0" i="0" dirty="0">
                <a:solidFill>
                  <a:srgbClr val="242424"/>
                </a:solidFill>
                <a:effectLst/>
                <a:latin typeface="+mj-lt"/>
              </a:rPr>
              <a:t>Good Prompt:</a:t>
            </a:r>
          </a:p>
          <a:p>
            <a:pPr algn="l">
              <a:lnSpc>
                <a:spcPts val="2400"/>
              </a:lnSpc>
              <a:buNone/>
            </a:pPr>
            <a:r>
              <a:rPr lang="en-US" b="0" i="0" dirty="0">
                <a:solidFill>
                  <a:srgbClr val="242424"/>
                </a:solidFill>
                <a:effectLst/>
                <a:latin typeface="+mj-lt"/>
              </a:rPr>
              <a:t>“You are an expert health insurance agent. A customer has asked: ‘What is the difference between co-pay and deductible?’ Provide a concise answer using customer-friendly language and examples.”</a:t>
            </a:r>
          </a:p>
          <a:p>
            <a:pPr algn="l">
              <a:lnSpc>
                <a:spcPts val="2400"/>
              </a:lnSpc>
              <a:buNone/>
            </a:pPr>
            <a:endParaRPr lang="en-US" b="0" i="1" dirty="0">
              <a:solidFill>
                <a:srgbClr val="242424"/>
              </a:solidFill>
              <a:effectLst/>
              <a:latin typeface="+mj-lt"/>
            </a:endParaRPr>
          </a:p>
          <a:p>
            <a:pPr algn="l">
              <a:lnSpc>
                <a:spcPts val="2250"/>
              </a:lnSpc>
              <a:buNone/>
            </a:pPr>
            <a:r>
              <a:rPr lang="en-US" b="1" i="0" dirty="0">
                <a:solidFill>
                  <a:srgbClr val="242424"/>
                </a:solidFill>
                <a:effectLst/>
                <a:latin typeface="+mj-lt"/>
              </a:rPr>
              <a:t>Real-World Example: Customer Support Assistant</a:t>
            </a:r>
          </a:p>
          <a:p>
            <a:pPr algn="l">
              <a:lnSpc>
                <a:spcPts val="2400"/>
              </a:lnSpc>
              <a:buNone/>
            </a:pPr>
            <a:r>
              <a:rPr lang="en-US" b="0" i="0" dirty="0">
                <a:solidFill>
                  <a:srgbClr val="242424"/>
                </a:solidFill>
                <a:effectLst/>
                <a:latin typeface="+mj-lt"/>
              </a:rPr>
              <a:t>Goal: Build a prompt for a RAG-powered assistant to explain insurance clauses to a customer.</a:t>
            </a:r>
          </a:p>
        </p:txBody>
      </p:sp>
    </p:spTree>
    <p:extLst>
      <p:ext uri="{BB962C8B-B14F-4D97-AF65-F5344CB8AC3E}">
        <p14:creationId xmlns:p14="http://schemas.microsoft.com/office/powerpoint/2010/main" val="2753090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6E784-3C72-D1E6-B73E-0C8B2474E3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97F142-C08F-A709-B905-C9E5A9B68027}"/>
              </a:ext>
            </a:extLst>
          </p:cNvPr>
          <p:cNvSpPr txBox="1"/>
          <p:nvPr/>
        </p:nvSpPr>
        <p:spPr>
          <a:xfrm>
            <a:off x="315311" y="498207"/>
            <a:ext cx="10231819" cy="682046"/>
          </a:xfrm>
          <a:prstGeom prst="rect">
            <a:avLst/>
          </a:prstGeom>
          <a:noFill/>
        </p:spPr>
        <p:txBody>
          <a:bodyPr wrap="square">
            <a:spAutoFit/>
          </a:bodyPr>
          <a:lstStyle/>
          <a:p>
            <a:pPr algn="l">
              <a:lnSpc>
                <a:spcPts val="2250"/>
              </a:lnSpc>
              <a:buNone/>
            </a:pPr>
            <a:r>
              <a:rPr lang="en-US" sz="2400" b="1" dirty="0">
                <a:solidFill>
                  <a:srgbClr val="FB4E0B"/>
                </a:solidFill>
                <a:latin typeface="+mj-lt"/>
              </a:rPr>
              <a:t>Real-World Example: Customer Support Assistant</a:t>
            </a:r>
          </a:p>
          <a:p>
            <a:pPr algn="l">
              <a:lnSpc>
                <a:spcPts val="2400"/>
              </a:lnSpc>
              <a:buNone/>
            </a:pPr>
            <a:r>
              <a:rPr lang="en-US" b="0" i="0" dirty="0">
                <a:solidFill>
                  <a:srgbClr val="242424"/>
                </a:solidFill>
                <a:effectLst/>
                <a:latin typeface="+mj-lt"/>
              </a:rPr>
              <a:t>Goal: Build a prompt for a RAG-powered assistant to explain insurance clauses to a customer.</a:t>
            </a:r>
          </a:p>
        </p:txBody>
      </p:sp>
      <p:sp>
        <p:nvSpPr>
          <p:cNvPr id="5" name="TextBox 4">
            <a:extLst>
              <a:ext uri="{FF2B5EF4-FFF2-40B4-BE49-F238E27FC236}">
                <a16:creationId xmlns:a16="http://schemas.microsoft.com/office/drawing/2014/main" id="{48AE7C7E-8F60-769C-9E29-918C259DC85F}"/>
              </a:ext>
            </a:extLst>
          </p:cNvPr>
          <p:cNvSpPr txBox="1"/>
          <p:nvPr/>
        </p:nvSpPr>
        <p:spPr>
          <a:xfrm>
            <a:off x="488732" y="1859339"/>
            <a:ext cx="10610192" cy="2862322"/>
          </a:xfrm>
          <a:prstGeom prst="rect">
            <a:avLst/>
          </a:prstGeom>
          <a:noFill/>
        </p:spPr>
        <p:txBody>
          <a:bodyPr wrap="square">
            <a:spAutoFit/>
          </a:bodyPr>
          <a:lstStyle/>
          <a:p>
            <a:r>
              <a:rPr lang="en-US" b="0" i="0" dirty="0">
                <a:solidFill>
                  <a:srgbClr val="836C28"/>
                </a:solidFill>
                <a:effectLst/>
                <a:latin typeface="source-code-pro"/>
              </a:rPr>
              <a:t>prompt</a:t>
            </a:r>
            <a:r>
              <a:rPr lang="en-US" b="0" i="0" dirty="0">
                <a:solidFill>
                  <a:srgbClr val="242424"/>
                </a:solidFill>
                <a:effectLst/>
                <a:latin typeface="source-code-pro"/>
              </a:rPr>
              <a:t> = f</a:t>
            </a:r>
            <a:r>
              <a:rPr lang="en-US" b="0" i="0" dirty="0">
                <a:solidFill>
                  <a:srgbClr val="C41A16"/>
                </a:solidFill>
                <a:effectLst/>
                <a:latin typeface="source-code-pro"/>
              </a:rPr>
              <a:t>"""</a:t>
            </a:r>
            <a:br>
              <a:rPr lang="en-US" b="0" i="0" dirty="0">
                <a:solidFill>
                  <a:srgbClr val="C41A16"/>
                </a:solidFill>
                <a:effectLst/>
                <a:latin typeface="source-code-pro"/>
              </a:rPr>
            </a:br>
            <a:r>
              <a:rPr lang="en-US" b="0" i="0" dirty="0">
                <a:solidFill>
                  <a:srgbClr val="C41A16"/>
                </a:solidFill>
                <a:effectLst/>
                <a:latin typeface="source-code-pro"/>
              </a:rPr>
              <a:t>You are a support assistant for a health insurance company. </a:t>
            </a:r>
            <a:br>
              <a:rPr lang="en-US" b="0" i="0" dirty="0">
                <a:solidFill>
                  <a:srgbClr val="C41A16"/>
                </a:solidFill>
                <a:effectLst/>
                <a:latin typeface="source-code-pro"/>
              </a:rPr>
            </a:br>
            <a:r>
              <a:rPr lang="en-US" b="0" i="0" dirty="0">
                <a:solidFill>
                  <a:srgbClr val="C41A16"/>
                </a:solidFill>
                <a:effectLst/>
                <a:latin typeface="source-code-pro"/>
              </a:rPr>
              <a:t>Use the context below to answer the user's question in a friendly, accurate manner.</a:t>
            </a:r>
            <a:br>
              <a:rPr lang="en-US" b="0" i="0" dirty="0">
                <a:solidFill>
                  <a:srgbClr val="C41A16"/>
                </a:solidFill>
                <a:effectLst/>
                <a:latin typeface="source-code-pro"/>
              </a:rPr>
            </a:br>
            <a:br>
              <a:rPr lang="en-US" b="0" i="0" dirty="0">
                <a:solidFill>
                  <a:srgbClr val="C41A16"/>
                </a:solidFill>
                <a:effectLst/>
                <a:latin typeface="source-code-pro"/>
              </a:rPr>
            </a:br>
            <a:r>
              <a:rPr lang="en-US" b="0" i="0" dirty="0">
                <a:solidFill>
                  <a:srgbClr val="C41A16"/>
                </a:solidFill>
                <a:effectLst/>
                <a:latin typeface="source-code-pro"/>
              </a:rPr>
              <a:t>Context: {</a:t>
            </a:r>
            <a:r>
              <a:rPr lang="en-US" b="0" i="0" dirty="0" err="1">
                <a:solidFill>
                  <a:srgbClr val="C41A16"/>
                </a:solidFill>
                <a:effectLst/>
                <a:latin typeface="source-code-pro"/>
              </a:rPr>
              <a:t>retrieved_doc_chunks</a:t>
            </a:r>
            <a:r>
              <a:rPr lang="en-US" b="0" i="0" dirty="0">
                <a:solidFill>
                  <a:srgbClr val="C41A16"/>
                </a:solidFill>
                <a:effectLst/>
                <a:latin typeface="source-code-pro"/>
              </a:rPr>
              <a:t>}</a:t>
            </a:r>
            <a:br>
              <a:rPr lang="en-US" b="0" i="0" dirty="0">
                <a:solidFill>
                  <a:srgbClr val="C41A16"/>
                </a:solidFill>
                <a:effectLst/>
                <a:latin typeface="source-code-pro"/>
              </a:rPr>
            </a:br>
            <a:br>
              <a:rPr lang="en-US" b="0" i="0" dirty="0">
                <a:solidFill>
                  <a:srgbClr val="C41A16"/>
                </a:solidFill>
                <a:effectLst/>
                <a:latin typeface="source-code-pro"/>
              </a:rPr>
            </a:br>
            <a:r>
              <a:rPr lang="en-US" b="0" i="0" dirty="0">
                <a:solidFill>
                  <a:srgbClr val="C41A16"/>
                </a:solidFill>
                <a:effectLst/>
                <a:latin typeface="source-code-pro"/>
              </a:rPr>
              <a:t>Question: {</a:t>
            </a:r>
            <a:r>
              <a:rPr lang="en-US" b="0" i="0" dirty="0" err="1">
                <a:solidFill>
                  <a:srgbClr val="C41A16"/>
                </a:solidFill>
                <a:effectLst/>
                <a:latin typeface="source-code-pro"/>
              </a:rPr>
              <a:t>user_question</a:t>
            </a:r>
            <a:r>
              <a:rPr lang="en-US" b="0" i="0" dirty="0">
                <a:solidFill>
                  <a:srgbClr val="C41A16"/>
                </a:solidFill>
                <a:effectLst/>
                <a:latin typeface="source-code-pro"/>
              </a:rPr>
              <a:t>}</a:t>
            </a:r>
            <a:br>
              <a:rPr lang="en-US" b="0" i="0" dirty="0">
                <a:solidFill>
                  <a:srgbClr val="C41A16"/>
                </a:solidFill>
                <a:effectLst/>
                <a:latin typeface="source-code-pro"/>
              </a:rPr>
            </a:br>
            <a:br>
              <a:rPr lang="en-US" b="0" i="0" dirty="0">
                <a:solidFill>
                  <a:srgbClr val="C41A16"/>
                </a:solidFill>
                <a:effectLst/>
                <a:latin typeface="source-code-pro"/>
              </a:rPr>
            </a:br>
            <a:r>
              <a:rPr lang="en-US" b="0" i="0" dirty="0">
                <a:solidFill>
                  <a:srgbClr val="C41A16"/>
                </a:solidFill>
                <a:effectLst/>
                <a:latin typeface="source-code-pro"/>
              </a:rPr>
              <a:t>Answer:</a:t>
            </a:r>
            <a:br>
              <a:rPr lang="en-US" b="0" i="0" dirty="0">
                <a:solidFill>
                  <a:srgbClr val="C41A16"/>
                </a:solidFill>
                <a:effectLst/>
                <a:latin typeface="source-code-pro"/>
              </a:rPr>
            </a:br>
            <a:r>
              <a:rPr lang="en-US" b="0" i="0" dirty="0">
                <a:solidFill>
                  <a:srgbClr val="C41A16"/>
                </a:solidFill>
                <a:effectLst/>
                <a:latin typeface="source-code-pro"/>
              </a:rPr>
              <a:t>"""</a:t>
            </a:r>
            <a:endParaRPr lang="en-US" dirty="0"/>
          </a:p>
        </p:txBody>
      </p:sp>
    </p:spTree>
    <p:extLst>
      <p:ext uri="{BB962C8B-B14F-4D97-AF65-F5344CB8AC3E}">
        <p14:creationId xmlns:p14="http://schemas.microsoft.com/office/powerpoint/2010/main" val="1293837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7BD868-1273-B70C-4CDA-ED7404C26B4F}"/>
              </a:ext>
            </a:extLst>
          </p:cNvPr>
          <p:cNvSpPr txBox="1"/>
          <p:nvPr/>
        </p:nvSpPr>
        <p:spPr>
          <a:xfrm>
            <a:off x="382313" y="369584"/>
            <a:ext cx="10763908" cy="989823"/>
          </a:xfrm>
          <a:prstGeom prst="rect">
            <a:avLst/>
          </a:prstGeom>
          <a:noFill/>
        </p:spPr>
        <p:txBody>
          <a:bodyPr wrap="square">
            <a:spAutoFit/>
          </a:bodyPr>
          <a:lstStyle/>
          <a:p>
            <a:pPr algn="l">
              <a:lnSpc>
                <a:spcPts val="2250"/>
              </a:lnSpc>
              <a:buNone/>
            </a:pPr>
            <a:r>
              <a:rPr lang="en-US" sz="2400" b="1" i="0" dirty="0">
                <a:solidFill>
                  <a:srgbClr val="FB4E0B"/>
                </a:solidFill>
                <a:effectLst/>
                <a:latin typeface="+mj-lt"/>
              </a:rPr>
              <a:t>Governance of Prompts in Enterprise Settings</a:t>
            </a:r>
          </a:p>
          <a:p>
            <a:pPr algn="l">
              <a:lnSpc>
                <a:spcPts val="2400"/>
              </a:lnSpc>
              <a:buNone/>
            </a:pPr>
            <a:r>
              <a:rPr lang="en-US" b="0" i="0" dirty="0">
                <a:solidFill>
                  <a:srgbClr val="242424"/>
                </a:solidFill>
                <a:effectLst/>
                <a:latin typeface="+mj-lt"/>
              </a:rPr>
              <a:t>In production environments, prompt engineering isn’t just about writing better prompts — it’s about </a:t>
            </a:r>
            <a:r>
              <a:rPr lang="en-US" b="1" i="0" dirty="0">
                <a:solidFill>
                  <a:srgbClr val="242424"/>
                </a:solidFill>
                <a:effectLst/>
                <a:latin typeface="+mj-lt"/>
              </a:rPr>
              <a:t>managing them at scale</a:t>
            </a:r>
            <a:r>
              <a:rPr lang="en-US" b="0" i="0" dirty="0">
                <a:solidFill>
                  <a:srgbClr val="242424"/>
                </a:solidFill>
                <a:effectLst/>
                <a:latin typeface="+mj-lt"/>
              </a:rPr>
              <a:t> with consistency, traceability, and accountability.</a:t>
            </a:r>
          </a:p>
        </p:txBody>
      </p:sp>
      <p:sp>
        <p:nvSpPr>
          <p:cNvPr id="5" name="TextBox 4">
            <a:extLst>
              <a:ext uri="{FF2B5EF4-FFF2-40B4-BE49-F238E27FC236}">
                <a16:creationId xmlns:a16="http://schemas.microsoft.com/office/drawing/2014/main" id="{6F2802A1-D6C0-408F-F141-13CC07088156}"/>
              </a:ext>
            </a:extLst>
          </p:cNvPr>
          <p:cNvSpPr txBox="1"/>
          <p:nvPr/>
        </p:nvSpPr>
        <p:spPr>
          <a:xfrm>
            <a:off x="382313" y="1917467"/>
            <a:ext cx="6093372" cy="374461"/>
          </a:xfrm>
          <a:prstGeom prst="rect">
            <a:avLst/>
          </a:prstGeom>
          <a:noFill/>
        </p:spPr>
        <p:txBody>
          <a:bodyPr wrap="square">
            <a:spAutoFit/>
          </a:bodyPr>
          <a:lstStyle/>
          <a:p>
            <a:pPr algn="l">
              <a:lnSpc>
                <a:spcPts val="2250"/>
              </a:lnSpc>
              <a:buNone/>
            </a:pPr>
            <a:r>
              <a:rPr lang="en-US" b="1" i="0" dirty="0">
                <a:solidFill>
                  <a:srgbClr val="242424"/>
                </a:solidFill>
                <a:effectLst/>
                <a:latin typeface="+mj-lt"/>
              </a:rPr>
              <a:t>Key Governance Practices:</a:t>
            </a:r>
          </a:p>
        </p:txBody>
      </p:sp>
      <p:pic>
        <p:nvPicPr>
          <p:cNvPr id="3074" name="Picture 2">
            <a:extLst>
              <a:ext uri="{FF2B5EF4-FFF2-40B4-BE49-F238E27FC236}">
                <a16:creationId xmlns:a16="http://schemas.microsoft.com/office/drawing/2014/main" id="{F6D6837F-7064-6FFA-A34C-DDD2D57F9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313" y="2475526"/>
            <a:ext cx="9013935" cy="3734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249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799058-9C4F-3AEB-28B0-16FD3164C4E4}"/>
              </a:ext>
            </a:extLst>
          </p:cNvPr>
          <p:cNvSpPr txBox="1"/>
          <p:nvPr/>
        </p:nvSpPr>
        <p:spPr>
          <a:xfrm>
            <a:off x="571499" y="461658"/>
            <a:ext cx="11268403" cy="4667303"/>
          </a:xfrm>
          <a:prstGeom prst="rect">
            <a:avLst/>
          </a:prstGeom>
          <a:noFill/>
        </p:spPr>
        <p:txBody>
          <a:bodyPr wrap="square">
            <a:spAutoFit/>
          </a:bodyPr>
          <a:lstStyle/>
          <a:p>
            <a:pPr algn="l">
              <a:lnSpc>
                <a:spcPts val="2250"/>
              </a:lnSpc>
              <a:buNone/>
            </a:pPr>
            <a:r>
              <a:rPr lang="en-US" sz="2400" b="1" dirty="0">
                <a:solidFill>
                  <a:srgbClr val="FB4E0B"/>
                </a:solidFill>
                <a:latin typeface="+mj-lt"/>
              </a:rPr>
              <a:t>Prompt Repository (A Must-Have)</a:t>
            </a:r>
          </a:p>
          <a:p>
            <a:pPr algn="l">
              <a:lnSpc>
                <a:spcPts val="2400"/>
              </a:lnSpc>
              <a:buNone/>
            </a:pPr>
            <a:r>
              <a:rPr lang="en-US" b="0" i="0" dirty="0">
                <a:solidFill>
                  <a:srgbClr val="242424"/>
                </a:solidFill>
                <a:effectLst/>
                <a:latin typeface="source-serif-pro"/>
              </a:rPr>
              <a:t>A </a:t>
            </a:r>
            <a:r>
              <a:rPr lang="en-US" b="1" i="0" dirty="0">
                <a:solidFill>
                  <a:srgbClr val="242424"/>
                </a:solidFill>
                <a:effectLst/>
                <a:latin typeface="source-serif-pro"/>
              </a:rPr>
              <a:t>Prompt Repository</a:t>
            </a:r>
            <a:r>
              <a:rPr lang="en-US" b="0" i="0" dirty="0">
                <a:solidFill>
                  <a:srgbClr val="242424"/>
                </a:solidFill>
                <a:effectLst/>
                <a:latin typeface="source-serif-pro"/>
              </a:rPr>
              <a:t> is a central location — often a Git-backed folder structure or a managed catalog — where all prompt templates are stored, versioned, and governed.</a:t>
            </a:r>
          </a:p>
          <a:p>
            <a:pPr algn="l">
              <a:lnSpc>
                <a:spcPts val="2400"/>
              </a:lnSpc>
              <a:buNone/>
            </a:pPr>
            <a:endParaRPr lang="en-US" b="0" i="0" dirty="0">
              <a:solidFill>
                <a:srgbClr val="242424"/>
              </a:solidFill>
              <a:effectLst/>
              <a:latin typeface="source-serif-pro"/>
            </a:endParaRPr>
          </a:p>
          <a:p>
            <a:pPr algn="l">
              <a:lnSpc>
                <a:spcPts val="2250"/>
              </a:lnSpc>
              <a:buNone/>
            </a:pPr>
            <a:r>
              <a:rPr lang="en-US" b="1" i="0" dirty="0">
                <a:solidFill>
                  <a:srgbClr val="242424"/>
                </a:solidFill>
                <a:effectLst/>
                <a:latin typeface="sohne"/>
              </a:rPr>
              <a:t>Benefits of a Prompt Repository:</a:t>
            </a: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Centralized prompt governance</a:t>
            </a: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Role-based access for sensitive prompts</a:t>
            </a: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Easier experimentation through branches or forks</a:t>
            </a: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Collaboration between engineering, product, and compliance teams</a:t>
            </a:r>
          </a:p>
          <a:p>
            <a:pPr algn="l">
              <a:lnSpc>
                <a:spcPts val="2400"/>
              </a:lnSpc>
              <a:buFont typeface="Arial" panose="020B0604020202020204" pitchFamily="34" charset="0"/>
              <a:buChar char="•"/>
            </a:pPr>
            <a:endParaRPr lang="en-US" dirty="0">
              <a:solidFill>
                <a:srgbClr val="242424"/>
              </a:solidFill>
              <a:latin typeface="source-serif-pro"/>
            </a:endParaRPr>
          </a:p>
          <a:p>
            <a:pPr>
              <a:lnSpc>
                <a:spcPts val="2400"/>
              </a:lnSpc>
            </a:pPr>
            <a:r>
              <a:rPr lang="en-US" dirty="0">
                <a:solidFill>
                  <a:srgbClr val="242424"/>
                </a:solidFill>
                <a:latin typeface="source-serif-pro"/>
              </a:rPr>
              <a:t>In Databricks, you can integrate this with:</a:t>
            </a:r>
          </a:p>
          <a:p>
            <a:pPr marL="285750" indent="-285750">
              <a:lnSpc>
                <a:spcPts val="2400"/>
              </a:lnSpc>
              <a:buFont typeface="Arial" panose="020B0604020202020204" pitchFamily="34" charset="0"/>
              <a:buChar char="•"/>
            </a:pPr>
            <a:r>
              <a:rPr lang="en-US" b="1" dirty="0" err="1">
                <a:solidFill>
                  <a:srgbClr val="242424"/>
                </a:solidFill>
                <a:latin typeface="source-serif-pro"/>
              </a:rPr>
              <a:t>MLflow</a:t>
            </a:r>
            <a:r>
              <a:rPr lang="en-US" dirty="0">
                <a:solidFill>
                  <a:srgbClr val="242424"/>
                </a:solidFill>
                <a:latin typeface="source-serif-pro"/>
              </a:rPr>
              <a:t> to track usage per model version</a:t>
            </a:r>
          </a:p>
          <a:p>
            <a:pPr marL="285750" indent="-285750">
              <a:lnSpc>
                <a:spcPts val="2400"/>
              </a:lnSpc>
              <a:buFont typeface="Arial" panose="020B0604020202020204" pitchFamily="34" charset="0"/>
              <a:buChar char="•"/>
            </a:pPr>
            <a:r>
              <a:rPr lang="en-US" b="1" dirty="0">
                <a:solidFill>
                  <a:srgbClr val="242424"/>
                </a:solidFill>
                <a:latin typeface="source-serif-pro"/>
              </a:rPr>
              <a:t>LangChain</a:t>
            </a:r>
            <a:r>
              <a:rPr lang="en-US" dirty="0">
                <a:solidFill>
                  <a:srgbClr val="242424"/>
                </a:solidFill>
                <a:latin typeface="source-serif-pro"/>
              </a:rPr>
              <a:t> to load templates dynamically</a:t>
            </a:r>
          </a:p>
          <a:p>
            <a:pPr marL="285750" indent="-285750">
              <a:lnSpc>
                <a:spcPts val="2400"/>
              </a:lnSpc>
              <a:buFont typeface="Arial" panose="020B0604020202020204" pitchFamily="34" charset="0"/>
              <a:buChar char="•"/>
            </a:pPr>
            <a:r>
              <a:rPr lang="en-US" b="1" dirty="0">
                <a:solidFill>
                  <a:srgbClr val="242424"/>
                </a:solidFill>
                <a:latin typeface="source-serif-pro"/>
              </a:rPr>
              <a:t>Databricks Unity Catalog</a:t>
            </a:r>
            <a:r>
              <a:rPr lang="en-US" dirty="0">
                <a:solidFill>
                  <a:srgbClr val="242424"/>
                </a:solidFill>
                <a:latin typeface="source-serif-pro"/>
              </a:rPr>
              <a:t> for access controls</a:t>
            </a:r>
          </a:p>
          <a:p>
            <a:pPr algn="l">
              <a:lnSpc>
                <a:spcPts val="2400"/>
              </a:lnSpc>
            </a:pPr>
            <a:endParaRPr lang="en-US" b="0" i="0" dirty="0">
              <a:solidFill>
                <a:srgbClr val="242424"/>
              </a:solidFill>
              <a:effectLst/>
              <a:latin typeface="source-serif-pro"/>
            </a:endParaRPr>
          </a:p>
        </p:txBody>
      </p:sp>
    </p:spTree>
    <p:extLst>
      <p:ext uri="{BB962C8B-B14F-4D97-AF65-F5344CB8AC3E}">
        <p14:creationId xmlns:p14="http://schemas.microsoft.com/office/powerpoint/2010/main" val="2599468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B629429-C2F0-FE85-D7E4-AAFEB5C332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1241" y="1027262"/>
            <a:ext cx="9270688" cy="50194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12B289-9310-B80D-68AA-89401079388E}"/>
              </a:ext>
            </a:extLst>
          </p:cNvPr>
          <p:cNvSpPr txBox="1"/>
          <p:nvPr/>
        </p:nvSpPr>
        <p:spPr>
          <a:xfrm>
            <a:off x="810658" y="433847"/>
            <a:ext cx="6098720" cy="398764"/>
          </a:xfrm>
          <a:prstGeom prst="rect">
            <a:avLst/>
          </a:prstGeom>
          <a:noFill/>
        </p:spPr>
        <p:txBody>
          <a:bodyPr wrap="square">
            <a:spAutoFit/>
          </a:bodyPr>
          <a:lstStyle/>
          <a:p>
            <a:pPr algn="l">
              <a:lnSpc>
                <a:spcPts val="2250"/>
              </a:lnSpc>
              <a:buNone/>
            </a:pPr>
            <a:r>
              <a:rPr lang="en-US" sz="2400" b="1" dirty="0">
                <a:solidFill>
                  <a:srgbClr val="FB4E0B"/>
                </a:solidFill>
                <a:latin typeface="+mj-lt"/>
              </a:rPr>
              <a:t>Summary</a:t>
            </a:r>
          </a:p>
        </p:txBody>
      </p:sp>
    </p:spTree>
    <p:extLst>
      <p:ext uri="{BB962C8B-B14F-4D97-AF65-F5344CB8AC3E}">
        <p14:creationId xmlns:p14="http://schemas.microsoft.com/office/powerpoint/2010/main" val="3076861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4EAD411D-C1B5-C6DE-733E-F94207660C26}"/>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24DB91CA-69C4-1581-518F-9B88326343D1}"/>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7AE7FE83-CA90-C621-9DAE-46B2FCFF88BD}"/>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9536B182-7D58-CD6E-0193-B8CD5C2CDE43}"/>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7B32D923-9953-81A0-60EC-896B1BA65913}"/>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FE9FF6BA-F2A0-2CA3-6EC9-A785E8C93278}"/>
              </a:ext>
            </a:extLst>
          </p:cNvPr>
          <p:cNvSpPr/>
          <p:nvPr/>
        </p:nvSpPr>
        <p:spPr>
          <a:xfrm>
            <a:off x="4909597" y="3105832"/>
            <a:ext cx="6745375" cy="646331"/>
          </a:xfrm>
          <a:prstGeom prst="rect">
            <a:avLst/>
          </a:prstGeom>
        </p:spPr>
        <p:txBody>
          <a:bodyPr wrap="square">
            <a:spAutoFit/>
          </a:bodyPr>
          <a:lstStyle/>
          <a:p>
            <a:pPr lvl="0" defTabSz="457166">
              <a:defRPr/>
            </a:pPr>
            <a:r>
              <a:rPr lang="en-US" sz="3600" dirty="0">
                <a:solidFill>
                  <a:srgbClr val="FFFFFF"/>
                </a:solidFill>
              </a:rPr>
              <a:t>Section 2: Data Preparation</a:t>
            </a:r>
          </a:p>
        </p:txBody>
      </p:sp>
    </p:spTree>
    <p:extLst>
      <p:ext uri="{BB962C8B-B14F-4D97-AF65-F5344CB8AC3E}">
        <p14:creationId xmlns:p14="http://schemas.microsoft.com/office/powerpoint/2010/main" val="2229397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3805F3-7883-5169-CC88-6BBFC2DFEDDB}"/>
              </a:ext>
            </a:extLst>
          </p:cNvPr>
          <p:cNvSpPr txBox="1"/>
          <p:nvPr/>
        </p:nvSpPr>
        <p:spPr>
          <a:xfrm>
            <a:off x="319981" y="78336"/>
            <a:ext cx="8020707" cy="552652"/>
          </a:xfrm>
          <a:prstGeom prst="rect">
            <a:avLst/>
          </a:prstGeom>
          <a:noFill/>
        </p:spPr>
        <p:txBody>
          <a:bodyPr wrap="square">
            <a:spAutoFit/>
          </a:bodyPr>
          <a:lstStyle/>
          <a:p>
            <a:pPr algn="l">
              <a:lnSpc>
                <a:spcPts val="3900"/>
              </a:lnSpc>
              <a:buNone/>
            </a:pPr>
            <a:r>
              <a:rPr lang="en-US" sz="2400" b="1" i="0" dirty="0">
                <a:solidFill>
                  <a:srgbClr val="FB4E0B"/>
                </a:solidFill>
                <a:effectLst/>
                <a:latin typeface="+mj-lt"/>
              </a:rPr>
              <a:t>Understanding Retrieval-Augmented Generation (RAG)</a:t>
            </a:r>
          </a:p>
        </p:txBody>
      </p:sp>
      <p:pic>
        <p:nvPicPr>
          <p:cNvPr id="5122" name="Picture 2">
            <a:extLst>
              <a:ext uri="{FF2B5EF4-FFF2-40B4-BE49-F238E27FC236}">
                <a16:creationId xmlns:a16="http://schemas.microsoft.com/office/drawing/2014/main" id="{CCB2F5E4-FF44-AF2D-4AE9-E56173AF4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981" y="567924"/>
            <a:ext cx="7295237" cy="49711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83C145-3C54-582E-5DB2-24F70351F6D7}"/>
              </a:ext>
            </a:extLst>
          </p:cNvPr>
          <p:cNvSpPr txBox="1"/>
          <p:nvPr/>
        </p:nvSpPr>
        <p:spPr>
          <a:xfrm>
            <a:off x="7615218" y="676443"/>
            <a:ext cx="4504267" cy="5311519"/>
          </a:xfrm>
          <a:prstGeom prst="rect">
            <a:avLst/>
          </a:prstGeom>
          <a:noFill/>
        </p:spPr>
        <p:txBody>
          <a:bodyPr wrap="square">
            <a:spAutoFit/>
          </a:bodyPr>
          <a:lstStyle/>
          <a:p>
            <a:pPr algn="l">
              <a:lnSpc>
                <a:spcPts val="2400"/>
              </a:lnSpc>
              <a:buNone/>
            </a:pPr>
            <a:r>
              <a:rPr lang="en-US" b="0" i="0" dirty="0">
                <a:solidFill>
                  <a:srgbClr val="242424"/>
                </a:solidFill>
                <a:effectLst/>
                <a:latin typeface="Aptos" panose="020B0004020202020204" pitchFamily="34" charset="0"/>
              </a:rPr>
              <a:t>Generative AI models, especially large language models (LLMs) like </a:t>
            </a:r>
            <a:r>
              <a:rPr lang="en-US" b="1" i="0" dirty="0">
                <a:solidFill>
                  <a:srgbClr val="242424"/>
                </a:solidFill>
                <a:effectLst/>
                <a:latin typeface="Aptos" panose="020B0004020202020204" pitchFamily="34" charset="0"/>
              </a:rPr>
              <a:t>DBRX</a:t>
            </a:r>
            <a:r>
              <a:rPr lang="en-US" b="0" i="0" dirty="0">
                <a:solidFill>
                  <a:srgbClr val="242424"/>
                </a:solidFill>
                <a:effectLst/>
                <a:latin typeface="Aptos" panose="020B0004020202020204" pitchFamily="34" charset="0"/>
              </a:rPr>
              <a:t>, </a:t>
            </a:r>
            <a:r>
              <a:rPr lang="en-US" b="1" i="0" dirty="0">
                <a:solidFill>
                  <a:srgbClr val="242424"/>
                </a:solidFill>
                <a:effectLst/>
                <a:latin typeface="Aptos" panose="020B0004020202020204" pitchFamily="34" charset="0"/>
              </a:rPr>
              <a:t>GPT-4</a:t>
            </a:r>
            <a:r>
              <a:rPr lang="en-US" b="0" i="0" dirty="0">
                <a:solidFill>
                  <a:srgbClr val="242424"/>
                </a:solidFill>
                <a:effectLst/>
                <a:latin typeface="Aptos" panose="020B0004020202020204" pitchFamily="34" charset="0"/>
              </a:rPr>
              <a:t>, or </a:t>
            </a:r>
            <a:r>
              <a:rPr lang="en-US" b="1" i="0" dirty="0">
                <a:solidFill>
                  <a:srgbClr val="242424"/>
                </a:solidFill>
                <a:effectLst/>
                <a:latin typeface="Aptos" panose="020B0004020202020204" pitchFamily="34" charset="0"/>
              </a:rPr>
              <a:t>MPT</a:t>
            </a:r>
            <a:r>
              <a:rPr lang="en-US" b="0" i="0" dirty="0">
                <a:solidFill>
                  <a:srgbClr val="242424"/>
                </a:solidFill>
                <a:effectLst/>
                <a:latin typeface="Aptos" panose="020B0004020202020204" pitchFamily="34" charset="0"/>
              </a:rPr>
              <a:t>, are trained on vast amounts of public data. They possess strong language understanding and generation capabilities. However, they are inherently </a:t>
            </a:r>
            <a:r>
              <a:rPr lang="en-US" b="1" i="0" dirty="0">
                <a:solidFill>
                  <a:srgbClr val="242424"/>
                </a:solidFill>
                <a:effectLst/>
                <a:latin typeface="Aptos" panose="020B0004020202020204" pitchFamily="34" charset="0"/>
              </a:rPr>
              <a:t>static and general-purpose</a:t>
            </a:r>
            <a:r>
              <a:rPr lang="en-US" b="0" i="0" dirty="0">
                <a:solidFill>
                  <a:srgbClr val="242424"/>
                </a:solidFill>
                <a:effectLst/>
                <a:latin typeface="Aptos" panose="020B0004020202020204" pitchFamily="34" charset="0"/>
              </a:rPr>
              <a:t>, meaning:</a:t>
            </a:r>
          </a:p>
          <a:p>
            <a:pPr marL="342900" indent="-342900" algn="l">
              <a:lnSpc>
                <a:spcPts val="2400"/>
              </a:lnSpc>
              <a:buFont typeface="+mj-lt"/>
              <a:buAutoNum type="arabicPeriod"/>
            </a:pPr>
            <a:r>
              <a:rPr lang="en-US" b="0" i="0" dirty="0">
                <a:solidFill>
                  <a:srgbClr val="242424"/>
                </a:solidFill>
                <a:effectLst/>
                <a:latin typeface="Aptos" panose="020B0004020202020204" pitchFamily="34" charset="0"/>
              </a:rPr>
              <a:t>They don’t know your </a:t>
            </a:r>
            <a:r>
              <a:rPr lang="en-US" b="1" i="0" dirty="0">
                <a:solidFill>
                  <a:srgbClr val="242424"/>
                </a:solidFill>
                <a:effectLst/>
                <a:latin typeface="Aptos" panose="020B0004020202020204" pitchFamily="34" charset="0"/>
              </a:rPr>
              <a:t>proprietary enterprise data</a:t>
            </a:r>
            <a:r>
              <a:rPr lang="en-US" b="0" i="0" dirty="0">
                <a:solidFill>
                  <a:srgbClr val="242424"/>
                </a:solidFill>
                <a:effectLst/>
                <a:latin typeface="Aptos" panose="020B0004020202020204" pitchFamily="34" charset="0"/>
              </a:rPr>
              <a:t> (internal manuals, client documents, support tickets).</a:t>
            </a:r>
          </a:p>
          <a:p>
            <a:pPr marL="342900" indent="-342900" algn="l">
              <a:lnSpc>
                <a:spcPts val="2400"/>
              </a:lnSpc>
              <a:buFont typeface="+mj-lt"/>
              <a:buAutoNum type="arabicPeriod"/>
            </a:pPr>
            <a:r>
              <a:rPr lang="en-US" b="0" i="0" dirty="0">
                <a:solidFill>
                  <a:srgbClr val="242424"/>
                </a:solidFill>
                <a:effectLst/>
                <a:latin typeface="Aptos" panose="020B0004020202020204" pitchFamily="34" charset="0"/>
              </a:rPr>
              <a:t>They can’t update themselves with </a:t>
            </a:r>
            <a:r>
              <a:rPr lang="en-US" b="1" i="0" dirty="0">
                <a:solidFill>
                  <a:srgbClr val="242424"/>
                </a:solidFill>
                <a:effectLst/>
                <a:latin typeface="Aptos" panose="020B0004020202020204" pitchFamily="34" charset="0"/>
              </a:rPr>
              <a:t>real-time knowledge</a:t>
            </a:r>
            <a:r>
              <a:rPr lang="en-US" b="0" i="0" dirty="0">
                <a:solidFill>
                  <a:srgbClr val="242424"/>
                </a:solidFill>
                <a:effectLst/>
                <a:latin typeface="Aptos" panose="020B0004020202020204" pitchFamily="34" charset="0"/>
              </a:rPr>
              <a:t>.</a:t>
            </a:r>
          </a:p>
          <a:p>
            <a:pPr marL="342900" indent="-342900" algn="l">
              <a:lnSpc>
                <a:spcPts val="2400"/>
              </a:lnSpc>
              <a:buFont typeface="+mj-lt"/>
              <a:buAutoNum type="arabicPeriod"/>
            </a:pPr>
            <a:r>
              <a:rPr lang="en-US" b="0" i="0" dirty="0">
                <a:solidFill>
                  <a:srgbClr val="242424"/>
                </a:solidFill>
                <a:effectLst/>
                <a:latin typeface="Aptos" panose="020B0004020202020204" pitchFamily="34" charset="0"/>
              </a:rPr>
              <a:t>They sometimes </a:t>
            </a:r>
            <a:r>
              <a:rPr lang="en-US" b="1" i="0" dirty="0">
                <a:solidFill>
                  <a:srgbClr val="242424"/>
                </a:solidFill>
                <a:effectLst/>
                <a:latin typeface="Aptos" panose="020B0004020202020204" pitchFamily="34" charset="0"/>
              </a:rPr>
              <a:t>hallucinate</a:t>
            </a:r>
            <a:r>
              <a:rPr lang="en-US" b="0" i="0" dirty="0">
                <a:solidFill>
                  <a:srgbClr val="242424"/>
                </a:solidFill>
                <a:effectLst/>
                <a:latin typeface="Aptos" panose="020B0004020202020204" pitchFamily="34" charset="0"/>
              </a:rPr>
              <a:t>, i.e., generate convincing but incorrect responses.</a:t>
            </a:r>
          </a:p>
          <a:p>
            <a:pPr lvl="1">
              <a:lnSpc>
                <a:spcPts val="2400"/>
              </a:lnSpc>
            </a:pPr>
            <a:r>
              <a:rPr lang="en-US" dirty="0">
                <a:solidFill>
                  <a:srgbClr val="FB4E0B"/>
                </a:solidFill>
                <a:latin typeface="Aptos" panose="020B0004020202020204" pitchFamily="34" charset="0"/>
              </a:rPr>
              <a:t>This is where </a:t>
            </a:r>
            <a:r>
              <a:rPr lang="en-US" b="1" dirty="0">
                <a:solidFill>
                  <a:srgbClr val="FB4E0B"/>
                </a:solidFill>
                <a:latin typeface="Aptos" panose="020B0004020202020204" pitchFamily="34" charset="0"/>
              </a:rPr>
              <a:t>Retrieval-Augmented Generation (RAG)</a:t>
            </a:r>
            <a:r>
              <a:rPr lang="en-US" dirty="0">
                <a:solidFill>
                  <a:srgbClr val="FB4E0B"/>
                </a:solidFill>
                <a:latin typeface="Aptos" panose="020B0004020202020204" pitchFamily="34" charset="0"/>
              </a:rPr>
              <a:t> enters the picture.</a:t>
            </a:r>
          </a:p>
        </p:txBody>
      </p:sp>
      <p:sp>
        <p:nvSpPr>
          <p:cNvPr id="5" name="TextBox 4">
            <a:extLst>
              <a:ext uri="{FF2B5EF4-FFF2-40B4-BE49-F238E27FC236}">
                <a16:creationId xmlns:a16="http://schemas.microsoft.com/office/drawing/2014/main" id="{BE235F3B-0429-77E0-CD18-EDFFC48FE5A8}"/>
              </a:ext>
            </a:extLst>
          </p:cNvPr>
          <p:cNvSpPr txBox="1"/>
          <p:nvPr/>
        </p:nvSpPr>
        <p:spPr>
          <a:xfrm>
            <a:off x="193127" y="5456816"/>
            <a:ext cx="8020706" cy="1477328"/>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fkGroteskNeue"/>
              </a:rPr>
              <a:t>The flow illustrates four main stages: </a:t>
            </a:r>
            <a:r>
              <a:rPr lang="en-US" b="1" i="0" dirty="0">
                <a:effectLst/>
                <a:latin typeface="fkGroteskNeue"/>
              </a:rPr>
              <a:t>data preparation, indexing data </a:t>
            </a:r>
            <a:r>
              <a:rPr lang="en-US" b="0" i="0" dirty="0">
                <a:effectLst/>
                <a:latin typeface="fkGroteskNeue"/>
              </a:rPr>
              <a:t>as embeddings</a:t>
            </a:r>
            <a:r>
              <a:rPr lang="en-US" b="1" i="0" dirty="0">
                <a:effectLst/>
                <a:latin typeface="fkGroteskNeue"/>
              </a:rPr>
              <a:t>, information retrieval</a:t>
            </a:r>
            <a:r>
              <a:rPr lang="en-US" b="0" i="0" dirty="0">
                <a:effectLst/>
                <a:latin typeface="fkGroteskNeue"/>
              </a:rPr>
              <a:t>, and </a:t>
            </a:r>
            <a:r>
              <a:rPr lang="en-US" b="1" i="0" dirty="0">
                <a:effectLst/>
                <a:latin typeface="fkGroteskNeue"/>
              </a:rPr>
              <a:t>LLM-based inference </a:t>
            </a:r>
            <a:r>
              <a:rPr lang="en-US" b="0" i="0" dirty="0">
                <a:effectLst/>
                <a:latin typeface="fkGroteskNeue"/>
              </a:rPr>
              <a:t>based on retrieved chunks.​</a:t>
            </a:r>
          </a:p>
          <a:p>
            <a:pPr marL="285750" indent="-285750" algn="l">
              <a:buFont typeface="Arial" panose="020B0604020202020204" pitchFamily="34" charset="0"/>
              <a:buChar char="•"/>
            </a:pPr>
            <a:r>
              <a:rPr lang="en-US" b="0" i="0" dirty="0">
                <a:effectLst/>
                <a:latin typeface="fkGroteskNeue"/>
              </a:rPr>
              <a:t>This structure is for RAG systems, combining vector search over document chunks and large language model generation for context-aware Q&amp;A.</a:t>
            </a:r>
          </a:p>
        </p:txBody>
      </p:sp>
    </p:spTree>
    <p:extLst>
      <p:ext uri="{BB962C8B-B14F-4D97-AF65-F5344CB8AC3E}">
        <p14:creationId xmlns:p14="http://schemas.microsoft.com/office/powerpoint/2010/main" val="2619751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E48E-24DE-BDEE-339E-741EBA200F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23D0DD-5A34-2353-81C3-ACEB558308C3}"/>
              </a:ext>
            </a:extLst>
          </p:cNvPr>
          <p:cNvSpPr txBox="1"/>
          <p:nvPr/>
        </p:nvSpPr>
        <p:spPr>
          <a:xfrm>
            <a:off x="319981" y="78336"/>
            <a:ext cx="8020707" cy="552652"/>
          </a:xfrm>
          <a:prstGeom prst="rect">
            <a:avLst/>
          </a:prstGeom>
          <a:noFill/>
        </p:spPr>
        <p:txBody>
          <a:bodyPr wrap="square">
            <a:spAutoFit/>
          </a:bodyPr>
          <a:lstStyle/>
          <a:p>
            <a:pPr algn="l">
              <a:lnSpc>
                <a:spcPts val="3900"/>
              </a:lnSpc>
              <a:buNone/>
            </a:pPr>
            <a:r>
              <a:rPr lang="en-US" sz="2400" b="1" i="0" dirty="0">
                <a:solidFill>
                  <a:srgbClr val="FB4E0B"/>
                </a:solidFill>
                <a:effectLst/>
                <a:latin typeface="+mj-lt"/>
              </a:rPr>
              <a:t>Understanding Retrieval-Augmented Generation (RAG)</a:t>
            </a:r>
          </a:p>
        </p:txBody>
      </p:sp>
      <p:pic>
        <p:nvPicPr>
          <p:cNvPr id="5122" name="Picture 2">
            <a:extLst>
              <a:ext uri="{FF2B5EF4-FFF2-40B4-BE49-F238E27FC236}">
                <a16:creationId xmlns:a16="http://schemas.microsoft.com/office/drawing/2014/main" id="{00BAC9C2-9BD8-C9DA-E76D-C50070BF6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26754"/>
            <a:ext cx="7931119" cy="54044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C3C5912-91B2-625F-4239-BA1820AB24FA}"/>
              </a:ext>
            </a:extLst>
          </p:cNvPr>
          <p:cNvSpPr txBox="1"/>
          <p:nvPr/>
        </p:nvSpPr>
        <p:spPr>
          <a:xfrm>
            <a:off x="7804995" y="656784"/>
            <a:ext cx="4260881" cy="6186309"/>
          </a:xfrm>
          <a:prstGeom prst="rect">
            <a:avLst/>
          </a:prstGeom>
          <a:noFill/>
        </p:spPr>
        <p:txBody>
          <a:bodyPr wrap="square">
            <a:spAutoFit/>
          </a:bodyPr>
          <a:lstStyle/>
          <a:p>
            <a:pPr marL="285750" indent="-285750">
              <a:buFont typeface="Arial" panose="020B0604020202020204" pitchFamily="34" charset="0"/>
              <a:buChar char="•"/>
            </a:pPr>
            <a:r>
              <a:rPr lang="en-US" dirty="0"/>
              <a:t>Data Preparation: </a:t>
            </a:r>
            <a:r>
              <a:rPr lang="en-US" dirty="0">
                <a:solidFill>
                  <a:schemeClr val="tx2"/>
                </a:solidFill>
              </a:rPr>
              <a:t>Raw files (PDFs, Word, PPTs, etc.) are cleaned and split into smaller document chunks for processing.​</a:t>
            </a:r>
          </a:p>
          <a:p>
            <a:pPr marL="285750" indent="-285750">
              <a:buFont typeface="Arial" panose="020B0604020202020204" pitchFamily="34" charset="0"/>
              <a:buChar char="•"/>
            </a:pPr>
            <a:endParaRPr lang="en-US" dirty="0">
              <a:solidFill>
                <a:schemeClr val="tx2"/>
              </a:solidFill>
            </a:endParaRPr>
          </a:p>
          <a:p>
            <a:pPr marL="285750" indent="-285750">
              <a:buFont typeface="Arial" panose="020B0604020202020204" pitchFamily="34" charset="0"/>
              <a:buChar char="•"/>
            </a:pPr>
            <a:r>
              <a:rPr lang="en-US" dirty="0"/>
              <a:t>Index Relevant Data: </a:t>
            </a:r>
            <a:r>
              <a:rPr lang="en-US" dirty="0">
                <a:solidFill>
                  <a:schemeClr val="tx2"/>
                </a:solidFill>
              </a:rPr>
              <a:t>Each document chunk is transformed into a vector (embedding) using specialized models and stored in a vector database, making it searchable based on meaning rather than exact words.</a:t>
            </a:r>
          </a:p>
          <a:p>
            <a:endParaRPr lang="en-US" dirty="0">
              <a:solidFill>
                <a:schemeClr val="tx2"/>
              </a:solidFill>
            </a:endParaRPr>
          </a:p>
          <a:p>
            <a:pPr marL="285750" indent="-285750">
              <a:buFont typeface="Arial" panose="020B0604020202020204" pitchFamily="34" charset="0"/>
              <a:buChar char="•"/>
            </a:pPr>
            <a:r>
              <a:rPr lang="en-US" dirty="0"/>
              <a:t>Information Retrieval: </a:t>
            </a:r>
            <a:r>
              <a:rPr lang="en-US" dirty="0">
                <a:solidFill>
                  <a:schemeClr val="tx2"/>
                </a:solidFill>
              </a:rPr>
              <a:t>The system quickly finds and returns the most relevant chunks of data in response to user queries.​</a:t>
            </a:r>
          </a:p>
          <a:p>
            <a:pPr marL="285750" indent="-285750">
              <a:buFont typeface="Arial" panose="020B0604020202020204" pitchFamily="34" charset="0"/>
              <a:buChar char="•"/>
            </a:pPr>
            <a:endParaRPr lang="en-US" dirty="0">
              <a:solidFill>
                <a:schemeClr val="tx2"/>
              </a:solidFill>
            </a:endParaRPr>
          </a:p>
          <a:p>
            <a:pPr marL="285750" indent="-285750">
              <a:buFont typeface="Arial" panose="020B0604020202020204" pitchFamily="34" charset="0"/>
              <a:buChar char="•"/>
            </a:pPr>
            <a:r>
              <a:rPr lang="en-US" dirty="0"/>
              <a:t>LLM Inference</a:t>
            </a:r>
            <a:r>
              <a:rPr lang="en-US" dirty="0">
                <a:solidFill>
                  <a:schemeClr val="tx2"/>
                </a:solidFill>
              </a:rPr>
              <a:t>: The retrieved relevant chunks and user question are sent to a language model, which uses this context to generate a clear, accurate natural language answer.</a:t>
            </a:r>
          </a:p>
        </p:txBody>
      </p:sp>
    </p:spTree>
    <p:extLst>
      <p:ext uri="{BB962C8B-B14F-4D97-AF65-F5344CB8AC3E}">
        <p14:creationId xmlns:p14="http://schemas.microsoft.com/office/powerpoint/2010/main" val="141614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014417-A472-6E91-659E-02DC874DD1EA}"/>
              </a:ext>
            </a:extLst>
          </p:cNvPr>
          <p:cNvSpPr>
            <a:spLocks noGrp="1"/>
          </p:cNvSpPr>
          <p:nvPr>
            <p:ph type="sldNum" sz="quarter" idx="12"/>
          </p:nvPr>
        </p:nvSpPr>
        <p:spPr/>
        <p:txBody>
          <a:bodyPr/>
          <a:lstStyle/>
          <a:p>
            <a:fld id="{65EE6106-BBA8-4E04-8268-D4E90756E95D}" type="slidenum">
              <a:rPr lang="en-IN" smtClean="0"/>
              <a:t>22</a:t>
            </a:fld>
            <a:endParaRPr lang="en-IN"/>
          </a:p>
        </p:txBody>
      </p:sp>
      <p:sp>
        <p:nvSpPr>
          <p:cNvPr id="5" name="TextBox 4">
            <a:extLst>
              <a:ext uri="{FF2B5EF4-FFF2-40B4-BE49-F238E27FC236}">
                <a16:creationId xmlns:a16="http://schemas.microsoft.com/office/drawing/2014/main" id="{CBB60C4E-9D5A-C32E-9836-D0316A22AD0B}"/>
              </a:ext>
            </a:extLst>
          </p:cNvPr>
          <p:cNvSpPr txBox="1"/>
          <p:nvPr/>
        </p:nvSpPr>
        <p:spPr>
          <a:xfrm>
            <a:off x="141890" y="315911"/>
            <a:ext cx="11592910" cy="4375365"/>
          </a:xfrm>
          <a:prstGeom prst="rect">
            <a:avLst/>
          </a:prstGeom>
          <a:noFill/>
        </p:spPr>
        <p:txBody>
          <a:bodyPr wrap="square">
            <a:spAutoFit/>
          </a:bodyPr>
          <a:lstStyle/>
          <a:p>
            <a:pPr algn="l">
              <a:lnSpc>
                <a:spcPts val="2250"/>
              </a:lnSpc>
              <a:buNone/>
            </a:pPr>
            <a:r>
              <a:rPr lang="en-US" sz="2400" b="1" dirty="0">
                <a:solidFill>
                  <a:srgbClr val="FB4E0B"/>
                </a:solidFill>
                <a:latin typeface="+mj-lt"/>
              </a:rPr>
              <a:t>What is Retrieval-Augmented Generation (RAG)?</a:t>
            </a:r>
          </a:p>
          <a:p>
            <a:pPr algn="l">
              <a:lnSpc>
                <a:spcPts val="2400"/>
              </a:lnSpc>
              <a:buNone/>
            </a:pPr>
            <a:r>
              <a:rPr lang="en-US" b="1" i="0" dirty="0">
                <a:solidFill>
                  <a:srgbClr val="242424"/>
                </a:solidFill>
                <a:effectLst/>
                <a:latin typeface="Aptos" panose="020B0004020202020204" pitchFamily="34" charset="0"/>
              </a:rPr>
              <a:t>RAG is an architecture that combines two powerful capabilities:</a:t>
            </a:r>
          </a:p>
          <a:p>
            <a:pPr algn="l">
              <a:lnSpc>
                <a:spcPts val="2400"/>
              </a:lnSpc>
              <a:buNone/>
            </a:pPr>
            <a:endParaRPr lang="en-US" b="0" i="0" dirty="0">
              <a:solidFill>
                <a:srgbClr val="242424"/>
              </a:solidFill>
              <a:effectLst/>
              <a:latin typeface="Aptos" panose="020B0004020202020204" pitchFamily="34" charset="0"/>
            </a:endParaRPr>
          </a:p>
          <a:p>
            <a:pPr marL="285750" indent="-285750" algn="l">
              <a:lnSpc>
                <a:spcPts val="2400"/>
              </a:lnSpc>
              <a:buFont typeface="Arial" panose="020B0604020202020204" pitchFamily="34" charset="0"/>
              <a:buChar char="•"/>
            </a:pPr>
            <a:r>
              <a:rPr lang="en-US" b="1" i="0" dirty="0">
                <a:solidFill>
                  <a:srgbClr val="242424"/>
                </a:solidFill>
                <a:effectLst/>
                <a:latin typeface="Aptos" panose="020B0004020202020204" pitchFamily="34" charset="0"/>
              </a:rPr>
              <a:t>Retrieval</a:t>
            </a:r>
            <a:r>
              <a:rPr lang="en-US" b="0" i="0" dirty="0">
                <a:solidFill>
                  <a:srgbClr val="242424"/>
                </a:solidFill>
                <a:effectLst/>
                <a:latin typeface="Aptos" panose="020B0004020202020204" pitchFamily="34" charset="0"/>
              </a:rPr>
              <a:t>: Pulling relevant context from external data sources, typically using vector search over embedded documents.</a:t>
            </a:r>
          </a:p>
          <a:p>
            <a:pPr marL="285750" indent="-285750" algn="l">
              <a:lnSpc>
                <a:spcPts val="2400"/>
              </a:lnSpc>
              <a:buFont typeface="Arial" panose="020B0604020202020204" pitchFamily="34" charset="0"/>
              <a:buChar char="•"/>
            </a:pPr>
            <a:r>
              <a:rPr lang="en-US" b="1" i="0" dirty="0">
                <a:solidFill>
                  <a:srgbClr val="242424"/>
                </a:solidFill>
                <a:effectLst/>
                <a:latin typeface="Aptos" panose="020B0004020202020204" pitchFamily="34" charset="0"/>
              </a:rPr>
              <a:t>Generation</a:t>
            </a:r>
            <a:r>
              <a:rPr lang="en-US" b="0" i="0" dirty="0">
                <a:solidFill>
                  <a:srgbClr val="242424"/>
                </a:solidFill>
                <a:effectLst/>
                <a:latin typeface="Aptos" panose="020B0004020202020204" pitchFamily="34" charset="0"/>
              </a:rPr>
              <a:t>: Using the retrieved context along with a user question to generate a natural language response via an LLM.</a:t>
            </a:r>
          </a:p>
          <a:p>
            <a:pPr algn="l">
              <a:lnSpc>
                <a:spcPts val="2400"/>
              </a:lnSpc>
              <a:buNone/>
            </a:pPr>
            <a:r>
              <a:rPr lang="en-US" b="1" i="0" dirty="0">
                <a:solidFill>
                  <a:srgbClr val="242424"/>
                </a:solidFill>
                <a:effectLst/>
                <a:latin typeface="Aptos" panose="020B0004020202020204" pitchFamily="34" charset="0"/>
              </a:rPr>
              <a:t>Formal Definition</a:t>
            </a:r>
            <a:r>
              <a:rPr lang="en-US" b="0" i="0" dirty="0">
                <a:solidFill>
                  <a:srgbClr val="242424"/>
                </a:solidFill>
                <a:effectLst/>
                <a:latin typeface="Aptos" panose="020B0004020202020204" pitchFamily="34" charset="0"/>
              </a:rPr>
              <a:t>:</a:t>
            </a:r>
          </a:p>
          <a:p>
            <a:pPr algn="l">
              <a:lnSpc>
                <a:spcPts val="2400"/>
              </a:lnSpc>
              <a:buNone/>
            </a:pPr>
            <a:endParaRPr lang="en-US" b="0" i="0" dirty="0">
              <a:solidFill>
                <a:srgbClr val="242424"/>
              </a:solidFill>
              <a:effectLst/>
              <a:latin typeface="Aptos" panose="020B0004020202020204" pitchFamily="34" charset="0"/>
            </a:endParaRPr>
          </a:p>
          <a:p>
            <a:pPr algn="l">
              <a:lnSpc>
                <a:spcPts val="2400"/>
              </a:lnSpc>
              <a:buNone/>
            </a:pPr>
            <a:r>
              <a:rPr lang="en-US" b="0" i="1" dirty="0">
                <a:solidFill>
                  <a:srgbClr val="242424"/>
                </a:solidFill>
                <a:effectLst/>
                <a:latin typeface="Aptos" panose="020B0004020202020204" pitchFamily="34" charset="0"/>
              </a:rPr>
              <a:t>Retrieval-Augmented Generation is a hybrid approach where a language model is provided with dynamically retrieved, contextually relevant documents to improve its factual accuracy, reduce hallucinations, and adapt to private or recent knowledge.</a:t>
            </a:r>
          </a:p>
          <a:p>
            <a:pPr algn="l">
              <a:lnSpc>
                <a:spcPts val="2400"/>
              </a:lnSpc>
              <a:buNone/>
            </a:pPr>
            <a:r>
              <a:rPr lang="en-US" b="0" i="0" dirty="0">
                <a:solidFill>
                  <a:srgbClr val="242424"/>
                </a:solidFill>
                <a:effectLst/>
                <a:latin typeface="Aptos" panose="020B0004020202020204" pitchFamily="34" charset="0"/>
              </a:rPr>
              <a:t>Unlike fine-tuning, which involves retraining the model on new data (costly and slow), RAG dynamically injects real-world knowledge into the model’s responses </a:t>
            </a:r>
            <a:r>
              <a:rPr lang="en-US" b="1" i="0" dirty="0">
                <a:solidFill>
                  <a:srgbClr val="242424"/>
                </a:solidFill>
                <a:effectLst/>
                <a:latin typeface="Aptos" panose="020B0004020202020204" pitchFamily="34" charset="0"/>
              </a:rPr>
              <a:t>at inference time</a:t>
            </a:r>
            <a:r>
              <a:rPr lang="en-US" b="0" i="0" dirty="0">
                <a:solidFill>
                  <a:srgbClr val="242424"/>
                </a:solidFill>
                <a:effectLst/>
                <a:latin typeface="Aptos" panose="020B0004020202020204" pitchFamily="34" charset="0"/>
              </a:rPr>
              <a:t>.</a:t>
            </a:r>
          </a:p>
        </p:txBody>
      </p:sp>
    </p:spTree>
    <p:extLst>
      <p:ext uri="{BB962C8B-B14F-4D97-AF65-F5344CB8AC3E}">
        <p14:creationId xmlns:p14="http://schemas.microsoft.com/office/powerpoint/2010/main" val="284067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2BD6-DBAE-CF79-6C02-FA3D7152AF3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C6EF30-8D94-7583-2217-94E350BFDCAC}"/>
              </a:ext>
            </a:extLst>
          </p:cNvPr>
          <p:cNvSpPr>
            <a:spLocks noGrp="1"/>
          </p:cNvSpPr>
          <p:nvPr>
            <p:ph type="sldNum" sz="quarter" idx="12"/>
          </p:nvPr>
        </p:nvSpPr>
        <p:spPr/>
        <p:txBody>
          <a:bodyPr/>
          <a:lstStyle/>
          <a:p>
            <a:fld id="{65EE6106-BBA8-4E04-8268-D4E90756E95D}" type="slidenum">
              <a:rPr lang="en-IN" smtClean="0"/>
              <a:t>23</a:t>
            </a:fld>
            <a:endParaRPr lang="en-IN"/>
          </a:p>
        </p:txBody>
      </p:sp>
      <p:sp>
        <p:nvSpPr>
          <p:cNvPr id="5" name="TextBox 4">
            <a:extLst>
              <a:ext uri="{FF2B5EF4-FFF2-40B4-BE49-F238E27FC236}">
                <a16:creationId xmlns:a16="http://schemas.microsoft.com/office/drawing/2014/main" id="{BAF1A4AB-5EA9-BDCA-B15A-595F06852350}"/>
              </a:ext>
            </a:extLst>
          </p:cNvPr>
          <p:cNvSpPr txBox="1"/>
          <p:nvPr/>
        </p:nvSpPr>
        <p:spPr>
          <a:xfrm>
            <a:off x="283779" y="315911"/>
            <a:ext cx="8720301" cy="394788"/>
          </a:xfrm>
          <a:prstGeom prst="rect">
            <a:avLst/>
          </a:prstGeom>
          <a:noFill/>
        </p:spPr>
        <p:txBody>
          <a:bodyPr wrap="square">
            <a:spAutoFit/>
          </a:bodyPr>
          <a:lstStyle/>
          <a:p>
            <a:pPr algn="l">
              <a:lnSpc>
                <a:spcPts val="2250"/>
              </a:lnSpc>
              <a:buNone/>
            </a:pPr>
            <a:r>
              <a:rPr lang="en-US" sz="2400" b="1" dirty="0">
                <a:solidFill>
                  <a:srgbClr val="FB4E0B"/>
                </a:solidFill>
                <a:latin typeface="+mj-lt"/>
              </a:rPr>
              <a:t>Core Components of a Retrieval-Augmented Generation (RAG)</a:t>
            </a:r>
          </a:p>
        </p:txBody>
      </p:sp>
      <p:pic>
        <p:nvPicPr>
          <p:cNvPr id="6146" name="Picture 2">
            <a:extLst>
              <a:ext uri="{FF2B5EF4-FFF2-40B4-BE49-F238E27FC236}">
                <a16:creationId xmlns:a16="http://schemas.microsoft.com/office/drawing/2014/main" id="{07361696-E143-FDD9-5B50-11C81618A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8632"/>
            <a:ext cx="8578412" cy="415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384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252E-606C-AF09-5611-8D50628E80B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9E4AE3-FECC-56D9-A65D-8CA9E9674108}"/>
              </a:ext>
            </a:extLst>
          </p:cNvPr>
          <p:cNvSpPr>
            <a:spLocks noGrp="1"/>
          </p:cNvSpPr>
          <p:nvPr>
            <p:ph type="sldNum" sz="quarter" idx="12"/>
          </p:nvPr>
        </p:nvSpPr>
        <p:spPr/>
        <p:txBody>
          <a:bodyPr/>
          <a:lstStyle/>
          <a:p>
            <a:fld id="{65EE6106-BBA8-4E04-8268-D4E90756E95D}" type="slidenum">
              <a:rPr lang="en-IN" smtClean="0"/>
              <a:t>24</a:t>
            </a:fld>
            <a:endParaRPr lang="en-IN"/>
          </a:p>
        </p:txBody>
      </p:sp>
      <p:sp>
        <p:nvSpPr>
          <p:cNvPr id="5" name="TextBox 4">
            <a:extLst>
              <a:ext uri="{FF2B5EF4-FFF2-40B4-BE49-F238E27FC236}">
                <a16:creationId xmlns:a16="http://schemas.microsoft.com/office/drawing/2014/main" id="{B6029AA4-9E88-CED1-14BE-FE573236399F}"/>
              </a:ext>
            </a:extLst>
          </p:cNvPr>
          <p:cNvSpPr txBox="1"/>
          <p:nvPr/>
        </p:nvSpPr>
        <p:spPr>
          <a:xfrm>
            <a:off x="283779" y="315911"/>
            <a:ext cx="8720301" cy="394788"/>
          </a:xfrm>
          <a:prstGeom prst="rect">
            <a:avLst/>
          </a:prstGeom>
          <a:noFill/>
        </p:spPr>
        <p:txBody>
          <a:bodyPr wrap="square">
            <a:spAutoFit/>
          </a:bodyPr>
          <a:lstStyle/>
          <a:p>
            <a:pPr algn="l">
              <a:lnSpc>
                <a:spcPts val="2250"/>
              </a:lnSpc>
              <a:buNone/>
            </a:pPr>
            <a:r>
              <a:rPr lang="en-US" sz="2400" b="1" dirty="0">
                <a:solidFill>
                  <a:srgbClr val="FB4E0B"/>
                </a:solidFill>
                <a:latin typeface="+mj-lt"/>
              </a:rPr>
              <a:t>Traditional LLM vs RAG Architecture</a:t>
            </a:r>
          </a:p>
        </p:txBody>
      </p:sp>
      <p:pic>
        <p:nvPicPr>
          <p:cNvPr id="8194" name="Picture 2">
            <a:extLst>
              <a:ext uri="{FF2B5EF4-FFF2-40B4-BE49-F238E27FC236}">
                <a16:creationId xmlns:a16="http://schemas.microsoft.com/office/drawing/2014/main" id="{ED4C7EB5-CDED-DF47-96D2-D0D5038DA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79" y="1279525"/>
            <a:ext cx="9414072" cy="3631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543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FEA87E-A88F-17C3-63C9-58B78B35CAC3}"/>
              </a:ext>
            </a:extLst>
          </p:cNvPr>
          <p:cNvSpPr>
            <a:spLocks noGrp="1"/>
          </p:cNvSpPr>
          <p:nvPr>
            <p:ph type="sldNum" sz="quarter" idx="12"/>
          </p:nvPr>
        </p:nvSpPr>
        <p:spPr/>
        <p:txBody>
          <a:bodyPr/>
          <a:lstStyle/>
          <a:p>
            <a:fld id="{65EE6106-BBA8-4E04-8268-D4E90756E95D}" type="slidenum">
              <a:rPr lang="en-IN" smtClean="0"/>
              <a:t>25</a:t>
            </a:fld>
            <a:endParaRPr lang="en-IN"/>
          </a:p>
        </p:txBody>
      </p:sp>
      <p:sp>
        <p:nvSpPr>
          <p:cNvPr id="5" name="TextBox 4">
            <a:extLst>
              <a:ext uri="{FF2B5EF4-FFF2-40B4-BE49-F238E27FC236}">
                <a16:creationId xmlns:a16="http://schemas.microsoft.com/office/drawing/2014/main" id="{87B10598-E7BA-ABB6-E49E-18555736E5C0}"/>
              </a:ext>
            </a:extLst>
          </p:cNvPr>
          <p:cNvSpPr txBox="1"/>
          <p:nvPr/>
        </p:nvSpPr>
        <p:spPr>
          <a:xfrm>
            <a:off x="493986" y="491941"/>
            <a:ext cx="9280634" cy="679032"/>
          </a:xfrm>
          <a:prstGeom prst="rect">
            <a:avLst/>
          </a:prstGeom>
          <a:noFill/>
        </p:spPr>
        <p:txBody>
          <a:bodyPr wrap="square">
            <a:spAutoFit/>
          </a:bodyPr>
          <a:lstStyle/>
          <a:p>
            <a:pPr algn="l">
              <a:lnSpc>
                <a:spcPts val="2250"/>
              </a:lnSpc>
              <a:buNone/>
            </a:pPr>
            <a:r>
              <a:rPr lang="en-US" sz="2400" b="1" dirty="0">
                <a:solidFill>
                  <a:srgbClr val="FB4E0B"/>
                </a:solidFill>
                <a:latin typeface="+mj-lt"/>
              </a:rPr>
              <a:t>How RAG Works on Databricks?</a:t>
            </a:r>
          </a:p>
          <a:p>
            <a:pPr algn="l">
              <a:lnSpc>
                <a:spcPts val="2400"/>
              </a:lnSpc>
              <a:buNone/>
            </a:pPr>
            <a:r>
              <a:rPr lang="en-US" b="0" i="0" dirty="0">
                <a:solidFill>
                  <a:srgbClr val="242424"/>
                </a:solidFill>
                <a:effectLst/>
                <a:latin typeface="source-serif-pro"/>
              </a:rPr>
              <a:t>Databricks provides all the building blocks for constructing a scalable RAG system:</a:t>
            </a:r>
          </a:p>
        </p:txBody>
      </p:sp>
      <p:pic>
        <p:nvPicPr>
          <p:cNvPr id="9218" name="Picture 2">
            <a:extLst>
              <a:ext uri="{FF2B5EF4-FFF2-40B4-BE49-F238E27FC236}">
                <a16:creationId xmlns:a16="http://schemas.microsoft.com/office/drawing/2014/main" id="{E2DF604C-B4F6-33D6-F60E-6F05C14F4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986" y="1618921"/>
            <a:ext cx="8232324" cy="3457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523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482ADC-7631-7C02-3CA4-B9CDF23B86EF}"/>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2BE1A0A9-206D-EC62-C57E-9BE381B356C8}"/>
              </a:ext>
            </a:extLst>
          </p:cNvPr>
          <p:cNvSpPr>
            <a:spLocks noGrp="1"/>
          </p:cNvSpPr>
          <p:nvPr>
            <p:ph type="sldNum" sz="quarter" idx="12"/>
          </p:nvPr>
        </p:nvSpPr>
        <p:spPr/>
        <p:txBody>
          <a:bodyPr/>
          <a:lstStyle/>
          <a:p>
            <a:fld id="{65EE6106-BBA8-4E04-8268-D4E90756E95D}" type="slidenum">
              <a:rPr lang="en-IN" smtClean="0"/>
              <a:t>26</a:t>
            </a:fld>
            <a:endParaRPr lang="en-IN"/>
          </a:p>
        </p:txBody>
      </p:sp>
      <p:sp>
        <p:nvSpPr>
          <p:cNvPr id="5" name="TextBox 4">
            <a:extLst>
              <a:ext uri="{FF2B5EF4-FFF2-40B4-BE49-F238E27FC236}">
                <a16:creationId xmlns:a16="http://schemas.microsoft.com/office/drawing/2014/main" id="{8BB2274E-81EA-B229-B5C2-00E039EAFA8F}"/>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1. A retail company is building a question-answering bot using RAG. Sensitive customer data is stored alongside product documents. Which tool best helps ensure compliance with data governance during indexing and retrieval?</a:t>
            </a:r>
          </a:p>
          <a:p>
            <a:pPr algn="l">
              <a:buNone/>
            </a:pPr>
            <a:endParaRPr lang="en-US" sz="2800" b="0" i="0" dirty="0">
              <a:effectLst/>
              <a:latin typeface="Aptos" panose="020B0004020202020204" pitchFamily="34" charset="0"/>
            </a:endParaRPr>
          </a:p>
          <a:p>
            <a:pPr algn="l"/>
            <a:r>
              <a:rPr lang="en-US" sz="2800" b="0" i="0" dirty="0">
                <a:effectLst/>
                <a:latin typeface="Aptos" panose="020B0004020202020204" pitchFamily="34" charset="0"/>
              </a:rPr>
              <a:t>a) </a:t>
            </a:r>
            <a:r>
              <a:rPr lang="en-US" sz="2800" b="0" i="0" dirty="0" err="1">
                <a:effectLst/>
                <a:latin typeface="Aptos" panose="020B0004020202020204" pitchFamily="34" charset="0"/>
              </a:rPr>
              <a:t>MLflow</a:t>
            </a:r>
            <a:endParaRPr lang="en-US" sz="2800" b="0" i="0" dirty="0">
              <a:effectLst/>
              <a:latin typeface="Aptos" panose="020B0004020202020204" pitchFamily="34" charset="0"/>
            </a:endParaRPr>
          </a:p>
          <a:p>
            <a:pPr algn="l"/>
            <a:r>
              <a:rPr lang="en-US" sz="2800" b="0" i="0" dirty="0">
                <a:effectLst/>
                <a:latin typeface="Aptos" panose="020B0004020202020204" pitchFamily="34" charset="0"/>
              </a:rPr>
              <a:t>b) Unity Catalog</a:t>
            </a:r>
          </a:p>
          <a:p>
            <a:pPr algn="l"/>
            <a:r>
              <a:rPr lang="en-US" sz="2800" b="0" i="0" dirty="0">
                <a:effectLst/>
                <a:latin typeface="Aptos" panose="020B0004020202020204" pitchFamily="34" charset="0"/>
              </a:rPr>
              <a:t>c) Mosaic AI Vector Search</a:t>
            </a:r>
          </a:p>
          <a:p>
            <a:pPr algn="l"/>
            <a:r>
              <a:rPr lang="en-US" sz="2800" b="0" i="0" dirty="0">
                <a:effectLst/>
                <a:latin typeface="Aptos" panose="020B0004020202020204" pitchFamily="34" charset="0"/>
              </a:rPr>
              <a:t>d) LangChain</a:t>
            </a:r>
          </a:p>
        </p:txBody>
      </p:sp>
    </p:spTree>
    <p:extLst>
      <p:ext uri="{BB962C8B-B14F-4D97-AF65-F5344CB8AC3E}">
        <p14:creationId xmlns:p14="http://schemas.microsoft.com/office/powerpoint/2010/main" val="2934167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B5B9-A3CD-380A-65BC-F1F181C2D6F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C717578-AD5C-7627-7493-243FD65828E0}"/>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806B1917-0746-D965-C33D-899E830B4FE9}"/>
              </a:ext>
            </a:extLst>
          </p:cNvPr>
          <p:cNvSpPr>
            <a:spLocks noGrp="1"/>
          </p:cNvSpPr>
          <p:nvPr>
            <p:ph type="sldNum" sz="quarter" idx="12"/>
          </p:nvPr>
        </p:nvSpPr>
        <p:spPr/>
        <p:txBody>
          <a:bodyPr/>
          <a:lstStyle/>
          <a:p>
            <a:fld id="{65EE6106-BBA8-4E04-8268-D4E90756E95D}" type="slidenum">
              <a:rPr lang="en-IN" smtClean="0"/>
              <a:t>27</a:t>
            </a:fld>
            <a:endParaRPr lang="en-IN"/>
          </a:p>
        </p:txBody>
      </p:sp>
      <p:sp>
        <p:nvSpPr>
          <p:cNvPr id="5" name="TextBox 4">
            <a:extLst>
              <a:ext uri="{FF2B5EF4-FFF2-40B4-BE49-F238E27FC236}">
                <a16:creationId xmlns:a16="http://schemas.microsoft.com/office/drawing/2014/main" id="{33427E27-752B-D0A4-74FF-46ADDCEB3874}"/>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1. A retail company is building a question-answering bot using RAG. Sensitive customer data is stored alongside product documents. Which tool best helps ensure compliance with data governance during indexing and retrieval?</a:t>
            </a:r>
          </a:p>
          <a:p>
            <a:pPr algn="l">
              <a:buNone/>
            </a:pPr>
            <a:endParaRPr lang="en-US" sz="2800" b="0" i="0" dirty="0">
              <a:effectLst/>
              <a:latin typeface="Aptos" panose="020B0004020202020204" pitchFamily="34" charset="0"/>
            </a:endParaRPr>
          </a:p>
          <a:p>
            <a:pPr algn="l"/>
            <a:r>
              <a:rPr lang="en-US" sz="2800" b="0" i="0" dirty="0">
                <a:effectLst/>
                <a:latin typeface="Aptos" panose="020B0004020202020204" pitchFamily="34" charset="0"/>
              </a:rPr>
              <a:t>a) </a:t>
            </a:r>
            <a:r>
              <a:rPr lang="en-US" sz="2800" b="0" i="0" dirty="0" err="1">
                <a:effectLst/>
                <a:latin typeface="Aptos" panose="020B0004020202020204" pitchFamily="34" charset="0"/>
              </a:rPr>
              <a:t>MLflow</a:t>
            </a:r>
            <a:endParaRPr lang="en-US" sz="2800" b="0" i="0" dirty="0">
              <a:effectLst/>
              <a:latin typeface="Aptos" panose="020B0004020202020204" pitchFamily="34" charset="0"/>
            </a:endParaRPr>
          </a:p>
          <a:p>
            <a:pPr algn="l"/>
            <a:r>
              <a:rPr lang="en-US" sz="2800" b="0" i="0" dirty="0">
                <a:effectLst/>
                <a:highlight>
                  <a:srgbClr val="FFFF00"/>
                </a:highlight>
                <a:latin typeface="Aptos" panose="020B0004020202020204" pitchFamily="34" charset="0"/>
              </a:rPr>
              <a:t>b) Unity Catalog</a:t>
            </a:r>
          </a:p>
          <a:p>
            <a:pPr algn="l"/>
            <a:r>
              <a:rPr lang="en-US" sz="2800" b="0" i="0" dirty="0">
                <a:effectLst/>
                <a:latin typeface="Aptos" panose="020B0004020202020204" pitchFamily="34" charset="0"/>
              </a:rPr>
              <a:t>c) Mosaic AI Vector Search</a:t>
            </a:r>
          </a:p>
          <a:p>
            <a:pPr algn="l"/>
            <a:r>
              <a:rPr lang="en-US" sz="2800" b="0" i="0" dirty="0">
                <a:effectLst/>
                <a:latin typeface="Aptos" panose="020B0004020202020204" pitchFamily="34" charset="0"/>
              </a:rPr>
              <a:t>d) LangChain</a:t>
            </a:r>
          </a:p>
        </p:txBody>
      </p:sp>
      <p:sp>
        <p:nvSpPr>
          <p:cNvPr id="6" name="TextBox 5">
            <a:extLst>
              <a:ext uri="{FF2B5EF4-FFF2-40B4-BE49-F238E27FC236}">
                <a16:creationId xmlns:a16="http://schemas.microsoft.com/office/drawing/2014/main" id="{77D8E5DC-A0A6-43E8-2322-DBD847004FAB}"/>
              </a:ext>
            </a:extLst>
          </p:cNvPr>
          <p:cNvSpPr txBox="1"/>
          <p:nvPr/>
        </p:nvSpPr>
        <p:spPr>
          <a:xfrm>
            <a:off x="991913" y="4985321"/>
            <a:ext cx="10101755" cy="646331"/>
          </a:xfrm>
          <a:prstGeom prst="rect">
            <a:avLst/>
          </a:prstGeom>
          <a:noFill/>
        </p:spPr>
        <p:txBody>
          <a:bodyPr wrap="square">
            <a:spAutoFit/>
          </a:bodyPr>
          <a:lstStyle/>
          <a:p>
            <a:r>
              <a:rPr lang="en-US" b="0" i="0" dirty="0">
                <a:effectLst/>
                <a:latin typeface="fkGroteskNeue"/>
              </a:rPr>
              <a:t>Reason  - Unity Catalog enforces secure, centralized access control and auditability, essential for protecting sensitive data in RAG pipelines.</a:t>
            </a:r>
            <a:endParaRPr lang="en-US" dirty="0"/>
          </a:p>
        </p:txBody>
      </p:sp>
    </p:spTree>
    <p:extLst>
      <p:ext uri="{BB962C8B-B14F-4D97-AF65-F5344CB8AC3E}">
        <p14:creationId xmlns:p14="http://schemas.microsoft.com/office/powerpoint/2010/main" val="2242436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E330-872F-F1CF-ADC3-7C8209259DD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6591D1-B02E-D951-AC92-24709E4CAB42}"/>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3EDE9935-B2BB-33E4-DEB1-4AF4FF40757D}"/>
              </a:ext>
            </a:extLst>
          </p:cNvPr>
          <p:cNvSpPr>
            <a:spLocks noGrp="1"/>
          </p:cNvSpPr>
          <p:nvPr>
            <p:ph type="sldNum" sz="quarter" idx="12"/>
          </p:nvPr>
        </p:nvSpPr>
        <p:spPr/>
        <p:txBody>
          <a:bodyPr/>
          <a:lstStyle/>
          <a:p>
            <a:fld id="{65EE6106-BBA8-4E04-8268-D4E90756E95D}" type="slidenum">
              <a:rPr lang="en-IN" smtClean="0"/>
              <a:t>28</a:t>
            </a:fld>
            <a:endParaRPr lang="en-IN"/>
          </a:p>
        </p:txBody>
      </p:sp>
      <p:sp>
        <p:nvSpPr>
          <p:cNvPr id="5" name="TextBox 4">
            <a:extLst>
              <a:ext uri="{FF2B5EF4-FFF2-40B4-BE49-F238E27FC236}">
                <a16:creationId xmlns:a16="http://schemas.microsoft.com/office/drawing/2014/main" id="{DD400152-98D8-73BB-D682-7B7E6A0184D8}"/>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2. Your team uses Delta Lake for document and embedding storage and Mosaic AI Vector Search for fast queries. However, responses from the bot seem outdated after recent database updates. What is the most likely cause?</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Outdated LLM weights</a:t>
            </a:r>
          </a:p>
          <a:p>
            <a:pPr algn="l">
              <a:buNone/>
            </a:pPr>
            <a:r>
              <a:rPr lang="en-US" sz="2800" b="0" i="0" dirty="0">
                <a:effectLst/>
                <a:latin typeface="Aptos" panose="020B0004020202020204" pitchFamily="34" charset="0"/>
              </a:rPr>
              <a:t>b) Old embeddings need re-generation</a:t>
            </a:r>
          </a:p>
          <a:p>
            <a:pPr algn="l">
              <a:buNone/>
            </a:pPr>
            <a:r>
              <a:rPr lang="en-US" sz="2800" b="0" i="0" dirty="0">
                <a:effectLst/>
                <a:latin typeface="Aptos" panose="020B0004020202020204" pitchFamily="34" charset="0"/>
              </a:rPr>
              <a:t>c) Secret scopes not refreshed</a:t>
            </a:r>
          </a:p>
          <a:p>
            <a:pPr algn="l">
              <a:buNone/>
            </a:pPr>
            <a:r>
              <a:rPr lang="en-US" sz="2800" b="0" i="0" dirty="0">
                <a:effectLst/>
                <a:latin typeface="Aptos" panose="020B0004020202020204" pitchFamily="34" charset="0"/>
              </a:rPr>
              <a:t>d) Serverless endpoint misconfigured</a:t>
            </a:r>
          </a:p>
        </p:txBody>
      </p:sp>
    </p:spTree>
    <p:extLst>
      <p:ext uri="{BB962C8B-B14F-4D97-AF65-F5344CB8AC3E}">
        <p14:creationId xmlns:p14="http://schemas.microsoft.com/office/powerpoint/2010/main" val="2565559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877AE-E0DF-8BCA-591E-AC9C9AAA268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0A7F970-06E7-A313-0E0D-FEF25579B9A7}"/>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B256A419-325B-D48F-86D5-19B3AB936916}"/>
              </a:ext>
            </a:extLst>
          </p:cNvPr>
          <p:cNvSpPr>
            <a:spLocks noGrp="1"/>
          </p:cNvSpPr>
          <p:nvPr>
            <p:ph type="sldNum" sz="quarter" idx="12"/>
          </p:nvPr>
        </p:nvSpPr>
        <p:spPr/>
        <p:txBody>
          <a:bodyPr/>
          <a:lstStyle/>
          <a:p>
            <a:fld id="{65EE6106-BBA8-4E04-8268-D4E90756E95D}" type="slidenum">
              <a:rPr lang="en-IN" smtClean="0"/>
              <a:t>29</a:t>
            </a:fld>
            <a:endParaRPr lang="en-IN"/>
          </a:p>
        </p:txBody>
      </p:sp>
      <p:sp>
        <p:nvSpPr>
          <p:cNvPr id="5" name="TextBox 4">
            <a:extLst>
              <a:ext uri="{FF2B5EF4-FFF2-40B4-BE49-F238E27FC236}">
                <a16:creationId xmlns:a16="http://schemas.microsoft.com/office/drawing/2014/main" id="{CAC3A888-E193-2564-690B-8931454E5E71}"/>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2. Your team uses Delta Lake for document and embedding storage and Mosaic AI Vector Search for fast queries. However, responses from the bot seem outdated after recent database updates. What is the most likely cause?</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Outdated LLM weights</a:t>
            </a:r>
          </a:p>
          <a:p>
            <a:pPr algn="l">
              <a:buNone/>
            </a:pPr>
            <a:r>
              <a:rPr lang="en-US" sz="2800" b="0" i="0" dirty="0">
                <a:effectLst/>
                <a:highlight>
                  <a:srgbClr val="FFFF00"/>
                </a:highlight>
                <a:latin typeface="Aptos" panose="020B0004020202020204" pitchFamily="34" charset="0"/>
              </a:rPr>
              <a:t>b) Old embeddings need re-generation</a:t>
            </a:r>
          </a:p>
          <a:p>
            <a:pPr algn="l">
              <a:buNone/>
            </a:pPr>
            <a:r>
              <a:rPr lang="en-US" sz="2800" b="0" i="0" dirty="0">
                <a:effectLst/>
                <a:latin typeface="Aptos" panose="020B0004020202020204" pitchFamily="34" charset="0"/>
              </a:rPr>
              <a:t>c) Secret scopes not refreshed</a:t>
            </a:r>
          </a:p>
          <a:p>
            <a:pPr algn="l">
              <a:buNone/>
            </a:pPr>
            <a:r>
              <a:rPr lang="en-US" sz="2800" b="0" i="0" dirty="0">
                <a:effectLst/>
                <a:latin typeface="Aptos" panose="020B0004020202020204" pitchFamily="34" charset="0"/>
              </a:rPr>
              <a:t>d) Serverless endpoint misconfigured</a:t>
            </a:r>
          </a:p>
        </p:txBody>
      </p:sp>
      <p:sp>
        <p:nvSpPr>
          <p:cNvPr id="4" name="TextBox 3">
            <a:extLst>
              <a:ext uri="{FF2B5EF4-FFF2-40B4-BE49-F238E27FC236}">
                <a16:creationId xmlns:a16="http://schemas.microsoft.com/office/drawing/2014/main" id="{8DD23EFD-412B-74B1-30F9-863FE143A930}"/>
              </a:ext>
            </a:extLst>
          </p:cNvPr>
          <p:cNvSpPr txBox="1"/>
          <p:nvPr/>
        </p:nvSpPr>
        <p:spPr>
          <a:xfrm>
            <a:off x="991913" y="4985321"/>
            <a:ext cx="10101755" cy="646331"/>
          </a:xfrm>
          <a:prstGeom prst="rect">
            <a:avLst/>
          </a:prstGeom>
          <a:noFill/>
        </p:spPr>
        <p:txBody>
          <a:bodyPr wrap="square">
            <a:spAutoFit/>
          </a:bodyPr>
          <a:lstStyle/>
          <a:p>
            <a:r>
              <a:rPr lang="en-US" b="0" i="0" dirty="0">
                <a:effectLst/>
                <a:latin typeface="fkGroteskNeue"/>
              </a:rPr>
              <a:t>Reason  - </a:t>
            </a:r>
            <a:r>
              <a:rPr lang="en-US" dirty="0"/>
              <a:t>Old embeddings must be regenerated after database updates to ensure the retrieval search returns current and accurate information.</a:t>
            </a:r>
          </a:p>
        </p:txBody>
      </p:sp>
    </p:spTree>
    <p:extLst>
      <p:ext uri="{BB962C8B-B14F-4D97-AF65-F5344CB8AC3E}">
        <p14:creationId xmlns:p14="http://schemas.microsoft.com/office/powerpoint/2010/main" val="3573536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9488D-7084-0139-BCD1-A0E7E57B2DE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2976BE-9DD0-C72F-8C68-8FB55C77BE92}"/>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D1AB42F8-E732-77FF-4648-84E90CEB33B9}"/>
              </a:ext>
            </a:extLst>
          </p:cNvPr>
          <p:cNvSpPr>
            <a:spLocks noGrp="1"/>
          </p:cNvSpPr>
          <p:nvPr>
            <p:ph type="sldNum" sz="quarter" idx="12"/>
          </p:nvPr>
        </p:nvSpPr>
        <p:spPr/>
        <p:txBody>
          <a:bodyPr/>
          <a:lstStyle/>
          <a:p>
            <a:fld id="{65EE6106-BBA8-4E04-8268-D4E90756E95D}" type="slidenum">
              <a:rPr lang="en-IN" smtClean="0"/>
              <a:t>30</a:t>
            </a:fld>
            <a:endParaRPr lang="en-IN"/>
          </a:p>
        </p:txBody>
      </p:sp>
      <p:sp>
        <p:nvSpPr>
          <p:cNvPr id="5" name="TextBox 4">
            <a:extLst>
              <a:ext uri="{FF2B5EF4-FFF2-40B4-BE49-F238E27FC236}">
                <a16:creationId xmlns:a16="http://schemas.microsoft.com/office/drawing/2014/main" id="{EACFC35A-7215-1341-EB01-058672D5C04C}"/>
              </a:ext>
            </a:extLst>
          </p:cNvPr>
          <p:cNvSpPr txBox="1"/>
          <p:nvPr/>
        </p:nvSpPr>
        <p:spPr>
          <a:xfrm>
            <a:off x="792216" y="477569"/>
            <a:ext cx="10101755" cy="3539430"/>
          </a:xfrm>
          <a:prstGeom prst="rect">
            <a:avLst/>
          </a:prstGeom>
          <a:noFill/>
        </p:spPr>
        <p:txBody>
          <a:bodyPr wrap="square">
            <a:spAutoFit/>
          </a:bodyPr>
          <a:lstStyle/>
          <a:p>
            <a:pPr algn="l">
              <a:buNone/>
            </a:pPr>
            <a:r>
              <a:rPr lang="en-US" sz="2800" dirty="0">
                <a:latin typeface="Aptos" panose="020B0004020202020204" pitchFamily="34" charset="0"/>
              </a:rPr>
              <a:t>3</a:t>
            </a:r>
            <a:r>
              <a:rPr lang="en-US" sz="2800" b="0" i="0" dirty="0">
                <a:effectLst/>
                <a:latin typeface="Aptos" panose="020B0004020202020204" pitchFamily="34" charset="0"/>
              </a:rPr>
              <a:t>. Consider a highly-regulated financial environment. Why would a RAG-enhanced LLM be more suitable than a traditional LLM for explainability in audit scenarios?</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It guarantees zero hallucination</a:t>
            </a:r>
          </a:p>
          <a:p>
            <a:pPr algn="l">
              <a:buNone/>
            </a:pPr>
            <a:r>
              <a:rPr lang="en-US" sz="2800" dirty="0">
                <a:latin typeface="Aptos" panose="020B0004020202020204" pitchFamily="34" charset="0"/>
              </a:rPr>
              <a:t>b</a:t>
            </a:r>
            <a:r>
              <a:rPr lang="en-US" sz="2800" b="0" i="0" dirty="0">
                <a:effectLst/>
                <a:latin typeface="Aptos" panose="020B0004020202020204" pitchFamily="34" charset="0"/>
              </a:rPr>
              <a:t>) It disables use of enterprise knowledge</a:t>
            </a:r>
          </a:p>
          <a:p>
            <a:pPr algn="l">
              <a:buNone/>
            </a:pPr>
            <a:r>
              <a:rPr lang="en-US" sz="2800" dirty="0">
                <a:latin typeface="Aptos" panose="020B0004020202020204" pitchFamily="34" charset="0"/>
              </a:rPr>
              <a:t>c</a:t>
            </a:r>
            <a:r>
              <a:rPr lang="en-US" sz="2800" b="0" i="0" dirty="0">
                <a:effectLst/>
                <a:latin typeface="Aptos" panose="020B0004020202020204" pitchFamily="34" charset="0"/>
              </a:rPr>
              <a:t>) Training data is always up to date</a:t>
            </a:r>
          </a:p>
          <a:p>
            <a:r>
              <a:rPr lang="en-US" sz="2800" dirty="0">
                <a:latin typeface="Aptos" panose="020B0004020202020204" pitchFamily="34" charset="0"/>
              </a:rPr>
              <a:t>d) Retrieval steps allow document traceability</a:t>
            </a:r>
          </a:p>
        </p:txBody>
      </p:sp>
    </p:spTree>
    <p:extLst>
      <p:ext uri="{BB962C8B-B14F-4D97-AF65-F5344CB8AC3E}">
        <p14:creationId xmlns:p14="http://schemas.microsoft.com/office/powerpoint/2010/main" val="2742814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32CBD-43D2-AD9A-FF7B-C5B290BB36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8CF772-1BC6-3CAD-BF61-985D21B63FEB}"/>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E57BEE90-70A8-5199-52B4-A9C357AF97AC}"/>
              </a:ext>
            </a:extLst>
          </p:cNvPr>
          <p:cNvSpPr>
            <a:spLocks noGrp="1"/>
          </p:cNvSpPr>
          <p:nvPr>
            <p:ph type="sldNum" sz="quarter" idx="12"/>
          </p:nvPr>
        </p:nvSpPr>
        <p:spPr/>
        <p:txBody>
          <a:bodyPr/>
          <a:lstStyle/>
          <a:p>
            <a:fld id="{65EE6106-BBA8-4E04-8268-D4E90756E95D}" type="slidenum">
              <a:rPr lang="en-IN" smtClean="0"/>
              <a:t>31</a:t>
            </a:fld>
            <a:endParaRPr lang="en-IN"/>
          </a:p>
        </p:txBody>
      </p:sp>
      <p:sp>
        <p:nvSpPr>
          <p:cNvPr id="5" name="TextBox 4">
            <a:extLst>
              <a:ext uri="{FF2B5EF4-FFF2-40B4-BE49-F238E27FC236}">
                <a16:creationId xmlns:a16="http://schemas.microsoft.com/office/drawing/2014/main" id="{A808DC95-ACAE-EEE9-3C15-6A39847983AF}"/>
              </a:ext>
            </a:extLst>
          </p:cNvPr>
          <p:cNvSpPr txBox="1"/>
          <p:nvPr/>
        </p:nvSpPr>
        <p:spPr>
          <a:xfrm>
            <a:off x="792216" y="477569"/>
            <a:ext cx="10101755" cy="3539430"/>
          </a:xfrm>
          <a:prstGeom prst="rect">
            <a:avLst/>
          </a:prstGeom>
          <a:noFill/>
        </p:spPr>
        <p:txBody>
          <a:bodyPr wrap="square">
            <a:spAutoFit/>
          </a:bodyPr>
          <a:lstStyle/>
          <a:p>
            <a:pPr algn="l">
              <a:buNone/>
            </a:pPr>
            <a:r>
              <a:rPr lang="en-US" sz="2800" b="0" i="0" dirty="0">
                <a:effectLst/>
                <a:latin typeface="Aptos" panose="020B0004020202020204" pitchFamily="34" charset="0"/>
              </a:rPr>
              <a:t>3. Consider a highly-regulated financial environment. Why would a RAG-enhanced LLM be more suitable than a traditional LLM for explainability in audit scenarios?</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It guarantees zero hallucination</a:t>
            </a:r>
          </a:p>
          <a:p>
            <a:pPr algn="l">
              <a:buNone/>
            </a:pPr>
            <a:r>
              <a:rPr lang="en-US" sz="2800" dirty="0">
                <a:latin typeface="Aptos" panose="020B0004020202020204" pitchFamily="34" charset="0"/>
              </a:rPr>
              <a:t>b</a:t>
            </a:r>
            <a:r>
              <a:rPr lang="en-US" sz="2800" b="0" i="0" dirty="0">
                <a:effectLst/>
                <a:latin typeface="Aptos" panose="020B0004020202020204" pitchFamily="34" charset="0"/>
              </a:rPr>
              <a:t>) It disables use of enterprise knowledge</a:t>
            </a:r>
          </a:p>
          <a:p>
            <a:pPr algn="l">
              <a:buNone/>
            </a:pPr>
            <a:r>
              <a:rPr lang="en-US" sz="2800" dirty="0">
                <a:latin typeface="Aptos" panose="020B0004020202020204" pitchFamily="34" charset="0"/>
              </a:rPr>
              <a:t>c</a:t>
            </a:r>
            <a:r>
              <a:rPr lang="en-US" sz="2800" b="0" i="0" dirty="0">
                <a:effectLst/>
                <a:latin typeface="Aptos" panose="020B0004020202020204" pitchFamily="34" charset="0"/>
              </a:rPr>
              <a:t>) Training data is always up to date</a:t>
            </a:r>
          </a:p>
          <a:p>
            <a:r>
              <a:rPr lang="en-US" sz="2800" dirty="0">
                <a:highlight>
                  <a:srgbClr val="FFFF00"/>
                </a:highlight>
                <a:latin typeface="Aptos" panose="020B0004020202020204" pitchFamily="34" charset="0"/>
              </a:rPr>
              <a:t>d) Retrieval steps allow document traceability</a:t>
            </a:r>
          </a:p>
        </p:txBody>
      </p:sp>
      <p:sp>
        <p:nvSpPr>
          <p:cNvPr id="9" name="TextBox 8">
            <a:extLst>
              <a:ext uri="{FF2B5EF4-FFF2-40B4-BE49-F238E27FC236}">
                <a16:creationId xmlns:a16="http://schemas.microsoft.com/office/drawing/2014/main" id="{6649EAC0-57AD-16FB-1701-45F7086C90BE}"/>
              </a:ext>
            </a:extLst>
          </p:cNvPr>
          <p:cNvSpPr txBox="1"/>
          <p:nvPr/>
        </p:nvSpPr>
        <p:spPr>
          <a:xfrm>
            <a:off x="991913" y="4985321"/>
            <a:ext cx="10101755" cy="646331"/>
          </a:xfrm>
          <a:prstGeom prst="rect">
            <a:avLst/>
          </a:prstGeom>
          <a:noFill/>
        </p:spPr>
        <p:txBody>
          <a:bodyPr wrap="square">
            <a:spAutoFit/>
          </a:bodyPr>
          <a:lstStyle/>
          <a:p>
            <a:r>
              <a:rPr lang="en-US" b="0" i="0" dirty="0">
                <a:effectLst/>
                <a:latin typeface="fkGroteskNeue"/>
              </a:rPr>
              <a:t>Reason  </a:t>
            </a:r>
            <a:r>
              <a:rPr lang="en-US" dirty="0">
                <a:latin typeface="fkGroteskNeue"/>
              </a:rPr>
              <a:t>- RAG-enhanced LLMs allow users to trace answers directly to retrieved documents, meeting high explainability demands for audits.</a:t>
            </a:r>
            <a:endParaRPr lang="en-US" dirty="0"/>
          </a:p>
        </p:txBody>
      </p:sp>
    </p:spTree>
    <p:extLst>
      <p:ext uri="{BB962C8B-B14F-4D97-AF65-F5344CB8AC3E}">
        <p14:creationId xmlns:p14="http://schemas.microsoft.com/office/powerpoint/2010/main" val="605440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FD124-3037-DEFC-2786-0F1CABCBA35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C538CB-517C-43F0-7061-AB2048269E98}"/>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4FA8513D-DEE4-AE82-D733-23EF2FD82AB0}"/>
              </a:ext>
            </a:extLst>
          </p:cNvPr>
          <p:cNvSpPr>
            <a:spLocks noGrp="1"/>
          </p:cNvSpPr>
          <p:nvPr>
            <p:ph type="sldNum" sz="quarter" idx="12"/>
          </p:nvPr>
        </p:nvSpPr>
        <p:spPr/>
        <p:txBody>
          <a:bodyPr/>
          <a:lstStyle/>
          <a:p>
            <a:fld id="{65EE6106-BBA8-4E04-8268-D4E90756E95D}" type="slidenum">
              <a:rPr lang="en-IN" smtClean="0"/>
              <a:t>32</a:t>
            </a:fld>
            <a:endParaRPr lang="en-IN"/>
          </a:p>
        </p:txBody>
      </p:sp>
      <p:sp>
        <p:nvSpPr>
          <p:cNvPr id="5" name="TextBox 4">
            <a:extLst>
              <a:ext uri="{FF2B5EF4-FFF2-40B4-BE49-F238E27FC236}">
                <a16:creationId xmlns:a16="http://schemas.microsoft.com/office/drawing/2014/main" id="{E7FFADD1-34DF-55C6-53ED-DBE26507DECE}"/>
              </a:ext>
            </a:extLst>
          </p:cNvPr>
          <p:cNvSpPr txBox="1"/>
          <p:nvPr/>
        </p:nvSpPr>
        <p:spPr>
          <a:xfrm>
            <a:off x="792216" y="477569"/>
            <a:ext cx="10101755" cy="3970318"/>
          </a:xfrm>
          <a:prstGeom prst="rect">
            <a:avLst/>
          </a:prstGeom>
          <a:noFill/>
        </p:spPr>
        <p:txBody>
          <a:bodyPr wrap="square">
            <a:spAutoFit/>
          </a:bodyPr>
          <a:lstStyle/>
          <a:p>
            <a:pPr algn="l">
              <a:buNone/>
            </a:pPr>
            <a:r>
              <a:rPr lang="en-US" sz="2800" dirty="0">
                <a:latin typeface="Aptos" panose="020B0004020202020204" pitchFamily="34" charset="0"/>
              </a:rPr>
              <a:t>4</a:t>
            </a:r>
            <a:r>
              <a:rPr lang="en-US" sz="2800" b="0" i="0" dirty="0">
                <a:effectLst/>
                <a:latin typeface="Aptos" panose="020B0004020202020204" pitchFamily="34" charset="0"/>
              </a:rPr>
              <a:t>. A user reports hallucinations in generated answers despite using a well-tuned LLM endpoint. Which RAG pipeline enhancement is most effective to lower hallucination rates for enterprise Q&amp;A?</a:t>
            </a:r>
          </a:p>
          <a:p>
            <a:pPr algn="l">
              <a:buNone/>
            </a:pPr>
            <a:endParaRPr lang="en-US" sz="2800" b="0" i="0" dirty="0">
              <a:effectLst/>
              <a:latin typeface="Aptos" panose="020B0004020202020204" pitchFamily="34" charset="0"/>
            </a:endParaRPr>
          </a:p>
          <a:p>
            <a:r>
              <a:rPr lang="en-US" sz="2800" b="0" i="0" dirty="0">
                <a:effectLst/>
                <a:latin typeface="Aptos" panose="020B0004020202020204" pitchFamily="34" charset="0"/>
              </a:rPr>
              <a:t>a)</a:t>
            </a:r>
            <a:r>
              <a:rPr lang="en-US" sz="2800" dirty="0">
                <a:latin typeface="Aptos" panose="020B0004020202020204" pitchFamily="34" charset="0"/>
              </a:rPr>
              <a:t> Use dynamic, live retrieval from enterprise sources</a:t>
            </a:r>
            <a:r>
              <a:rPr lang="en-US" sz="2800" b="0" i="0" dirty="0">
                <a:effectLst/>
                <a:latin typeface="Aptos" panose="020B0004020202020204" pitchFamily="34" charset="0"/>
              </a:rPr>
              <a:t> </a:t>
            </a:r>
          </a:p>
          <a:p>
            <a:pPr algn="l">
              <a:buNone/>
            </a:pPr>
            <a:r>
              <a:rPr lang="en-US" sz="2800" b="0" i="0" dirty="0">
                <a:effectLst/>
                <a:latin typeface="Aptos" panose="020B0004020202020204" pitchFamily="34" charset="0"/>
              </a:rPr>
              <a:t>b) Rely on fixed training data</a:t>
            </a:r>
          </a:p>
          <a:p>
            <a:pPr algn="l">
              <a:buNone/>
            </a:pPr>
            <a:r>
              <a:rPr lang="en-US" sz="2800" b="0" i="0" dirty="0">
                <a:effectLst/>
                <a:latin typeface="Aptos" panose="020B0004020202020204" pitchFamily="34" charset="0"/>
              </a:rPr>
              <a:t>c) Add more metadata in Delta Lake</a:t>
            </a:r>
          </a:p>
          <a:p>
            <a:pPr algn="l">
              <a:buNone/>
            </a:pPr>
            <a:r>
              <a:rPr lang="en-US" sz="2800" b="0" i="0" dirty="0">
                <a:effectLst/>
                <a:latin typeface="Aptos" panose="020B0004020202020204" pitchFamily="34" charset="0"/>
              </a:rPr>
              <a:t>d) Increase orchestration steps</a:t>
            </a:r>
            <a:endParaRPr lang="en-US" sz="2800" dirty="0">
              <a:highlight>
                <a:srgbClr val="FFFF00"/>
              </a:highlight>
              <a:latin typeface="Aptos" panose="020B0004020202020204" pitchFamily="34" charset="0"/>
            </a:endParaRPr>
          </a:p>
        </p:txBody>
      </p:sp>
    </p:spTree>
    <p:extLst>
      <p:ext uri="{BB962C8B-B14F-4D97-AF65-F5344CB8AC3E}">
        <p14:creationId xmlns:p14="http://schemas.microsoft.com/office/powerpoint/2010/main" val="3097322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FE97-97C7-D921-005E-7D6BC4AAD28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0611FA-69AF-A618-B615-71155DB20320}"/>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B30F17BC-0E38-A9B4-7220-ACDB0A5BA108}"/>
              </a:ext>
            </a:extLst>
          </p:cNvPr>
          <p:cNvSpPr>
            <a:spLocks noGrp="1"/>
          </p:cNvSpPr>
          <p:nvPr>
            <p:ph type="sldNum" sz="quarter" idx="12"/>
          </p:nvPr>
        </p:nvSpPr>
        <p:spPr/>
        <p:txBody>
          <a:bodyPr/>
          <a:lstStyle/>
          <a:p>
            <a:fld id="{65EE6106-BBA8-4E04-8268-D4E90756E95D}" type="slidenum">
              <a:rPr lang="en-IN" smtClean="0"/>
              <a:t>33</a:t>
            </a:fld>
            <a:endParaRPr lang="en-IN"/>
          </a:p>
        </p:txBody>
      </p:sp>
      <p:sp>
        <p:nvSpPr>
          <p:cNvPr id="5" name="TextBox 4">
            <a:extLst>
              <a:ext uri="{FF2B5EF4-FFF2-40B4-BE49-F238E27FC236}">
                <a16:creationId xmlns:a16="http://schemas.microsoft.com/office/drawing/2014/main" id="{1594324C-50D5-0461-E0E1-8C4DC5F22069}"/>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4. A user reports hallucinations in generated answers despite using a well-tuned LLM endpoint. Which RAG pipeline enhancement is most effective to lower hallucination rates for enterprise Q&amp;A?</a:t>
            </a:r>
          </a:p>
          <a:p>
            <a:pPr algn="l">
              <a:buNone/>
            </a:pPr>
            <a:endParaRPr lang="en-US" sz="2800" b="0" i="0" dirty="0">
              <a:effectLst/>
              <a:latin typeface="Aptos" panose="020B0004020202020204" pitchFamily="34" charset="0"/>
            </a:endParaRPr>
          </a:p>
          <a:p>
            <a:r>
              <a:rPr lang="en-US" sz="2800" b="0" i="0" dirty="0">
                <a:effectLst/>
                <a:highlight>
                  <a:srgbClr val="FFFF00"/>
                </a:highlight>
                <a:latin typeface="Aptos" panose="020B0004020202020204" pitchFamily="34" charset="0"/>
              </a:rPr>
              <a:t>a)</a:t>
            </a:r>
            <a:r>
              <a:rPr lang="en-US" sz="2800" dirty="0">
                <a:highlight>
                  <a:srgbClr val="FFFF00"/>
                </a:highlight>
                <a:latin typeface="Aptos" panose="020B0004020202020204" pitchFamily="34" charset="0"/>
              </a:rPr>
              <a:t> Use dynamic, live retrieval from enterprise sources</a:t>
            </a:r>
            <a:r>
              <a:rPr lang="en-US" sz="2800" b="0" i="0" dirty="0">
                <a:effectLst/>
                <a:highlight>
                  <a:srgbClr val="FFFF00"/>
                </a:highlight>
                <a:latin typeface="Aptos" panose="020B0004020202020204" pitchFamily="34" charset="0"/>
              </a:rPr>
              <a:t> </a:t>
            </a:r>
          </a:p>
          <a:p>
            <a:pPr algn="l">
              <a:buNone/>
            </a:pPr>
            <a:r>
              <a:rPr lang="en-US" sz="2800" b="0" i="0" dirty="0">
                <a:effectLst/>
                <a:latin typeface="Aptos" panose="020B0004020202020204" pitchFamily="34" charset="0"/>
              </a:rPr>
              <a:t>b) Rely on fixed training data</a:t>
            </a:r>
          </a:p>
          <a:p>
            <a:pPr algn="l">
              <a:buNone/>
            </a:pPr>
            <a:r>
              <a:rPr lang="en-US" sz="2800" b="0" i="0" dirty="0">
                <a:effectLst/>
                <a:latin typeface="Aptos" panose="020B0004020202020204" pitchFamily="34" charset="0"/>
              </a:rPr>
              <a:t>c) Add more metadata in Delta Lake</a:t>
            </a:r>
          </a:p>
          <a:p>
            <a:pPr algn="l">
              <a:buNone/>
            </a:pPr>
            <a:r>
              <a:rPr lang="en-US" sz="2800" b="0" i="0" dirty="0">
                <a:effectLst/>
                <a:latin typeface="Aptos" panose="020B0004020202020204" pitchFamily="34" charset="0"/>
              </a:rPr>
              <a:t>d) Increase orchestration steps</a:t>
            </a:r>
            <a:endParaRPr lang="en-US" sz="2800" dirty="0">
              <a:highlight>
                <a:srgbClr val="FFFF00"/>
              </a:highlight>
              <a:latin typeface="Aptos" panose="020B0004020202020204" pitchFamily="34" charset="0"/>
            </a:endParaRPr>
          </a:p>
        </p:txBody>
      </p:sp>
      <p:sp>
        <p:nvSpPr>
          <p:cNvPr id="4" name="TextBox 3">
            <a:extLst>
              <a:ext uri="{FF2B5EF4-FFF2-40B4-BE49-F238E27FC236}">
                <a16:creationId xmlns:a16="http://schemas.microsoft.com/office/drawing/2014/main" id="{7A68971F-9AF1-272E-F9A1-D9A7C75F0B86}"/>
              </a:ext>
            </a:extLst>
          </p:cNvPr>
          <p:cNvSpPr txBox="1"/>
          <p:nvPr/>
        </p:nvSpPr>
        <p:spPr>
          <a:xfrm>
            <a:off x="991913" y="4985321"/>
            <a:ext cx="10101755" cy="646331"/>
          </a:xfrm>
          <a:prstGeom prst="rect">
            <a:avLst/>
          </a:prstGeom>
          <a:noFill/>
        </p:spPr>
        <p:txBody>
          <a:bodyPr wrap="square">
            <a:spAutoFit/>
          </a:bodyPr>
          <a:lstStyle/>
          <a:p>
            <a:r>
              <a:rPr lang="en-US" b="0" i="0" dirty="0">
                <a:effectLst/>
                <a:latin typeface="fkGroteskNeue"/>
              </a:rPr>
              <a:t>Reason  </a:t>
            </a:r>
            <a:r>
              <a:rPr lang="en-US" dirty="0">
                <a:latin typeface="fkGroteskNeue"/>
              </a:rPr>
              <a:t>- </a:t>
            </a:r>
            <a:r>
              <a:rPr lang="en-US" dirty="0"/>
              <a:t>Live retrieval from dynamic enterprise sources ensures the model uses fresh, accurate data, thereby lowering hallucination rates.</a:t>
            </a:r>
          </a:p>
        </p:txBody>
      </p:sp>
    </p:spTree>
    <p:extLst>
      <p:ext uri="{BB962C8B-B14F-4D97-AF65-F5344CB8AC3E}">
        <p14:creationId xmlns:p14="http://schemas.microsoft.com/office/powerpoint/2010/main" val="3984543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DB57-735C-47AF-C073-4D0E7E14C00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C165E3-EFC2-C97B-DBBC-61C83458C181}"/>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AC1452A6-0010-3C06-3EF5-49B7286A624E}"/>
              </a:ext>
            </a:extLst>
          </p:cNvPr>
          <p:cNvSpPr>
            <a:spLocks noGrp="1"/>
          </p:cNvSpPr>
          <p:nvPr>
            <p:ph type="sldNum" sz="quarter" idx="12"/>
          </p:nvPr>
        </p:nvSpPr>
        <p:spPr/>
        <p:txBody>
          <a:bodyPr/>
          <a:lstStyle/>
          <a:p>
            <a:fld id="{65EE6106-BBA8-4E04-8268-D4E90756E95D}" type="slidenum">
              <a:rPr lang="en-IN" smtClean="0"/>
              <a:t>34</a:t>
            </a:fld>
            <a:endParaRPr lang="en-IN"/>
          </a:p>
        </p:txBody>
      </p:sp>
      <p:sp>
        <p:nvSpPr>
          <p:cNvPr id="5" name="TextBox 4">
            <a:extLst>
              <a:ext uri="{FF2B5EF4-FFF2-40B4-BE49-F238E27FC236}">
                <a16:creationId xmlns:a16="http://schemas.microsoft.com/office/drawing/2014/main" id="{D3909294-9A21-1F04-5A61-BA4BFCA36E71}"/>
              </a:ext>
            </a:extLst>
          </p:cNvPr>
          <p:cNvSpPr txBox="1"/>
          <p:nvPr/>
        </p:nvSpPr>
        <p:spPr>
          <a:xfrm>
            <a:off x="792216" y="477569"/>
            <a:ext cx="10101755" cy="3970318"/>
          </a:xfrm>
          <a:prstGeom prst="rect">
            <a:avLst/>
          </a:prstGeom>
          <a:noFill/>
        </p:spPr>
        <p:txBody>
          <a:bodyPr wrap="square">
            <a:spAutoFit/>
          </a:bodyPr>
          <a:lstStyle/>
          <a:p>
            <a:pPr algn="l">
              <a:buNone/>
            </a:pPr>
            <a:r>
              <a:rPr lang="en-US" sz="2800" b="0" i="0" dirty="0">
                <a:effectLst/>
                <a:latin typeface="Aptos" panose="020B0004020202020204" pitchFamily="34" charset="0"/>
              </a:rPr>
              <a:t>5. Your organization must frequently update document knowledge without LLM retraining. Which combination provides the most scalable architecture?</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Fine-tuning the LLM and Unity Catalog</a:t>
            </a:r>
          </a:p>
          <a:p>
            <a:r>
              <a:rPr lang="en-US" sz="2800" b="0" i="0" dirty="0">
                <a:effectLst/>
                <a:latin typeface="Aptos" panose="020B0004020202020204" pitchFamily="34" charset="0"/>
              </a:rPr>
              <a:t>b</a:t>
            </a:r>
            <a:r>
              <a:rPr lang="en-US" sz="2800" dirty="0">
                <a:latin typeface="Aptos" panose="020B0004020202020204" pitchFamily="34" charset="0"/>
              </a:rPr>
              <a:t>) Live embedding updates in Delta Lake + Mosaic AI Vector Search</a:t>
            </a:r>
          </a:p>
          <a:p>
            <a:pPr algn="l">
              <a:buNone/>
            </a:pPr>
            <a:r>
              <a:rPr lang="en-US" sz="2800" b="0" i="0" dirty="0">
                <a:effectLst/>
                <a:latin typeface="Aptos" panose="020B0004020202020204" pitchFamily="34" charset="0"/>
              </a:rPr>
              <a:t>c) Static embeddings + </a:t>
            </a:r>
            <a:r>
              <a:rPr lang="en-US" sz="2800" b="0" i="0" dirty="0" err="1">
                <a:effectLst/>
                <a:latin typeface="Aptos" panose="020B0004020202020204" pitchFamily="34" charset="0"/>
              </a:rPr>
              <a:t>MLflow</a:t>
            </a: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d) Relying solely on orchestration layer changes</a:t>
            </a:r>
            <a:endParaRPr lang="en-US" sz="2800" dirty="0">
              <a:highlight>
                <a:srgbClr val="FFFF00"/>
              </a:highlight>
              <a:latin typeface="Aptos" panose="020B0004020202020204" pitchFamily="34" charset="0"/>
            </a:endParaRPr>
          </a:p>
        </p:txBody>
      </p:sp>
    </p:spTree>
    <p:extLst>
      <p:ext uri="{BB962C8B-B14F-4D97-AF65-F5344CB8AC3E}">
        <p14:creationId xmlns:p14="http://schemas.microsoft.com/office/powerpoint/2010/main" val="3678673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59F8-69C5-BE07-4FB2-2C847C44F8E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3F4379C-7C5C-010E-6CEB-17F860F4C6D9}"/>
              </a:ext>
            </a:extLst>
          </p:cNvPr>
          <p:cNvSpPr>
            <a:spLocks noGrp="1"/>
          </p:cNvSpPr>
          <p:nvPr>
            <p:ph type="ftr" sz="quarter" idx="11"/>
          </p:nvPr>
        </p:nvSpPr>
        <p:spPr/>
        <p:txBody>
          <a:bodyPr/>
          <a:lstStyle/>
          <a:p>
            <a:endParaRPr lang="en-IN"/>
          </a:p>
        </p:txBody>
      </p:sp>
      <p:sp>
        <p:nvSpPr>
          <p:cNvPr id="3" name="Slide Number Placeholder 2">
            <a:extLst>
              <a:ext uri="{FF2B5EF4-FFF2-40B4-BE49-F238E27FC236}">
                <a16:creationId xmlns:a16="http://schemas.microsoft.com/office/drawing/2014/main" id="{4A759DC5-86C0-4CEF-8088-5CEF8D5BB9F3}"/>
              </a:ext>
            </a:extLst>
          </p:cNvPr>
          <p:cNvSpPr>
            <a:spLocks noGrp="1"/>
          </p:cNvSpPr>
          <p:nvPr>
            <p:ph type="sldNum" sz="quarter" idx="12"/>
          </p:nvPr>
        </p:nvSpPr>
        <p:spPr/>
        <p:txBody>
          <a:bodyPr/>
          <a:lstStyle/>
          <a:p>
            <a:fld id="{65EE6106-BBA8-4E04-8268-D4E90756E95D}" type="slidenum">
              <a:rPr lang="en-IN" smtClean="0"/>
              <a:t>35</a:t>
            </a:fld>
            <a:endParaRPr lang="en-IN"/>
          </a:p>
        </p:txBody>
      </p:sp>
      <p:sp>
        <p:nvSpPr>
          <p:cNvPr id="5" name="TextBox 4">
            <a:extLst>
              <a:ext uri="{FF2B5EF4-FFF2-40B4-BE49-F238E27FC236}">
                <a16:creationId xmlns:a16="http://schemas.microsoft.com/office/drawing/2014/main" id="{AB0C3668-42A2-BC9C-DF78-7642400F2F8C}"/>
              </a:ext>
            </a:extLst>
          </p:cNvPr>
          <p:cNvSpPr txBox="1"/>
          <p:nvPr/>
        </p:nvSpPr>
        <p:spPr>
          <a:xfrm>
            <a:off x="792216" y="477569"/>
            <a:ext cx="10101755" cy="3970318"/>
          </a:xfrm>
          <a:prstGeom prst="rect">
            <a:avLst/>
          </a:prstGeom>
          <a:noFill/>
        </p:spPr>
        <p:txBody>
          <a:bodyPr wrap="square">
            <a:spAutoFit/>
          </a:bodyPr>
          <a:lstStyle/>
          <a:p>
            <a:pPr algn="l">
              <a:buNone/>
            </a:pPr>
            <a:r>
              <a:rPr lang="en-US" sz="2800" dirty="0">
                <a:latin typeface="Aptos" panose="020B0004020202020204" pitchFamily="34" charset="0"/>
              </a:rPr>
              <a:t>5</a:t>
            </a:r>
            <a:r>
              <a:rPr lang="en-US" sz="2800" b="0" i="0" dirty="0">
                <a:effectLst/>
                <a:latin typeface="Aptos" panose="020B0004020202020204" pitchFamily="34" charset="0"/>
              </a:rPr>
              <a:t>. Your organization must frequently update document knowledge without LLM retraining. Which combination provides the most scalable architecture?</a:t>
            </a:r>
          </a:p>
          <a:p>
            <a:pPr algn="l">
              <a:buNone/>
            </a:pP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a) Fine-tuning the LLM and Unity Catalog</a:t>
            </a:r>
          </a:p>
          <a:p>
            <a:r>
              <a:rPr lang="en-US" sz="2800" b="0" i="0" dirty="0">
                <a:effectLst/>
                <a:highlight>
                  <a:srgbClr val="FFFF00"/>
                </a:highlight>
                <a:latin typeface="Aptos" panose="020B0004020202020204" pitchFamily="34" charset="0"/>
              </a:rPr>
              <a:t>b</a:t>
            </a:r>
            <a:r>
              <a:rPr lang="en-US" sz="2800" dirty="0">
                <a:highlight>
                  <a:srgbClr val="FFFF00"/>
                </a:highlight>
                <a:latin typeface="Aptos" panose="020B0004020202020204" pitchFamily="34" charset="0"/>
              </a:rPr>
              <a:t>) Live embedding updates in Delta Lake + Mosaic AI Vector Search</a:t>
            </a:r>
          </a:p>
          <a:p>
            <a:pPr algn="l">
              <a:buNone/>
            </a:pPr>
            <a:r>
              <a:rPr lang="en-US" sz="2800" b="0" i="0" dirty="0">
                <a:effectLst/>
                <a:latin typeface="Aptos" panose="020B0004020202020204" pitchFamily="34" charset="0"/>
              </a:rPr>
              <a:t>c) Static embeddings + </a:t>
            </a:r>
            <a:r>
              <a:rPr lang="en-US" sz="2800" b="0" i="0" dirty="0" err="1">
                <a:effectLst/>
                <a:latin typeface="Aptos" panose="020B0004020202020204" pitchFamily="34" charset="0"/>
              </a:rPr>
              <a:t>MLflow</a:t>
            </a:r>
            <a:endParaRPr lang="en-US" sz="2800" b="0" i="0" dirty="0">
              <a:effectLst/>
              <a:latin typeface="Aptos" panose="020B0004020202020204" pitchFamily="34" charset="0"/>
            </a:endParaRPr>
          </a:p>
          <a:p>
            <a:pPr algn="l">
              <a:buNone/>
            </a:pPr>
            <a:r>
              <a:rPr lang="en-US" sz="2800" b="0" i="0" dirty="0">
                <a:effectLst/>
                <a:latin typeface="Aptos" panose="020B0004020202020204" pitchFamily="34" charset="0"/>
              </a:rPr>
              <a:t>d) Relying solely on orchestration layer changes</a:t>
            </a:r>
            <a:endParaRPr lang="en-US" sz="2800" dirty="0">
              <a:highlight>
                <a:srgbClr val="FFFF00"/>
              </a:highlight>
              <a:latin typeface="Aptos" panose="020B0004020202020204" pitchFamily="34" charset="0"/>
            </a:endParaRPr>
          </a:p>
        </p:txBody>
      </p:sp>
      <p:sp>
        <p:nvSpPr>
          <p:cNvPr id="6" name="TextBox 5">
            <a:extLst>
              <a:ext uri="{FF2B5EF4-FFF2-40B4-BE49-F238E27FC236}">
                <a16:creationId xmlns:a16="http://schemas.microsoft.com/office/drawing/2014/main" id="{32B4B56E-6132-3E3F-A25B-10CFF0C6C561}"/>
              </a:ext>
            </a:extLst>
          </p:cNvPr>
          <p:cNvSpPr txBox="1"/>
          <p:nvPr/>
        </p:nvSpPr>
        <p:spPr>
          <a:xfrm>
            <a:off x="792216" y="4699636"/>
            <a:ext cx="10742886" cy="1477328"/>
          </a:xfrm>
          <a:prstGeom prst="rect">
            <a:avLst/>
          </a:prstGeom>
          <a:noFill/>
        </p:spPr>
        <p:txBody>
          <a:bodyPr wrap="square">
            <a:spAutoFit/>
          </a:bodyPr>
          <a:lstStyle/>
          <a:p>
            <a:r>
              <a:rPr lang="en-US" dirty="0"/>
              <a:t>Reason -  Live embedding updates in Delta Lake combined with Mosaic AI Vector Search allow you to add or modify knowledge instantly—any new data or documents are embedded and indexed on the fly, making them immediately searchable by the vector database without needing to retrain the LLM itself. This approach ensures your generative AI system always works with the latest information and is highly scalable for frequent updates requiring minimal operational overhead.</a:t>
            </a:r>
          </a:p>
        </p:txBody>
      </p:sp>
    </p:spTree>
    <p:extLst>
      <p:ext uri="{BB962C8B-B14F-4D97-AF65-F5344CB8AC3E}">
        <p14:creationId xmlns:p14="http://schemas.microsoft.com/office/powerpoint/2010/main" val="570010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8F45CF5-2717-DC65-E1B1-09E8CD0578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20" r="1519"/>
          <a:stretch>
            <a:fillRect/>
          </a:stretch>
        </p:blipFill>
        <p:spPr bwMode="auto">
          <a:xfrm>
            <a:off x="5679375" y="200114"/>
            <a:ext cx="6512625" cy="5058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C9777D-4CDB-FA24-E82D-DE9276D393AF}"/>
              </a:ext>
            </a:extLst>
          </p:cNvPr>
          <p:cNvSpPr txBox="1"/>
          <p:nvPr/>
        </p:nvSpPr>
        <p:spPr>
          <a:xfrm>
            <a:off x="6500648" y="5194782"/>
            <a:ext cx="5155324" cy="1294072"/>
          </a:xfrm>
          <a:prstGeom prst="rect">
            <a:avLst/>
          </a:prstGeom>
          <a:noFill/>
        </p:spPr>
        <p:txBody>
          <a:bodyPr wrap="square">
            <a:spAutoFit/>
          </a:bodyPr>
          <a:lstStyle/>
          <a:p>
            <a:pPr algn="l">
              <a:lnSpc>
                <a:spcPts val="2250"/>
              </a:lnSpc>
              <a:buNone/>
            </a:pPr>
            <a:r>
              <a:rPr lang="en-US" sz="1700" b="1" i="0" dirty="0">
                <a:solidFill>
                  <a:srgbClr val="242424"/>
                </a:solidFill>
                <a:effectLst/>
                <a:latin typeface="+mj-lt"/>
              </a:rPr>
              <a:t>5. Send the Prompt to the LLM</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Use </a:t>
            </a:r>
            <a:r>
              <a:rPr lang="en-US" sz="1700" b="1" i="0" dirty="0" err="1">
                <a:solidFill>
                  <a:srgbClr val="242424"/>
                </a:solidFill>
                <a:effectLst/>
                <a:latin typeface="+mj-lt"/>
              </a:rPr>
              <a:t>ChatDatabricks</a:t>
            </a:r>
            <a:r>
              <a:rPr lang="en-US" sz="1700" b="0" i="0" dirty="0">
                <a:solidFill>
                  <a:srgbClr val="242424"/>
                </a:solidFill>
                <a:effectLst/>
                <a:latin typeface="+mj-lt"/>
              </a:rPr>
              <a:t> or a registered serving endpoint.</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The LLM returns a grounded, accurate, and personalized response.</a:t>
            </a:r>
          </a:p>
        </p:txBody>
      </p:sp>
      <p:sp>
        <p:nvSpPr>
          <p:cNvPr id="3" name="TextBox 2">
            <a:extLst>
              <a:ext uri="{FF2B5EF4-FFF2-40B4-BE49-F238E27FC236}">
                <a16:creationId xmlns:a16="http://schemas.microsoft.com/office/drawing/2014/main" id="{B3CC3441-079B-07A0-AD7D-2291ADD1A01E}"/>
              </a:ext>
            </a:extLst>
          </p:cNvPr>
          <p:cNvSpPr txBox="1"/>
          <p:nvPr/>
        </p:nvSpPr>
        <p:spPr>
          <a:xfrm>
            <a:off x="94594" y="0"/>
            <a:ext cx="5870027" cy="7081234"/>
          </a:xfrm>
          <a:prstGeom prst="rect">
            <a:avLst/>
          </a:prstGeom>
          <a:noFill/>
        </p:spPr>
        <p:txBody>
          <a:bodyPr wrap="square">
            <a:spAutoFit/>
          </a:bodyPr>
          <a:lstStyle/>
          <a:p>
            <a:pPr algn="l">
              <a:lnSpc>
                <a:spcPts val="2250"/>
              </a:lnSpc>
              <a:buNone/>
            </a:pPr>
            <a:r>
              <a:rPr lang="en-US" sz="2400" b="1" i="0" dirty="0">
                <a:solidFill>
                  <a:srgbClr val="FB4E0B"/>
                </a:solidFill>
                <a:effectLst/>
                <a:latin typeface="+mj-lt"/>
              </a:rPr>
              <a:t>Step-by-Step RAG Workflow on Databricks</a:t>
            </a:r>
          </a:p>
          <a:p>
            <a:pPr algn="l">
              <a:lnSpc>
                <a:spcPts val="2250"/>
              </a:lnSpc>
              <a:buNone/>
            </a:pPr>
            <a:endParaRPr lang="en-US" sz="2400" b="1" i="0" dirty="0">
              <a:solidFill>
                <a:srgbClr val="FB4E0B"/>
              </a:solidFill>
              <a:effectLst/>
              <a:latin typeface="+mj-lt"/>
            </a:endParaRPr>
          </a:p>
          <a:p>
            <a:pPr algn="l">
              <a:lnSpc>
                <a:spcPts val="2250"/>
              </a:lnSpc>
              <a:buNone/>
            </a:pPr>
            <a:r>
              <a:rPr lang="en-US" b="1" i="0" dirty="0">
                <a:solidFill>
                  <a:srgbClr val="242424"/>
                </a:solidFill>
                <a:effectLst/>
                <a:latin typeface="+mj-lt"/>
              </a:rPr>
              <a:t>1. </a:t>
            </a:r>
            <a:r>
              <a:rPr lang="en-US" sz="1700" b="1" i="0" dirty="0">
                <a:solidFill>
                  <a:srgbClr val="242424"/>
                </a:solidFill>
                <a:effectLst/>
                <a:latin typeface="+mj-lt"/>
              </a:rPr>
              <a:t>Prepare and Chunk Documents</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Convert documents (PDFs, HTML, CSVs) into readable text.</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Chunk the content into </a:t>
            </a:r>
            <a:r>
              <a:rPr lang="en-US" sz="1700" b="1" i="0" dirty="0">
                <a:solidFill>
                  <a:srgbClr val="242424"/>
                </a:solidFill>
                <a:effectLst/>
                <a:latin typeface="+mj-lt"/>
              </a:rPr>
              <a:t>semantically meaningful</a:t>
            </a:r>
            <a:r>
              <a:rPr lang="en-US" sz="1700" b="0" i="0" dirty="0">
                <a:solidFill>
                  <a:srgbClr val="242424"/>
                </a:solidFill>
                <a:effectLst/>
                <a:latin typeface="+mj-lt"/>
              </a:rPr>
              <a:t> segments (e.g., paragraphs or sections).</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Add metadata like title, author, source, topic.</a:t>
            </a:r>
          </a:p>
          <a:p>
            <a:pPr algn="l">
              <a:lnSpc>
                <a:spcPts val="2250"/>
              </a:lnSpc>
              <a:buNone/>
            </a:pPr>
            <a:r>
              <a:rPr lang="en-US" sz="1700" b="1" i="0" dirty="0">
                <a:solidFill>
                  <a:srgbClr val="242424"/>
                </a:solidFill>
                <a:effectLst/>
                <a:latin typeface="+mj-lt"/>
              </a:rPr>
              <a:t>2. Generate Embeddings</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Use a model like </a:t>
            </a:r>
            <a:r>
              <a:rPr lang="en-US" sz="1700" b="0" i="0" dirty="0" err="1">
                <a:solidFill>
                  <a:srgbClr val="242424"/>
                </a:solidFill>
                <a:effectLst/>
                <a:latin typeface="+mj-lt"/>
              </a:rPr>
              <a:t>databricks</a:t>
            </a:r>
            <a:r>
              <a:rPr lang="en-US" sz="1700" b="0" i="0" dirty="0">
                <a:solidFill>
                  <a:srgbClr val="242424"/>
                </a:solidFill>
                <a:effectLst/>
                <a:latin typeface="+mj-lt"/>
              </a:rPr>
              <a:t>-</a:t>
            </a:r>
            <a:r>
              <a:rPr lang="en-US" sz="1700" b="0" i="0" dirty="0" err="1">
                <a:solidFill>
                  <a:srgbClr val="242424"/>
                </a:solidFill>
                <a:effectLst/>
                <a:latin typeface="+mj-lt"/>
              </a:rPr>
              <a:t>bge</a:t>
            </a:r>
            <a:r>
              <a:rPr lang="en-US" sz="1700" b="0" i="0" dirty="0">
                <a:solidFill>
                  <a:srgbClr val="242424"/>
                </a:solidFill>
                <a:effectLst/>
                <a:latin typeface="+mj-lt"/>
              </a:rPr>
              <a:t>-large-</a:t>
            </a:r>
            <a:r>
              <a:rPr lang="en-US" sz="1700" b="0" i="0" dirty="0" err="1">
                <a:solidFill>
                  <a:srgbClr val="242424"/>
                </a:solidFill>
                <a:effectLst/>
                <a:latin typeface="+mj-lt"/>
              </a:rPr>
              <a:t>en</a:t>
            </a:r>
            <a:r>
              <a:rPr lang="en-US" sz="1700" b="0" i="0" dirty="0">
                <a:solidFill>
                  <a:srgbClr val="242424"/>
                </a:solidFill>
                <a:effectLst/>
                <a:latin typeface="+mj-lt"/>
              </a:rPr>
              <a:t> to transform each chunk into a vector representation.</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These embeddings capture </a:t>
            </a:r>
            <a:r>
              <a:rPr lang="en-US" sz="1700" b="1" i="0" dirty="0">
                <a:solidFill>
                  <a:srgbClr val="242424"/>
                </a:solidFill>
                <a:effectLst/>
                <a:latin typeface="+mj-lt"/>
              </a:rPr>
              <a:t>semantic meaning</a:t>
            </a:r>
            <a:r>
              <a:rPr lang="en-US" sz="1700" b="0" i="0" dirty="0">
                <a:solidFill>
                  <a:srgbClr val="242424"/>
                </a:solidFill>
                <a:effectLst/>
                <a:latin typeface="+mj-lt"/>
              </a:rPr>
              <a:t> beyond keyword match.</a:t>
            </a:r>
          </a:p>
          <a:p>
            <a:pPr algn="l">
              <a:lnSpc>
                <a:spcPts val="2250"/>
              </a:lnSpc>
              <a:buNone/>
            </a:pPr>
            <a:r>
              <a:rPr lang="en-US" sz="1700" b="1" i="0" dirty="0">
                <a:solidFill>
                  <a:srgbClr val="242424"/>
                </a:solidFill>
                <a:effectLst/>
                <a:latin typeface="+mj-lt"/>
              </a:rPr>
              <a:t>3. Store Embeddings in a Vector Index</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Use </a:t>
            </a:r>
            <a:r>
              <a:rPr lang="en-US" sz="1700" b="1" i="0" dirty="0">
                <a:solidFill>
                  <a:srgbClr val="242424"/>
                </a:solidFill>
                <a:effectLst/>
                <a:latin typeface="+mj-lt"/>
              </a:rPr>
              <a:t>Delta Tables</a:t>
            </a:r>
            <a:r>
              <a:rPr lang="en-US" sz="1700" b="0" i="0" dirty="0">
                <a:solidFill>
                  <a:srgbClr val="242424"/>
                </a:solidFill>
                <a:effectLst/>
                <a:latin typeface="+mj-lt"/>
              </a:rPr>
              <a:t> to store chunk text, metadata, and embeddings.</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Enable </a:t>
            </a:r>
            <a:r>
              <a:rPr lang="en-US" sz="1700" b="1" i="0" dirty="0">
                <a:solidFill>
                  <a:srgbClr val="242424"/>
                </a:solidFill>
                <a:effectLst/>
                <a:latin typeface="+mj-lt"/>
              </a:rPr>
              <a:t>Change Data Feed (CDF)</a:t>
            </a:r>
            <a:r>
              <a:rPr lang="en-US" sz="1700" b="0" i="0" dirty="0">
                <a:solidFill>
                  <a:srgbClr val="242424"/>
                </a:solidFill>
                <a:effectLst/>
                <a:latin typeface="+mj-lt"/>
              </a:rPr>
              <a:t> for incremental updates.</a:t>
            </a:r>
          </a:p>
          <a:p>
            <a:pPr marL="285750" indent="-285750" algn="l">
              <a:lnSpc>
                <a:spcPts val="2400"/>
              </a:lnSpc>
              <a:buFont typeface="Arial" panose="020B0604020202020204" pitchFamily="34" charset="0"/>
              <a:buChar char="•"/>
            </a:pPr>
            <a:r>
              <a:rPr lang="en-US" sz="1700" b="0" i="0" dirty="0">
                <a:solidFill>
                  <a:srgbClr val="242424"/>
                </a:solidFill>
                <a:effectLst/>
                <a:latin typeface="+mj-lt"/>
              </a:rPr>
              <a:t>Register the Delta table with </a:t>
            </a:r>
            <a:r>
              <a:rPr lang="en-US" sz="1700" b="1" i="0" dirty="0">
                <a:solidFill>
                  <a:srgbClr val="242424"/>
                </a:solidFill>
                <a:effectLst/>
                <a:latin typeface="+mj-lt"/>
              </a:rPr>
              <a:t>Mosaic AI Vector Search</a:t>
            </a:r>
            <a:r>
              <a:rPr lang="en-US" sz="1700" b="0" i="0" dirty="0">
                <a:solidFill>
                  <a:srgbClr val="242424"/>
                </a:solidFill>
                <a:effectLst/>
                <a:latin typeface="+mj-lt"/>
              </a:rPr>
              <a:t>.</a:t>
            </a:r>
          </a:p>
          <a:p>
            <a:pPr>
              <a:lnSpc>
                <a:spcPts val="2250"/>
              </a:lnSpc>
            </a:pPr>
            <a:r>
              <a:rPr lang="en-US" sz="1700" b="1" dirty="0">
                <a:solidFill>
                  <a:srgbClr val="242424"/>
                </a:solidFill>
              </a:rPr>
              <a:t>4. Build a Prompt Constructor</a:t>
            </a:r>
          </a:p>
          <a:p>
            <a:pPr marL="285750" indent="-285750">
              <a:lnSpc>
                <a:spcPts val="2400"/>
              </a:lnSpc>
              <a:buFont typeface="Arial" panose="020B0604020202020204" pitchFamily="34" charset="0"/>
              <a:buChar char="•"/>
            </a:pPr>
            <a:r>
              <a:rPr lang="en-US" sz="1700" dirty="0">
                <a:solidFill>
                  <a:srgbClr val="242424"/>
                </a:solidFill>
              </a:rPr>
              <a:t>Accept the user query.</a:t>
            </a:r>
          </a:p>
          <a:p>
            <a:pPr marL="285750" indent="-285750">
              <a:lnSpc>
                <a:spcPts val="2400"/>
              </a:lnSpc>
              <a:buFont typeface="Arial" panose="020B0604020202020204" pitchFamily="34" charset="0"/>
              <a:buChar char="•"/>
            </a:pPr>
            <a:r>
              <a:rPr lang="en-US" sz="1700" dirty="0">
                <a:solidFill>
                  <a:srgbClr val="242424"/>
                </a:solidFill>
              </a:rPr>
              <a:t>Use vector similarity to retrieve top-K relevant chunks.</a:t>
            </a:r>
          </a:p>
          <a:p>
            <a:pPr marL="285750" indent="-285750">
              <a:lnSpc>
                <a:spcPts val="2400"/>
              </a:lnSpc>
              <a:buFont typeface="Arial" panose="020B0604020202020204" pitchFamily="34" charset="0"/>
              <a:buChar char="•"/>
            </a:pPr>
            <a:r>
              <a:rPr lang="en-US" sz="1700" dirty="0">
                <a:solidFill>
                  <a:srgbClr val="242424"/>
                </a:solidFill>
              </a:rPr>
              <a:t>Format them into a single structured prompt (e.g., with separators, citations).</a:t>
            </a:r>
          </a:p>
          <a:p>
            <a:pPr algn="l">
              <a:lnSpc>
                <a:spcPts val="2400"/>
              </a:lnSpc>
            </a:pPr>
            <a:endParaRPr lang="en-US" b="0" i="0" dirty="0">
              <a:solidFill>
                <a:srgbClr val="242424"/>
              </a:solidFill>
              <a:effectLst/>
              <a:latin typeface="+mj-lt"/>
            </a:endParaRPr>
          </a:p>
        </p:txBody>
      </p:sp>
    </p:spTree>
    <p:extLst>
      <p:ext uri="{BB962C8B-B14F-4D97-AF65-F5344CB8AC3E}">
        <p14:creationId xmlns:p14="http://schemas.microsoft.com/office/powerpoint/2010/main" val="272334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BDE131-8B29-1A62-8BA6-C01E4E0F5E1B}"/>
              </a:ext>
            </a:extLst>
          </p:cNvPr>
          <p:cNvSpPr txBox="1"/>
          <p:nvPr/>
        </p:nvSpPr>
        <p:spPr>
          <a:xfrm>
            <a:off x="792217" y="585677"/>
            <a:ext cx="6093372" cy="350673"/>
          </a:xfrm>
          <a:prstGeom prst="rect">
            <a:avLst/>
          </a:prstGeom>
          <a:noFill/>
        </p:spPr>
        <p:txBody>
          <a:bodyPr wrap="square">
            <a:spAutoFit/>
          </a:bodyPr>
          <a:lstStyle/>
          <a:p>
            <a:pPr algn="l">
              <a:lnSpc>
                <a:spcPts val="1800"/>
              </a:lnSpc>
              <a:buNone/>
            </a:pPr>
            <a:r>
              <a:rPr lang="en-US" sz="2400" b="1" i="0" dirty="0">
                <a:solidFill>
                  <a:srgbClr val="FB4E0B"/>
                </a:solidFill>
                <a:effectLst/>
                <a:latin typeface="+mj-lt"/>
              </a:rPr>
              <a:t>Code Walkthrough: Building a RAG System</a:t>
            </a:r>
          </a:p>
        </p:txBody>
      </p:sp>
      <p:pic>
        <p:nvPicPr>
          <p:cNvPr id="7" name="Picture 6" descr="A screenshot of a computer">
            <a:extLst>
              <a:ext uri="{FF2B5EF4-FFF2-40B4-BE49-F238E27FC236}">
                <a16:creationId xmlns:a16="http://schemas.microsoft.com/office/drawing/2014/main" id="{5ECD4766-3571-D765-5471-7CD9B6568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216" y="1188971"/>
            <a:ext cx="6939967" cy="5306421"/>
          </a:xfrm>
          <a:prstGeom prst="rect">
            <a:avLst/>
          </a:prstGeom>
        </p:spPr>
      </p:pic>
      <p:sp>
        <p:nvSpPr>
          <p:cNvPr id="9" name="TextBox 8">
            <a:extLst>
              <a:ext uri="{FF2B5EF4-FFF2-40B4-BE49-F238E27FC236}">
                <a16:creationId xmlns:a16="http://schemas.microsoft.com/office/drawing/2014/main" id="{75C933BE-8EB2-F510-3C10-87E043F6ACDB}"/>
              </a:ext>
            </a:extLst>
          </p:cNvPr>
          <p:cNvSpPr txBox="1"/>
          <p:nvPr/>
        </p:nvSpPr>
        <p:spPr>
          <a:xfrm>
            <a:off x="7901662" y="1415374"/>
            <a:ext cx="4080130" cy="492443"/>
          </a:xfrm>
          <a:prstGeom prst="rect">
            <a:avLst/>
          </a:prstGeom>
          <a:noFill/>
        </p:spPr>
        <p:txBody>
          <a:bodyPr wrap="square">
            <a:spAutoFit/>
          </a:bodyPr>
          <a:lstStyle/>
          <a:p>
            <a:r>
              <a:rPr lang="en-US" sz="1300" dirty="0"/>
              <a:t>Necessary libraries from LangChain and Databricks for embeddings, vector search, and chain assembly:</a:t>
            </a:r>
            <a:endParaRPr lang="en-US" sz="1300" b="0" i="0" dirty="0">
              <a:solidFill>
                <a:srgbClr val="242424"/>
              </a:solidFill>
              <a:effectLst/>
              <a:latin typeface="+mj-lt"/>
            </a:endParaRPr>
          </a:p>
        </p:txBody>
      </p:sp>
      <p:sp>
        <p:nvSpPr>
          <p:cNvPr id="2" name="Rectangle 1">
            <a:extLst>
              <a:ext uri="{FF2B5EF4-FFF2-40B4-BE49-F238E27FC236}">
                <a16:creationId xmlns:a16="http://schemas.microsoft.com/office/drawing/2014/main" id="{9C824D29-4BE4-B6DC-A766-D0194B73D921}"/>
              </a:ext>
            </a:extLst>
          </p:cNvPr>
          <p:cNvSpPr/>
          <p:nvPr/>
        </p:nvSpPr>
        <p:spPr>
          <a:xfrm>
            <a:off x="961697" y="1529255"/>
            <a:ext cx="5249917" cy="867104"/>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89BDF34-6162-FF8C-28DF-B16FA5CF6514}"/>
              </a:ext>
            </a:extLst>
          </p:cNvPr>
          <p:cNvCxnSpPr/>
          <p:nvPr/>
        </p:nvCxnSpPr>
        <p:spPr>
          <a:xfrm>
            <a:off x="6211614" y="1671145"/>
            <a:ext cx="1690050"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E62D0C9-3E3A-5C88-05FA-8EB0718BA563}"/>
              </a:ext>
            </a:extLst>
          </p:cNvPr>
          <p:cNvSpPr/>
          <p:nvPr/>
        </p:nvSpPr>
        <p:spPr>
          <a:xfrm>
            <a:off x="961697" y="2569781"/>
            <a:ext cx="6653048" cy="480102"/>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90BBCBC8-E623-98FB-E7DF-FEA29349FF26}"/>
              </a:ext>
            </a:extLst>
          </p:cNvPr>
          <p:cNvCxnSpPr>
            <a:cxnSpLocks/>
          </p:cNvCxnSpPr>
          <p:nvPr/>
        </p:nvCxnSpPr>
        <p:spPr>
          <a:xfrm>
            <a:off x="7614745" y="2864069"/>
            <a:ext cx="286919"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C057D63-51DD-0A24-258F-A36ACA58321C}"/>
              </a:ext>
            </a:extLst>
          </p:cNvPr>
          <p:cNvSpPr txBox="1"/>
          <p:nvPr/>
        </p:nvSpPr>
        <p:spPr>
          <a:xfrm>
            <a:off x="7869193" y="2373344"/>
            <a:ext cx="4080130" cy="892552"/>
          </a:xfrm>
          <a:prstGeom prst="rect">
            <a:avLst/>
          </a:prstGeom>
          <a:noFill/>
        </p:spPr>
        <p:txBody>
          <a:bodyPr wrap="square">
            <a:spAutoFit/>
          </a:bodyPr>
          <a:lstStyle/>
          <a:p>
            <a:r>
              <a:rPr lang="en-US" sz="1300" dirty="0"/>
              <a:t>This initializes a vector search instance tied to a specific index in Databricks, enabling semantic document retrieval using </a:t>
            </a:r>
            <a:r>
              <a:rPr lang="en-US" sz="1300" dirty="0" err="1"/>
              <a:t>MLflow</a:t>
            </a:r>
            <a:r>
              <a:rPr lang="en-US" sz="1300" dirty="0"/>
              <a:t>-powered embeddings.</a:t>
            </a:r>
            <a:endParaRPr lang="en-US" sz="1300" b="0" i="0" dirty="0">
              <a:solidFill>
                <a:srgbClr val="242424"/>
              </a:solidFill>
              <a:effectLst/>
              <a:latin typeface="+mj-lt"/>
            </a:endParaRPr>
          </a:p>
        </p:txBody>
      </p:sp>
      <p:sp>
        <p:nvSpPr>
          <p:cNvPr id="15" name="TextBox 14">
            <a:extLst>
              <a:ext uri="{FF2B5EF4-FFF2-40B4-BE49-F238E27FC236}">
                <a16:creationId xmlns:a16="http://schemas.microsoft.com/office/drawing/2014/main" id="{7678022D-A2D5-3B30-C466-5BD0D134DEDC}"/>
              </a:ext>
            </a:extLst>
          </p:cNvPr>
          <p:cNvSpPr txBox="1"/>
          <p:nvPr/>
        </p:nvSpPr>
        <p:spPr>
          <a:xfrm>
            <a:off x="7901663" y="3211060"/>
            <a:ext cx="4080130" cy="492443"/>
          </a:xfrm>
          <a:prstGeom prst="rect">
            <a:avLst/>
          </a:prstGeom>
          <a:noFill/>
        </p:spPr>
        <p:txBody>
          <a:bodyPr wrap="square">
            <a:spAutoFit/>
          </a:bodyPr>
          <a:lstStyle/>
          <a:p>
            <a:r>
              <a:rPr lang="en-US" sz="1300" dirty="0">
                <a:latin typeface="fkGroteskNeue"/>
              </a:rPr>
              <a:t>A connection is made to a language model hosted on Databricks, specifying the endpoint for transactions.</a:t>
            </a:r>
            <a:endParaRPr lang="en-US" sz="1300" dirty="0"/>
          </a:p>
        </p:txBody>
      </p:sp>
      <p:sp>
        <p:nvSpPr>
          <p:cNvPr id="16" name="Rectangle 15">
            <a:extLst>
              <a:ext uri="{FF2B5EF4-FFF2-40B4-BE49-F238E27FC236}">
                <a16:creationId xmlns:a16="http://schemas.microsoft.com/office/drawing/2014/main" id="{0DB74796-2B4D-A2DB-14F2-AAE2C1C82EF6}"/>
              </a:ext>
            </a:extLst>
          </p:cNvPr>
          <p:cNvSpPr/>
          <p:nvPr/>
        </p:nvSpPr>
        <p:spPr>
          <a:xfrm>
            <a:off x="961697" y="3223308"/>
            <a:ext cx="6653048" cy="424986"/>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A803B3B-09C3-256C-F760-8A60A6071EEC}"/>
              </a:ext>
            </a:extLst>
          </p:cNvPr>
          <p:cNvCxnSpPr>
            <a:cxnSpLocks/>
          </p:cNvCxnSpPr>
          <p:nvPr/>
        </p:nvCxnSpPr>
        <p:spPr>
          <a:xfrm>
            <a:off x="7614745" y="3429000"/>
            <a:ext cx="286919"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56C4AFE-8433-97AE-7242-418B2D38173B}"/>
              </a:ext>
            </a:extLst>
          </p:cNvPr>
          <p:cNvSpPr/>
          <p:nvPr/>
        </p:nvSpPr>
        <p:spPr>
          <a:xfrm>
            <a:off x="961697" y="3830928"/>
            <a:ext cx="6653048" cy="1322537"/>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85BE77A2-9246-AC84-342B-7824597F7CA7}"/>
              </a:ext>
            </a:extLst>
          </p:cNvPr>
          <p:cNvCxnSpPr>
            <a:cxnSpLocks/>
          </p:cNvCxnSpPr>
          <p:nvPr/>
        </p:nvCxnSpPr>
        <p:spPr>
          <a:xfrm>
            <a:off x="7614745" y="4509587"/>
            <a:ext cx="286919"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38D67F9-1DE6-3693-7081-45F22FF51DB7}"/>
              </a:ext>
            </a:extLst>
          </p:cNvPr>
          <p:cNvSpPr txBox="1"/>
          <p:nvPr/>
        </p:nvSpPr>
        <p:spPr>
          <a:xfrm>
            <a:off x="7869192" y="3984364"/>
            <a:ext cx="4080130" cy="1092607"/>
          </a:xfrm>
          <a:prstGeom prst="rect">
            <a:avLst/>
          </a:prstGeom>
          <a:noFill/>
        </p:spPr>
        <p:txBody>
          <a:bodyPr wrap="square">
            <a:spAutoFit/>
          </a:bodyPr>
          <a:lstStyle/>
          <a:p>
            <a:r>
              <a:rPr lang="en-US" sz="1300" dirty="0">
                <a:latin typeface="fkGroteskNeue"/>
              </a:rPr>
              <a:t>This combines the previously defined retriever (vector search) and the language model. The “</a:t>
            </a:r>
            <a:r>
              <a:rPr lang="en-US" sz="1300" dirty="0" err="1">
                <a:latin typeface="fkGroteskNeue"/>
              </a:rPr>
              <a:t>RetrievalQA</a:t>
            </a:r>
            <a:r>
              <a:rPr lang="en-US" sz="1300" dirty="0">
                <a:latin typeface="fkGroteskNeue"/>
              </a:rPr>
              <a:t>” chain ensures that queries are answered using both the model and the retrieved documents, with source documents returned for transparency.</a:t>
            </a:r>
            <a:endParaRPr lang="en-US" sz="1300" dirty="0"/>
          </a:p>
        </p:txBody>
      </p:sp>
      <p:sp>
        <p:nvSpPr>
          <p:cNvPr id="21" name="Rectangle 20">
            <a:extLst>
              <a:ext uri="{FF2B5EF4-FFF2-40B4-BE49-F238E27FC236}">
                <a16:creationId xmlns:a16="http://schemas.microsoft.com/office/drawing/2014/main" id="{F3B00859-CB09-8CC1-510C-BB83AA44BEA6}"/>
              </a:ext>
            </a:extLst>
          </p:cNvPr>
          <p:cNvSpPr/>
          <p:nvPr/>
        </p:nvSpPr>
        <p:spPr>
          <a:xfrm>
            <a:off x="961697" y="5262910"/>
            <a:ext cx="6653048" cy="569214"/>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Straight Arrow Connector 21">
            <a:extLst>
              <a:ext uri="{FF2B5EF4-FFF2-40B4-BE49-F238E27FC236}">
                <a16:creationId xmlns:a16="http://schemas.microsoft.com/office/drawing/2014/main" id="{04999CDF-3BC8-2805-9125-57E8FBCA26B1}"/>
              </a:ext>
            </a:extLst>
          </p:cNvPr>
          <p:cNvCxnSpPr>
            <a:cxnSpLocks/>
          </p:cNvCxnSpPr>
          <p:nvPr/>
        </p:nvCxnSpPr>
        <p:spPr>
          <a:xfrm>
            <a:off x="7614745" y="5531664"/>
            <a:ext cx="286919"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F6349F8-6266-EB5C-A818-997F37575374}"/>
              </a:ext>
            </a:extLst>
          </p:cNvPr>
          <p:cNvSpPr txBox="1"/>
          <p:nvPr/>
        </p:nvSpPr>
        <p:spPr>
          <a:xfrm>
            <a:off x="7901662" y="5153465"/>
            <a:ext cx="4080130" cy="892552"/>
          </a:xfrm>
          <a:prstGeom prst="rect">
            <a:avLst/>
          </a:prstGeom>
          <a:noFill/>
        </p:spPr>
        <p:txBody>
          <a:bodyPr wrap="square">
            <a:spAutoFit/>
          </a:bodyPr>
          <a:lstStyle/>
          <a:p>
            <a:r>
              <a:rPr lang="en-US" sz="1300" dirty="0">
                <a:latin typeface="fkGroteskNeue"/>
              </a:rPr>
              <a:t>A user query is processed by the RAG chain, retrieving relevant documents and generating a detailed answer using the language model. The response is printed at the end.</a:t>
            </a:r>
          </a:p>
        </p:txBody>
      </p:sp>
    </p:spTree>
    <p:extLst>
      <p:ext uri="{BB962C8B-B14F-4D97-AF65-F5344CB8AC3E}">
        <p14:creationId xmlns:p14="http://schemas.microsoft.com/office/powerpoint/2010/main" val="1669222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73136-8591-4998-AC13-88324EBA38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43573C-D352-97A7-F1DC-302D8B9FAE61}"/>
              </a:ext>
            </a:extLst>
          </p:cNvPr>
          <p:cNvSpPr txBox="1"/>
          <p:nvPr/>
        </p:nvSpPr>
        <p:spPr>
          <a:xfrm>
            <a:off x="792217" y="585677"/>
            <a:ext cx="6093372" cy="350673"/>
          </a:xfrm>
          <a:prstGeom prst="rect">
            <a:avLst/>
          </a:prstGeom>
          <a:noFill/>
        </p:spPr>
        <p:txBody>
          <a:bodyPr wrap="square">
            <a:spAutoFit/>
          </a:bodyPr>
          <a:lstStyle/>
          <a:p>
            <a:pPr algn="l">
              <a:lnSpc>
                <a:spcPts val="1800"/>
              </a:lnSpc>
              <a:buNone/>
            </a:pPr>
            <a:r>
              <a:rPr lang="en-US" sz="2400" b="1" i="0" dirty="0">
                <a:solidFill>
                  <a:srgbClr val="FB4E0B"/>
                </a:solidFill>
                <a:effectLst/>
                <a:latin typeface="+mj-lt"/>
              </a:rPr>
              <a:t>Enterprise Use Cases for RAG</a:t>
            </a:r>
          </a:p>
        </p:txBody>
      </p:sp>
      <p:pic>
        <p:nvPicPr>
          <p:cNvPr id="10242" name="Picture 2">
            <a:extLst>
              <a:ext uri="{FF2B5EF4-FFF2-40B4-BE49-F238E27FC236}">
                <a16:creationId xmlns:a16="http://schemas.microsoft.com/office/drawing/2014/main" id="{F0C5544B-B930-DBC0-C152-226A775E6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254" y="1649866"/>
            <a:ext cx="9926511" cy="388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2991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a:extLst>
              <a:ext uri="{FF2B5EF4-FFF2-40B4-BE49-F238E27FC236}">
                <a16:creationId xmlns:a16="http://schemas.microsoft.com/office/drawing/2014/main" id="{54B3E728-3160-A16F-3B56-3D0230D23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67" y="1274838"/>
            <a:ext cx="8837083" cy="34590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74A1C9D-A245-FE26-9A20-A9AA5CB69B62}"/>
              </a:ext>
            </a:extLst>
          </p:cNvPr>
          <p:cNvSpPr txBox="1"/>
          <p:nvPr/>
        </p:nvSpPr>
        <p:spPr>
          <a:xfrm>
            <a:off x="792217" y="585677"/>
            <a:ext cx="6093372" cy="350673"/>
          </a:xfrm>
          <a:prstGeom prst="rect">
            <a:avLst/>
          </a:prstGeom>
          <a:noFill/>
        </p:spPr>
        <p:txBody>
          <a:bodyPr wrap="square">
            <a:spAutoFit/>
          </a:bodyPr>
          <a:lstStyle/>
          <a:p>
            <a:pPr algn="l">
              <a:lnSpc>
                <a:spcPts val="1800"/>
              </a:lnSpc>
              <a:buNone/>
            </a:pPr>
            <a:r>
              <a:rPr lang="en-US" sz="2400" b="1" i="0" dirty="0">
                <a:solidFill>
                  <a:srgbClr val="FB4E0B"/>
                </a:solidFill>
                <a:effectLst/>
                <a:latin typeface="+mj-lt"/>
              </a:rPr>
              <a:t>Best Practices in RAG systems</a:t>
            </a:r>
          </a:p>
        </p:txBody>
      </p:sp>
    </p:spTree>
    <p:extLst>
      <p:ext uri="{BB962C8B-B14F-4D97-AF65-F5344CB8AC3E}">
        <p14:creationId xmlns:p14="http://schemas.microsoft.com/office/powerpoint/2010/main" val="1830634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2889E1-D646-1A82-6E3C-59E3536B1628}"/>
              </a:ext>
            </a:extLst>
          </p:cNvPr>
          <p:cNvSpPr txBox="1"/>
          <p:nvPr/>
        </p:nvSpPr>
        <p:spPr>
          <a:xfrm>
            <a:off x="620110" y="322302"/>
            <a:ext cx="9816662" cy="3711722"/>
          </a:xfrm>
          <a:prstGeom prst="rect">
            <a:avLst/>
          </a:prstGeom>
          <a:noFill/>
        </p:spPr>
        <p:txBody>
          <a:bodyPr wrap="square">
            <a:spAutoFit/>
          </a:bodyPr>
          <a:lstStyle/>
          <a:p>
            <a:pPr>
              <a:lnSpc>
                <a:spcPts val="2250"/>
              </a:lnSpc>
              <a:buNone/>
            </a:pPr>
            <a:r>
              <a:rPr lang="en-US" sz="2400" b="1" i="0" dirty="0">
                <a:solidFill>
                  <a:srgbClr val="FB4E0B"/>
                </a:solidFill>
                <a:effectLst/>
                <a:latin typeface="+mj-lt"/>
              </a:rPr>
              <a:t>Governance and Compliance in RAG</a:t>
            </a:r>
          </a:p>
          <a:p>
            <a:pPr>
              <a:lnSpc>
                <a:spcPts val="2250"/>
              </a:lnSpc>
              <a:buNone/>
            </a:pPr>
            <a:endParaRPr lang="en-US" sz="2400" b="1" i="0" dirty="0">
              <a:solidFill>
                <a:srgbClr val="FB4E0B"/>
              </a:solidFill>
              <a:effectLst/>
              <a:latin typeface="+mj-lt"/>
            </a:endParaRPr>
          </a:p>
          <a:p>
            <a:pPr>
              <a:lnSpc>
                <a:spcPts val="2400"/>
              </a:lnSpc>
              <a:buNone/>
            </a:pPr>
            <a:r>
              <a:rPr lang="en-US" b="0" i="0" dirty="0">
                <a:solidFill>
                  <a:srgbClr val="242424"/>
                </a:solidFill>
                <a:effectLst/>
                <a:latin typeface="+mj-lt"/>
              </a:rPr>
              <a:t>When you build RAG systems on Databricks:</a:t>
            </a:r>
          </a:p>
          <a:p>
            <a:pPr>
              <a:lnSpc>
                <a:spcPts val="2400"/>
              </a:lnSpc>
              <a:buNone/>
            </a:pPr>
            <a:endParaRPr lang="en-US" b="0" i="0" dirty="0">
              <a:solidFill>
                <a:srgbClr val="242424"/>
              </a:solidFill>
              <a:effectLst/>
              <a:latin typeface="+mj-lt"/>
            </a:endParaRPr>
          </a:p>
          <a:p>
            <a:pPr marL="285750" indent="-285750">
              <a:lnSpc>
                <a:spcPts val="2400"/>
              </a:lnSpc>
              <a:buFont typeface="Arial" panose="020B0604020202020204" pitchFamily="34" charset="0"/>
              <a:buChar char="•"/>
            </a:pPr>
            <a:r>
              <a:rPr lang="en-US" b="0" i="0" dirty="0">
                <a:solidFill>
                  <a:srgbClr val="242424"/>
                </a:solidFill>
                <a:effectLst/>
                <a:latin typeface="+mj-lt"/>
              </a:rPr>
              <a:t>Use </a:t>
            </a:r>
            <a:r>
              <a:rPr lang="en-US" b="1" i="0" dirty="0">
                <a:solidFill>
                  <a:srgbClr val="242424"/>
                </a:solidFill>
                <a:effectLst/>
                <a:latin typeface="+mj-lt"/>
              </a:rPr>
              <a:t>Unity Catalog</a:t>
            </a:r>
            <a:r>
              <a:rPr lang="en-US" b="0" i="0" dirty="0">
                <a:solidFill>
                  <a:srgbClr val="242424"/>
                </a:solidFill>
                <a:effectLst/>
                <a:latin typeface="+mj-lt"/>
              </a:rPr>
              <a:t> to enforce access controls on sensitive source documents.</a:t>
            </a:r>
          </a:p>
          <a:p>
            <a:pPr marL="285750" indent="-285750">
              <a:lnSpc>
                <a:spcPts val="2400"/>
              </a:lnSpc>
              <a:buFont typeface="Arial" panose="020B0604020202020204" pitchFamily="34" charset="0"/>
              <a:buChar char="•"/>
            </a:pPr>
            <a:r>
              <a:rPr lang="en-US" b="0" i="0" dirty="0">
                <a:solidFill>
                  <a:srgbClr val="242424"/>
                </a:solidFill>
                <a:effectLst/>
                <a:latin typeface="+mj-lt"/>
              </a:rPr>
              <a:t>Store and manage prompts using a </a:t>
            </a:r>
            <a:r>
              <a:rPr lang="en-US" b="1" i="0" dirty="0">
                <a:solidFill>
                  <a:srgbClr val="242424"/>
                </a:solidFill>
                <a:effectLst/>
                <a:latin typeface="+mj-lt"/>
              </a:rPr>
              <a:t>Prompt Repository</a:t>
            </a:r>
            <a:r>
              <a:rPr lang="en-US" dirty="0">
                <a:solidFill>
                  <a:srgbClr val="242424"/>
                </a:solidFill>
                <a:latin typeface="+mj-lt"/>
              </a:rPr>
              <a:t>.</a:t>
            </a:r>
            <a:endParaRPr lang="en-US" b="0" i="0" dirty="0">
              <a:solidFill>
                <a:srgbClr val="242424"/>
              </a:solidFill>
              <a:effectLst/>
              <a:latin typeface="+mj-lt"/>
            </a:endParaRPr>
          </a:p>
          <a:p>
            <a:pPr marL="285750" indent="-285750">
              <a:lnSpc>
                <a:spcPts val="2400"/>
              </a:lnSpc>
              <a:buFont typeface="Arial" panose="020B0604020202020204" pitchFamily="34" charset="0"/>
              <a:buChar char="•"/>
            </a:pPr>
            <a:r>
              <a:rPr lang="en-US" b="0" i="0" dirty="0">
                <a:solidFill>
                  <a:srgbClr val="242424"/>
                </a:solidFill>
                <a:effectLst/>
                <a:latin typeface="+mj-lt"/>
              </a:rPr>
              <a:t>Track model versions, prompt versions, and embeddings using </a:t>
            </a:r>
            <a:r>
              <a:rPr lang="en-US" b="1" i="0" dirty="0" err="1">
                <a:solidFill>
                  <a:srgbClr val="242424"/>
                </a:solidFill>
                <a:effectLst/>
                <a:latin typeface="+mj-lt"/>
              </a:rPr>
              <a:t>MLflow</a:t>
            </a:r>
            <a:r>
              <a:rPr lang="en-US" b="0" i="0" dirty="0">
                <a:solidFill>
                  <a:srgbClr val="242424"/>
                </a:solidFill>
                <a:effectLst/>
                <a:latin typeface="+mj-lt"/>
              </a:rPr>
              <a:t>.</a:t>
            </a:r>
          </a:p>
          <a:p>
            <a:pPr marL="285750" indent="-285750">
              <a:lnSpc>
                <a:spcPts val="2400"/>
              </a:lnSpc>
              <a:buFont typeface="Arial" panose="020B0604020202020204" pitchFamily="34" charset="0"/>
              <a:buChar char="•"/>
            </a:pPr>
            <a:r>
              <a:rPr lang="en-US" b="0" i="0" dirty="0">
                <a:solidFill>
                  <a:srgbClr val="242424"/>
                </a:solidFill>
                <a:effectLst/>
                <a:latin typeface="+mj-lt"/>
              </a:rPr>
              <a:t>Use </a:t>
            </a:r>
            <a:r>
              <a:rPr lang="en-US" b="1" i="0" dirty="0">
                <a:solidFill>
                  <a:srgbClr val="242424"/>
                </a:solidFill>
                <a:effectLst/>
                <a:latin typeface="+mj-lt"/>
              </a:rPr>
              <a:t>audit logs</a:t>
            </a:r>
            <a:r>
              <a:rPr lang="en-US" b="0" i="0" dirty="0">
                <a:solidFill>
                  <a:srgbClr val="242424"/>
                </a:solidFill>
                <a:effectLst/>
                <a:latin typeface="+mj-lt"/>
              </a:rPr>
              <a:t> to trace which documents were retrieved for any given answer.</a:t>
            </a:r>
          </a:p>
          <a:p>
            <a:pPr>
              <a:lnSpc>
                <a:spcPts val="2400"/>
              </a:lnSpc>
            </a:pPr>
            <a:endParaRPr lang="en-US" b="0" i="0" dirty="0">
              <a:solidFill>
                <a:srgbClr val="242424"/>
              </a:solidFill>
              <a:effectLst/>
              <a:latin typeface="+mj-lt"/>
            </a:endParaRPr>
          </a:p>
          <a:p>
            <a:pPr>
              <a:lnSpc>
                <a:spcPts val="2250"/>
              </a:lnSpc>
              <a:buNone/>
            </a:pPr>
            <a:endParaRPr lang="en-US" sz="2400" b="1" i="0" dirty="0">
              <a:solidFill>
                <a:srgbClr val="FB4E0B"/>
              </a:solidFill>
              <a:effectLst/>
              <a:latin typeface="+mj-lt"/>
            </a:endParaRPr>
          </a:p>
          <a:p>
            <a:pPr>
              <a:lnSpc>
                <a:spcPts val="2250"/>
              </a:lnSpc>
              <a:buNone/>
            </a:pPr>
            <a:r>
              <a:rPr lang="en-US" sz="2400" b="1" i="0" dirty="0">
                <a:solidFill>
                  <a:srgbClr val="FB4E0B"/>
                </a:solidFill>
                <a:effectLst/>
                <a:latin typeface="+mj-lt"/>
              </a:rPr>
              <a:t>Limitations of RAG (And Mitigations)</a:t>
            </a:r>
            <a:br>
              <a:rPr lang="en-US" dirty="0">
                <a:effectLst/>
                <a:latin typeface="+mj-lt"/>
              </a:rPr>
            </a:br>
            <a:endParaRPr lang="en-US" dirty="0">
              <a:latin typeface="+mj-lt"/>
            </a:endParaRPr>
          </a:p>
        </p:txBody>
      </p:sp>
      <p:pic>
        <p:nvPicPr>
          <p:cNvPr id="12290" name="Picture 2">
            <a:extLst>
              <a:ext uri="{FF2B5EF4-FFF2-40B4-BE49-F238E27FC236}">
                <a16:creationId xmlns:a16="http://schemas.microsoft.com/office/drawing/2014/main" id="{7D7BC962-339E-A3CD-79AC-74754A50A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49" y="3862060"/>
            <a:ext cx="9298371" cy="2749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358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820ABB-C6AB-38ED-1F62-DFE6E9DAA3BF}"/>
              </a:ext>
            </a:extLst>
          </p:cNvPr>
          <p:cNvSpPr txBox="1"/>
          <p:nvPr/>
        </p:nvSpPr>
        <p:spPr>
          <a:xfrm>
            <a:off x="423333" y="308347"/>
            <a:ext cx="8635562" cy="552652"/>
          </a:xfrm>
          <a:prstGeom prst="rect">
            <a:avLst/>
          </a:prstGeom>
          <a:noFill/>
        </p:spPr>
        <p:txBody>
          <a:bodyPr wrap="square">
            <a:spAutoFit/>
          </a:bodyPr>
          <a:lstStyle/>
          <a:p>
            <a:pPr algn="l">
              <a:lnSpc>
                <a:spcPts val="3900"/>
              </a:lnSpc>
              <a:buNone/>
            </a:pPr>
            <a:r>
              <a:rPr lang="en-US" sz="2400" b="1" i="0" dirty="0">
                <a:solidFill>
                  <a:srgbClr val="FB4E0B"/>
                </a:solidFill>
                <a:effectLst/>
                <a:latin typeface="+mj-lt"/>
              </a:rPr>
              <a:t>Preparing High-Quality Data for RAG Applications</a:t>
            </a:r>
          </a:p>
        </p:txBody>
      </p:sp>
      <p:pic>
        <p:nvPicPr>
          <p:cNvPr id="14338" name="Picture 2">
            <a:extLst>
              <a:ext uri="{FF2B5EF4-FFF2-40B4-BE49-F238E27FC236}">
                <a16:creationId xmlns:a16="http://schemas.microsoft.com/office/drawing/2014/main" id="{53DE3E2C-5B0E-A96D-5ABC-81F1D1D70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333" y="999067"/>
            <a:ext cx="9646855" cy="5898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7721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24DBA-7001-804B-F373-DE58A4CAB1EE}"/>
              </a:ext>
            </a:extLst>
          </p:cNvPr>
          <p:cNvSpPr txBox="1"/>
          <p:nvPr/>
        </p:nvSpPr>
        <p:spPr>
          <a:xfrm>
            <a:off x="729155" y="671990"/>
            <a:ext cx="6093372" cy="398764"/>
          </a:xfrm>
          <a:prstGeom prst="rect">
            <a:avLst/>
          </a:prstGeom>
          <a:noFill/>
        </p:spPr>
        <p:txBody>
          <a:bodyPr wrap="square">
            <a:spAutoFit/>
          </a:bodyPr>
          <a:lstStyle/>
          <a:p>
            <a:pPr algn="l">
              <a:lnSpc>
                <a:spcPts val="2250"/>
              </a:lnSpc>
              <a:buNone/>
            </a:pPr>
            <a:r>
              <a:rPr lang="en-US" sz="2400" b="1" i="0" dirty="0">
                <a:solidFill>
                  <a:srgbClr val="FB4E0B"/>
                </a:solidFill>
                <a:effectLst/>
                <a:latin typeface="+mj-lt"/>
              </a:rPr>
              <a:t>Summary – Part 1</a:t>
            </a:r>
          </a:p>
        </p:txBody>
      </p:sp>
      <p:pic>
        <p:nvPicPr>
          <p:cNvPr id="13314" name="Picture 2">
            <a:extLst>
              <a:ext uri="{FF2B5EF4-FFF2-40B4-BE49-F238E27FC236}">
                <a16:creationId xmlns:a16="http://schemas.microsoft.com/office/drawing/2014/main" id="{8883A296-5BDD-46D4-BEB0-B0FEA4CA8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324" y="1434663"/>
            <a:ext cx="7502451" cy="34618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EB16BA-40C7-EAB3-6F61-404220E0FB42}"/>
              </a:ext>
            </a:extLst>
          </p:cNvPr>
          <p:cNvSpPr txBox="1"/>
          <p:nvPr/>
        </p:nvSpPr>
        <p:spPr>
          <a:xfrm>
            <a:off x="7920775" y="1434663"/>
            <a:ext cx="4271225" cy="3461845"/>
          </a:xfrm>
          <a:prstGeom prst="rect">
            <a:avLst/>
          </a:prstGeom>
          <a:noFill/>
        </p:spPr>
        <p:txBody>
          <a:bodyPr wrap="square">
            <a:spAutoFit/>
          </a:bodyPr>
          <a:lstStyle/>
          <a:p>
            <a:pPr algn="l">
              <a:lnSpc>
                <a:spcPts val="2400"/>
              </a:lnSpc>
              <a:buNone/>
            </a:pPr>
            <a:r>
              <a:rPr lang="en-US" b="0" i="0" dirty="0">
                <a:solidFill>
                  <a:srgbClr val="242424"/>
                </a:solidFill>
                <a:effectLst/>
                <a:latin typeface="source-serif-pro"/>
              </a:rPr>
              <a:t>RAG has quickly become the </a:t>
            </a:r>
            <a:r>
              <a:rPr lang="en-US" b="1" i="0" dirty="0">
                <a:solidFill>
                  <a:srgbClr val="242424"/>
                </a:solidFill>
                <a:effectLst/>
                <a:latin typeface="source-serif-pro"/>
              </a:rPr>
              <a:t>de facto design pattern</a:t>
            </a:r>
            <a:r>
              <a:rPr lang="en-US" b="0" i="0" dirty="0">
                <a:solidFill>
                  <a:srgbClr val="242424"/>
                </a:solidFill>
                <a:effectLst/>
                <a:latin typeface="source-serif-pro"/>
              </a:rPr>
              <a:t> for enterprise LLM applications.</a:t>
            </a:r>
          </a:p>
          <a:p>
            <a:pPr algn="l">
              <a:lnSpc>
                <a:spcPts val="2400"/>
              </a:lnSpc>
              <a:buNone/>
            </a:pPr>
            <a:endParaRPr lang="en-US" b="0" i="0" dirty="0">
              <a:solidFill>
                <a:srgbClr val="242424"/>
              </a:solidFill>
              <a:effectLst/>
              <a:latin typeface="source-serif-pro"/>
            </a:endParaRPr>
          </a:p>
          <a:p>
            <a:pPr algn="l">
              <a:lnSpc>
                <a:spcPts val="2400"/>
              </a:lnSpc>
              <a:buNone/>
            </a:pPr>
            <a:r>
              <a:rPr lang="en-US" b="0" i="0" dirty="0">
                <a:solidFill>
                  <a:srgbClr val="242424"/>
                </a:solidFill>
                <a:effectLst/>
                <a:latin typeface="source-serif-pro"/>
              </a:rPr>
              <a:t>It enables us to:</a:t>
            </a: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Ground your LLM on </a:t>
            </a:r>
            <a:r>
              <a:rPr lang="en-US" b="1" i="0" dirty="0">
                <a:solidFill>
                  <a:srgbClr val="242424"/>
                </a:solidFill>
                <a:effectLst/>
                <a:latin typeface="source-serif-pro"/>
              </a:rPr>
              <a:t>proprietary knowledge</a:t>
            </a:r>
            <a:endParaRPr lang="en-US" b="0" i="0" dirty="0">
              <a:solidFill>
                <a:srgbClr val="242424"/>
              </a:solidFill>
              <a:effectLst/>
              <a:latin typeface="source-serif-pro"/>
            </a:endParaRP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Avoid costly </a:t>
            </a:r>
            <a:r>
              <a:rPr lang="en-US" b="1" i="0" dirty="0">
                <a:solidFill>
                  <a:srgbClr val="242424"/>
                </a:solidFill>
                <a:effectLst/>
                <a:latin typeface="source-serif-pro"/>
              </a:rPr>
              <a:t>model retraining</a:t>
            </a:r>
            <a:endParaRPr lang="en-US" b="0" i="0" dirty="0">
              <a:solidFill>
                <a:srgbClr val="242424"/>
              </a:solidFill>
              <a:effectLst/>
              <a:latin typeface="source-serif-pro"/>
            </a:endParaRP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Minimize </a:t>
            </a:r>
            <a:r>
              <a:rPr lang="en-US" b="1" i="0" dirty="0">
                <a:solidFill>
                  <a:srgbClr val="242424"/>
                </a:solidFill>
                <a:effectLst/>
                <a:latin typeface="source-serif-pro"/>
              </a:rPr>
              <a:t>hallucinations</a:t>
            </a:r>
            <a:endParaRPr lang="en-US" b="0" i="0" dirty="0">
              <a:solidFill>
                <a:srgbClr val="242424"/>
              </a:solidFill>
              <a:effectLst/>
              <a:latin typeface="source-serif-pro"/>
            </a:endParaRPr>
          </a:p>
          <a:p>
            <a:pPr marL="285750" indent="-285750" algn="l">
              <a:lnSpc>
                <a:spcPts val="2400"/>
              </a:lnSpc>
              <a:buFont typeface="Arial" panose="020B0604020202020204" pitchFamily="34" charset="0"/>
              <a:buChar char="•"/>
            </a:pPr>
            <a:r>
              <a:rPr lang="en-US" b="0" i="0" dirty="0">
                <a:solidFill>
                  <a:srgbClr val="242424"/>
                </a:solidFill>
                <a:effectLst/>
                <a:latin typeface="source-serif-pro"/>
              </a:rPr>
              <a:t>Provide </a:t>
            </a:r>
            <a:r>
              <a:rPr lang="en-US" b="1" i="0" dirty="0">
                <a:solidFill>
                  <a:srgbClr val="242424"/>
                </a:solidFill>
                <a:effectLst/>
                <a:latin typeface="source-serif-pro"/>
              </a:rPr>
              <a:t>explainable AI</a:t>
            </a:r>
            <a:r>
              <a:rPr lang="en-US" b="0" i="0" dirty="0">
                <a:solidFill>
                  <a:srgbClr val="242424"/>
                </a:solidFill>
                <a:effectLst/>
                <a:latin typeface="source-serif-pro"/>
              </a:rPr>
              <a:t> with document traceability</a:t>
            </a:r>
          </a:p>
        </p:txBody>
      </p:sp>
    </p:spTree>
    <p:extLst>
      <p:ext uri="{BB962C8B-B14F-4D97-AF65-F5344CB8AC3E}">
        <p14:creationId xmlns:p14="http://schemas.microsoft.com/office/powerpoint/2010/main" val="2737163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54B5-43AC-B69B-C499-F84B3E43BFB8}"/>
              </a:ext>
            </a:extLst>
          </p:cNvPr>
          <p:cNvSpPr>
            <a:spLocks noGrp="1"/>
          </p:cNvSpPr>
          <p:nvPr>
            <p:ph type="title"/>
          </p:nvPr>
        </p:nvSpPr>
        <p:spPr/>
        <p:txBody>
          <a:bodyPr/>
          <a:lstStyle/>
          <a:p>
            <a:r>
              <a:rPr lang="fr-FR" dirty="0">
                <a:solidFill>
                  <a:srgbClr val="FB4E0B"/>
                </a:solidFill>
              </a:rPr>
              <a:t>Source Document Types in RAG Pipelines</a:t>
            </a:r>
            <a:endParaRPr lang="en-US" dirty="0">
              <a:solidFill>
                <a:srgbClr val="FB4E0B"/>
              </a:solidFill>
            </a:endParaRPr>
          </a:p>
        </p:txBody>
      </p:sp>
      <p:sp>
        <p:nvSpPr>
          <p:cNvPr id="3" name="Content Placeholder 2">
            <a:extLst>
              <a:ext uri="{FF2B5EF4-FFF2-40B4-BE49-F238E27FC236}">
                <a16:creationId xmlns:a16="http://schemas.microsoft.com/office/drawing/2014/main" id="{96BB4025-1644-4790-E83F-2DD55F6E96C8}"/>
              </a:ext>
            </a:extLst>
          </p:cNvPr>
          <p:cNvSpPr>
            <a:spLocks noGrp="1"/>
          </p:cNvSpPr>
          <p:nvPr>
            <p:ph idx="1"/>
          </p:nvPr>
        </p:nvSpPr>
        <p:spPr>
          <a:xfrm>
            <a:off x="838200" y="1541846"/>
            <a:ext cx="10515600" cy="4351338"/>
          </a:xfrm>
        </p:spPr>
        <p:txBody>
          <a:bodyPr/>
          <a:lstStyle/>
          <a:p>
            <a:pPr marL="0" indent="0">
              <a:buNone/>
            </a:pPr>
            <a:r>
              <a:rPr lang="en-US" dirty="0"/>
              <a:t>RAG pipelines typically work with unstructured or semi-structured enterprise content, such as:</a:t>
            </a:r>
          </a:p>
        </p:txBody>
      </p:sp>
      <p:pic>
        <p:nvPicPr>
          <p:cNvPr id="15362" name="Picture 2">
            <a:extLst>
              <a:ext uri="{FF2B5EF4-FFF2-40B4-BE49-F238E27FC236}">
                <a16:creationId xmlns:a16="http://schemas.microsoft.com/office/drawing/2014/main" id="{5307843C-8E40-47FA-82FF-282CD934F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76" y="2453290"/>
            <a:ext cx="8001000" cy="3657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4FE542-63A0-D415-056A-4454CCB15AF4}"/>
              </a:ext>
            </a:extLst>
          </p:cNvPr>
          <p:cNvSpPr txBox="1"/>
          <p:nvPr/>
        </p:nvSpPr>
        <p:spPr>
          <a:xfrm>
            <a:off x="838200" y="6110890"/>
            <a:ext cx="10962290" cy="369332"/>
          </a:xfrm>
          <a:prstGeom prst="rect">
            <a:avLst/>
          </a:prstGeom>
          <a:noFill/>
        </p:spPr>
        <p:txBody>
          <a:bodyPr wrap="square">
            <a:spAutoFit/>
          </a:bodyPr>
          <a:lstStyle/>
          <a:p>
            <a:r>
              <a:rPr lang="en-US" b="0" i="0" dirty="0">
                <a:solidFill>
                  <a:srgbClr val="242424"/>
                </a:solidFill>
                <a:effectLst/>
                <a:latin typeface="+mj-lt"/>
              </a:rPr>
              <a:t>A preprocessing pipeline is needed to extract clean, readable text from these formats.</a:t>
            </a:r>
            <a:endParaRPr lang="en-US" dirty="0">
              <a:latin typeface="+mj-lt"/>
            </a:endParaRPr>
          </a:p>
        </p:txBody>
      </p:sp>
    </p:spTree>
    <p:extLst>
      <p:ext uri="{BB962C8B-B14F-4D97-AF65-F5344CB8AC3E}">
        <p14:creationId xmlns:p14="http://schemas.microsoft.com/office/powerpoint/2010/main" val="550140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F18C-F7FB-C4CC-3BDB-A5CB420F2942}"/>
              </a:ext>
            </a:extLst>
          </p:cNvPr>
          <p:cNvSpPr>
            <a:spLocks noGrp="1"/>
          </p:cNvSpPr>
          <p:nvPr>
            <p:ph type="title"/>
          </p:nvPr>
        </p:nvSpPr>
        <p:spPr/>
        <p:txBody>
          <a:bodyPr>
            <a:normAutofit fontScale="90000"/>
          </a:bodyPr>
          <a:lstStyle/>
          <a:p>
            <a:r>
              <a:rPr lang="en-US" dirty="0">
                <a:solidFill>
                  <a:srgbClr val="FB4E0B"/>
                </a:solidFill>
              </a:rPr>
              <a:t>Text Extraction and Preprocessing</a:t>
            </a:r>
            <a:br>
              <a:rPr lang="en-US" dirty="0">
                <a:solidFill>
                  <a:srgbClr val="FB4E0B"/>
                </a:solidFill>
              </a:rPr>
            </a:br>
            <a:r>
              <a:rPr lang="en-US" dirty="0">
                <a:solidFill>
                  <a:srgbClr val="FB4E0B"/>
                </a:solidFill>
              </a:rPr>
              <a:t>PDF/Text Extraction Example:</a:t>
            </a:r>
            <a:br>
              <a:rPr lang="en-US" dirty="0">
                <a:solidFill>
                  <a:srgbClr val="FB4E0B"/>
                </a:solidFill>
              </a:rPr>
            </a:br>
            <a:endParaRPr lang="en-US" dirty="0">
              <a:solidFill>
                <a:srgbClr val="FB4E0B"/>
              </a:solidFill>
            </a:endParaRPr>
          </a:p>
        </p:txBody>
      </p:sp>
      <p:pic>
        <p:nvPicPr>
          <p:cNvPr id="5" name="Content Placeholder 4" descr="A close-up of a computer code&#10;&#10;AI-generated content may be incorrect.">
            <a:extLst>
              <a:ext uri="{FF2B5EF4-FFF2-40B4-BE49-F238E27FC236}">
                <a16:creationId xmlns:a16="http://schemas.microsoft.com/office/drawing/2014/main" id="{732D678E-3187-4342-8B61-9659A2317C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14336"/>
            <a:ext cx="10233524" cy="2468197"/>
          </a:xfrm>
        </p:spPr>
      </p:pic>
      <p:sp>
        <p:nvSpPr>
          <p:cNvPr id="7" name="TextBox 6">
            <a:extLst>
              <a:ext uri="{FF2B5EF4-FFF2-40B4-BE49-F238E27FC236}">
                <a16:creationId xmlns:a16="http://schemas.microsoft.com/office/drawing/2014/main" id="{9912BB68-BCCA-13B3-496F-54F6CA527FC3}"/>
              </a:ext>
            </a:extLst>
          </p:cNvPr>
          <p:cNvSpPr txBox="1"/>
          <p:nvPr/>
        </p:nvSpPr>
        <p:spPr>
          <a:xfrm>
            <a:off x="838201" y="4259122"/>
            <a:ext cx="10233523" cy="2541530"/>
          </a:xfrm>
          <a:prstGeom prst="rect">
            <a:avLst/>
          </a:prstGeom>
          <a:noFill/>
        </p:spPr>
        <p:txBody>
          <a:bodyPr wrap="square">
            <a:spAutoFit/>
          </a:bodyPr>
          <a:lstStyle/>
          <a:p>
            <a:pPr algn="l">
              <a:lnSpc>
                <a:spcPts val="2400"/>
              </a:lnSpc>
              <a:buNone/>
            </a:pPr>
            <a:r>
              <a:rPr lang="en-US" b="1" i="0" dirty="0">
                <a:solidFill>
                  <a:srgbClr val="242424"/>
                </a:solidFill>
                <a:effectLst/>
                <a:latin typeface="+mj-lt"/>
              </a:rPr>
              <a:t>Best Practices:</a:t>
            </a:r>
            <a:endParaRPr lang="en-US" b="0" i="0" dirty="0">
              <a:solidFill>
                <a:srgbClr val="242424"/>
              </a:solidFill>
              <a:effectLst/>
              <a:latin typeface="+mj-lt"/>
            </a:endParaRPr>
          </a:p>
          <a:p>
            <a:pPr marL="285750" indent="-285750" algn="l">
              <a:lnSpc>
                <a:spcPts val="2400"/>
              </a:lnSpc>
              <a:buFont typeface="Arial" panose="020B0604020202020204" pitchFamily="34" charset="0"/>
              <a:buChar char="•"/>
            </a:pPr>
            <a:r>
              <a:rPr lang="en-US" b="0" i="0" dirty="0">
                <a:solidFill>
                  <a:srgbClr val="242424"/>
                </a:solidFill>
                <a:effectLst/>
                <a:latin typeface="+mj-lt"/>
              </a:rPr>
              <a:t>Normalize whitespace</a:t>
            </a:r>
          </a:p>
          <a:p>
            <a:pPr marL="285750" indent="-285750" algn="l">
              <a:lnSpc>
                <a:spcPts val="2400"/>
              </a:lnSpc>
              <a:buFont typeface="Arial" panose="020B0604020202020204" pitchFamily="34" charset="0"/>
              <a:buChar char="•"/>
            </a:pPr>
            <a:r>
              <a:rPr lang="en-US" b="0" i="0" dirty="0">
                <a:solidFill>
                  <a:srgbClr val="242424"/>
                </a:solidFill>
                <a:effectLst/>
                <a:latin typeface="+mj-lt"/>
              </a:rPr>
              <a:t>Remove headers/footers and repetitive page numbers</a:t>
            </a:r>
          </a:p>
          <a:p>
            <a:pPr marL="285750" indent="-285750" algn="l">
              <a:lnSpc>
                <a:spcPts val="2400"/>
              </a:lnSpc>
              <a:buFont typeface="Arial" panose="020B0604020202020204" pitchFamily="34" charset="0"/>
              <a:buChar char="•"/>
            </a:pPr>
            <a:r>
              <a:rPr lang="en-US" b="0" i="0" dirty="0">
                <a:solidFill>
                  <a:srgbClr val="242424"/>
                </a:solidFill>
                <a:effectLst/>
                <a:latin typeface="+mj-lt"/>
              </a:rPr>
              <a:t>Split multi-column documents into single column text</a:t>
            </a:r>
          </a:p>
          <a:p>
            <a:pPr marL="285750" indent="-285750" algn="l">
              <a:lnSpc>
                <a:spcPts val="2400"/>
              </a:lnSpc>
              <a:buFont typeface="Arial" panose="020B0604020202020204" pitchFamily="34" charset="0"/>
              <a:buChar char="•"/>
            </a:pPr>
            <a:r>
              <a:rPr lang="en-US" b="0" i="0" dirty="0">
                <a:solidFill>
                  <a:srgbClr val="242424"/>
                </a:solidFill>
                <a:effectLst/>
                <a:latin typeface="+mj-lt"/>
              </a:rPr>
              <a:t>Convert scanned images using OCR (e.g., Tesseract)</a:t>
            </a:r>
          </a:p>
          <a:p>
            <a:pPr algn="l">
              <a:lnSpc>
                <a:spcPts val="2400"/>
              </a:lnSpc>
            </a:pPr>
            <a:endParaRPr lang="en-US" b="0" i="0" dirty="0">
              <a:solidFill>
                <a:srgbClr val="242424"/>
              </a:solidFill>
              <a:effectLst/>
              <a:latin typeface="+mj-lt"/>
            </a:endParaRPr>
          </a:p>
          <a:p>
            <a:pPr algn="l">
              <a:lnSpc>
                <a:spcPts val="2400"/>
              </a:lnSpc>
            </a:pPr>
            <a:r>
              <a:rPr lang="en-US" b="1" i="0" dirty="0">
                <a:solidFill>
                  <a:srgbClr val="242424"/>
                </a:solidFill>
                <a:effectLst/>
                <a:latin typeface="+mj-lt"/>
              </a:rPr>
              <a:t>For structured formats:</a:t>
            </a:r>
          </a:p>
          <a:p>
            <a:pPr marL="285750" indent="-285750" algn="l">
              <a:lnSpc>
                <a:spcPts val="2400"/>
              </a:lnSpc>
              <a:buFont typeface="Arial" panose="020B0604020202020204" pitchFamily="34" charset="0"/>
              <a:buChar char="•"/>
            </a:pPr>
            <a:r>
              <a:rPr lang="en-US" b="0" i="0" dirty="0">
                <a:solidFill>
                  <a:srgbClr val="242424"/>
                </a:solidFill>
                <a:effectLst/>
                <a:latin typeface="+mj-lt"/>
              </a:rPr>
              <a:t>Convert rows to narrative sentences if needed for semantic retrieval.</a:t>
            </a:r>
          </a:p>
        </p:txBody>
      </p:sp>
    </p:spTree>
    <p:extLst>
      <p:ext uri="{BB962C8B-B14F-4D97-AF65-F5344CB8AC3E}">
        <p14:creationId xmlns:p14="http://schemas.microsoft.com/office/powerpoint/2010/main" val="19139336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6B1F-1053-0ACE-3F9B-FA1637EB2A5D}"/>
              </a:ext>
            </a:extLst>
          </p:cNvPr>
          <p:cNvSpPr>
            <a:spLocks noGrp="1"/>
          </p:cNvSpPr>
          <p:nvPr>
            <p:ph type="title"/>
          </p:nvPr>
        </p:nvSpPr>
        <p:spPr>
          <a:xfrm>
            <a:off x="838200" y="148431"/>
            <a:ext cx="11032067" cy="1325563"/>
          </a:xfrm>
        </p:spPr>
        <p:txBody>
          <a:bodyPr/>
          <a:lstStyle/>
          <a:p>
            <a:r>
              <a:rPr lang="en-US" dirty="0">
                <a:solidFill>
                  <a:srgbClr val="FB4E0B"/>
                </a:solidFill>
              </a:rPr>
              <a:t>Chunking Strategies for Semantic Understanding</a:t>
            </a:r>
          </a:p>
        </p:txBody>
      </p:sp>
      <p:sp>
        <p:nvSpPr>
          <p:cNvPr id="3" name="Content Placeholder 2">
            <a:extLst>
              <a:ext uri="{FF2B5EF4-FFF2-40B4-BE49-F238E27FC236}">
                <a16:creationId xmlns:a16="http://schemas.microsoft.com/office/drawing/2014/main" id="{0B0C3D7A-17BE-B560-68E2-5783697F0F75}"/>
              </a:ext>
            </a:extLst>
          </p:cNvPr>
          <p:cNvSpPr>
            <a:spLocks noGrp="1"/>
          </p:cNvSpPr>
          <p:nvPr>
            <p:ph idx="1"/>
          </p:nvPr>
        </p:nvSpPr>
        <p:spPr>
          <a:xfrm>
            <a:off x="838200" y="1253331"/>
            <a:ext cx="10515600" cy="3003359"/>
          </a:xfrm>
        </p:spPr>
        <p:txBody>
          <a:bodyPr>
            <a:normAutofit lnSpcReduction="10000"/>
          </a:bodyPr>
          <a:lstStyle/>
          <a:p>
            <a:pPr marL="0" indent="0">
              <a:lnSpc>
                <a:spcPct val="110000"/>
              </a:lnSpc>
              <a:spcBef>
                <a:spcPts val="0"/>
              </a:spcBef>
              <a:buNone/>
            </a:pPr>
            <a:r>
              <a:rPr lang="en-US" sz="1800" b="1" dirty="0"/>
              <a:t>What is Chunking?</a:t>
            </a:r>
          </a:p>
          <a:p>
            <a:pPr marL="0" indent="0">
              <a:lnSpc>
                <a:spcPct val="110000"/>
              </a:lnSpc>
              <a:spcBef>
                <a:spcPts val="0"/>
              </a:spcBef>
              <a:buNone/>
            </a:pPr>
            <a:r>
              <a:rPr lang="en-US" sz="1800" dirty="0"/>
              <a:t>Chunking is the process of breaking down large documents into smaller, manageable semantic units that can be embedded and retrieved individually.</a:t>
            </a:r>
          </a:p>
          <a:p>
            <a:pPr marL="0" indent="0">
              <a:lnSpc>
                <a:spcPct val="110000"/>
              </a:lnSpc>
              <a:spcBef>
                <a:spcPts val="0"/>
              </a:spcBef>
              <a:buNone/>
            </a:pPr>
            <a:endParaRPr lang="en-US" sz="1800" b="1" dirty="0"/>
          </a:p>
          <a:p>
            <a:pPr marL="0" indent="0">
              <a:lnSpc>
                <a:spcPct val="110000"/>
              </a:lnSpc>
              <a:spcBef>
                <a:spcPts val="0"/>
              </a:spcBef>
              <a:buNone/>
            </a:pPr>
            <a:r>
              <a:rPr lang="en-US" sz="1800" b="1" dirty="0"/>
              <a:t>A good chunk is:</a:t>
            </a:r>
          </a:p>
          <a:p>
            <a:pPr>
              <a:lnSpc>
                <a:spcPct val="110000"/>
              </a:lnSpc>
              <a:spcBef>
                <a:spcPts val="0"/>
              </a:spcBef>
            </a:pPr>
            <a:r>
              <a:rPr lang="en-US" sz="1800" dirty="0"/>
              <a:t>Self-contained</a:t>
            </a:r>
          </a:p>
          <a:p>
            <a:pPr>
              <a:lnSpc>
                <a:spcPct val="110000"/>
              </a:lnSpc>
              <a:spcBef>
                <a:spcPts val="0"/>
              </a:spcBef>
            </a:pPr>
            <a:r>
              <a:rPr lang="en-US" sz="1800" dirty="0"/>
              <a:t>Topically consistent</a:t>
            </a:r>
          </a:p>
          <a:p>
            <a:pPr>
              <a:lnSpc>
                <a:spcPct val="110000"/>
              </a:lnSpc>
              <a:spcBef>
                <a:spcPts val="0"/>
              </a:spcBef>
            </a:pPr>
            <a:r>
              <a:rPr lang="en-US" sz="1800" dirty="0"/>
              <a:t>Small enough to fit in an LLM prompt</a:t>
            </a:r>
          </a:p>
          <a:p>
            <a:pPr marL="0" indent="0">
              <a:lnSpc>
                <a:spcPct val="110000"/>
              </a:lnSpc>
              <a:spcBef>
                <a:spcPts val="0"/>
              </a:spcBef>
              <a:buNone/>
            </a:pPr>
            <a:endParaRPr lang="en-US" sz="1800" b="1" dirty="0"/>
          </a:p>
          <a:p>
            <a:pPr marL="0" indent="0">
              <a:lnSpc>
                <a:spcPct val="110000"/>
              </a:lnSpc>
              <a:spcBef>
                <a:spcPts val="0"/>
              </a:spcBef>
              <a:buNone/>
            </a:pPr>
            <a:r>
              <a:rPr lang="en-US" sz="1800" b="1" dirty="0"/>
              <a:t>Chunking Techniques:</a:t>
            </a:r>
          </a:p>
        </p:txBody>
      </p:sp>
      <p:pic>
        <p:nvPicPr>
          <p:cNvPr id="16386" name="Picture 2">
            <a:extLst>
              <a:ext uri="{FF2B5EF4-FFF2-40B4-BE49-F238E27FC236}">
                <a16:creationId xmlns:a16="http://schemas.microsoft.com/office/drawing/2014/main" id="{1C18FD22-7621-C07E-57BE-E8D847E86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075" y="4091808"/>
            <a:ext cx="8920655" cy="2625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005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F5695-33D7-E3F6-C435-856038ED5497}"/>
              </a:ext>
            </a:extLst>
          </p:cNvPr>
          <p:cNvSpPr>
            <a:spLocks noGrp="1"/>
          </p:cNvSpPr>
          <p:nvPr>
            <p:ph type="title"/>
          </p:nvPr>
        </p:nvSpPr>
        <p:spPr/>
        <p:txBody>
          <a:bodyPr/>
          <a:lstStyle/>
          <a:p>
            <a:r>
              <a:rPr lang="en-US" dirty="0">
                <a:solidFill>
                  <a:srgbClr val="FB4E0B"/>
                </a:solidFill>
              </a:rPr>
              <a:t>Example (LangChain):</a:t>
            </a:r>
          </a:p>
        </p:txBody>
      </p:sp>
      <p:pic>
        <p:nvPicPr>
          <p:cNvPr id="5" name="Content Placeholder 4" descr="A screenshot of a computer">
            <a:extLst>
              <a:ext uri="{FF2B5EF4-FFF2-40B4-BE49-F238E27FC236}">
                <a16:creationId xmlns:a16="http://schemas.microsoft.com/office/drawing/2014/main" id="{1E4879FB-EAFF-3360-0BF2-EF0C0BEEF6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267" y="2032001"/>
            <a:ext cx="10941413" cy="3389085"/>
          </a:xfrm>
        </p:spPr>
      </p:pic>
      <p:sp>
        <p:nvSpPr>
          <p:cNvPr id="7" name="TextBox 6">
            <a:extLst>
              <a:ext uri="{FF2B5EF4-FFF2-40B4-BE49-F238E27FC236}">
                <a16:creationId xmlns:a16="http://schemas.microsoft.com/office/drawing/2014/main" id="{305A5968-F517-C8CC-259B-A97644ABD3FD}"/>
              </a:ext>
            </a:extLst>
          </p:cNvPr>
          <p:cNvSpPr txBox="1"/>
          <p:nvPr/>
        </p:nvSpPr>
        <p:spPr>
          <a:xfrm>
            <a:off x="821266" y="5604106"/>
            <a:ext cx="10941413" cy="369332"/>
          </a:xfrm>
          <a:prstGeom prst="rect">
            <a:avLst/>
          </a:prstGeom>
          <a:noFill/>
        </p:spPr>
        <p:txBody>
          <a:bodyPr wrap="square">
            <a:spAutoFit/>
          </a:bodyPr>
          <a:lstStyle/>
          <a:p>
            <a:r>
              <a:rPr lang="en-US" b="1" i="0" dirty="0">
                <a:solidFill>
                  <a:srgbClr val="242424"/>
                </a:solidFill>
                <a:effectLst/>
                <a:latin typeface="source-serif-pro"/>
              </a:rPr>
              <a:t>Tip</a:t>
            </a:r>
            <a:r>
              <a:rPr lang="en-US" b="0" i="0" dirty="0">
                <a:solidFill>
                  <a:srgbClr val="242424"/>
                </a:solidFill>
                <a:effectLst/>
                <a:latin typeface="source-serif-pro"/>
              </a:rPr>
              <a:t>: Don’t make chunks too small. Too small = context fragmentation. Too large = LLM can’t process it.</a:t>
            </a:r>
            <a:endParaRPr lang="en-US" dirty="0"/>
          </a:p>
        </p:txBody>
      </p:sp>
    </p:spTree>
    <p:extLst>
      <p:ext uri="{BB962C8B-B14F-4D97-AF65-F5344CB8AC3E}">
        <p14:creationId xmlns:p14="http://schemas.microsoft.com/office/powerpoint/2010/main" val="18388067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9A3CD-5C13-0117-694E-B67B160B09DD}"/>
              </a:ext>
            </a:extLst>
          </p:cNvPr>
          <p:cNvSpPr>
            <a:spLocks noGrp="1"/>
          </p:cNvSpPr>
          <p:nvPr>
            <p:ph type="title"/>
          </p:nvPr>
        </p:nvSpPr>
        <p:spPr/>
        <p:txBody>
          <a:bodyPr>
            <a:normAutofit fontScale="90000"/>
          </a:bodyPr>
          <a:lstStyle/>
          <a:p>
            <a:r>
              <a:rPr lang="en-US" dirty="0">
                <a:solidFill>
                  <a:srgbClr val="FB4E0B"/>
                </a:solidFill>
              </a:rPr>
              <a:t>Embedding Generation — Vectorizing Your Chunks</a:t>
            </a:r>
            <a:br>
              <a:rPr lang="en-US" dirty="0">
                <a:solidFill>
                  <a:srgbClr val="FB4E0B"/>
                </a:solidFill>
              </a:rPr>
            </a:br>
            <a:endParaRPr lang="en-US" dirty="0">
              <a:solidFill>
                <a:srgbClr val="FB4E0B"/>
              </a:solidFill>
            </a:endParaRPr>
          </a:p>
        </p:txBody>
      </p:sp>
      <p:sp>
        <p:nvSpPr>
          <p:cNvPr id="3" name="Content Placeholder 2">
            <a:extLst>
              <a:ext uri="{FF2B5EF4-FFF2-40B4-BE49-F238E27FC236}">
                <a16:creationId xmlns:a16="http://schemas.microsoft.com/office/drawing/2014/main" id="{0E08DACF-85D2-72BA-23D2-F58234E81C02}"/>
              </a:ext>
            </a:extLst>
          </p:cNvPr>
          <p:cNvSpPr>
            <a:spLocks noGrp="1"/>
          </p:cNvSpPr>
          <p:nvPr>
            <p:ph idx="1"/>
          </p:nvPr>
        </p:nvSpPr>
        <p:spPr>
          <a:xfrm>
            <a:off x="838200" y="1499054"/>
            <a:ext cx="10515600" cy="2925989"/>
          </a:xfrm>
        </p:spPr>
        <p:txBody>
          <a:bodyPr/>
          <a:lstStyle/>
          <a:p>
            <a:pPr marL="0" indent="0">
              <a:buNone/>
            </a:pPr>
            <a:r>
              <a:rPr lang="en-US" dirty="0"/>
              <a:t>Each chunk is converted into a </a:t>
            </a:r>
            <a:r>
              <a:rPr lang="en-US" b="1" dirty="0"/>
              <a:t>vector</a:t>
            </a:r>
            <a:r>
              <a:rPr lang="en-US" dirty="0"/>
              <a:t> using an embedding model.</a:t>
            </a:r>
          </a:p>
          <a:p>
            <a:pPr marL="0" indent="0">
              <a:buNone/>
            </a:pPr>
            <a:r>
              <a:rPr lang="en-US" b="1" dirty="0"/>
              <a:t>What are Embeddings?</a:t>
            </a:r>
          </a:p>
          <a:p>
            <a:r>
              <a:rPr lang="en-US" dirty="0"/>
              <a:t>Embeddings are </a:t>
            </a:r>
            <a:r>
              <a:rPr lang="en-US" b="1" dirty="0"/>
              <a:t>dense numerical representations</a:t>
            </a:r>
            <a:r>
              <a:rPr lang="en-US" dirty="0"/>
              <a:t> of text in high-dimensional space, where semantically similar texts are geometrically close to each other.</a:t>
            </a:r>
          </a:p>
          <a:p>
            <a:pPr marL="0" indent="0">
              <a:buNone/>
            </a:pPr>
            <a:r>
              <a:rPr lang="en-US" b="1" dirty="0"/>
              <a:t>Embedding Models to Use:</a:t>
            </a:r>
          </a:p>
          <a:p>
            <a:endParaRPr lang="en-US" dirty="0"/>
          </a:p>
        </p:txBody>
      </p:sp>
      <p:pic>
        <p:nvPicPr>
          <p:cNvPr id="17410" name="Picture 2">
            <a:extLst>
              <a:ext uri="{FF2B5EF4-FFF2-40B4-BE49-F238E27FC236}">
                <a16:creationId xmlns:a16="http://schemas.microsoft.com/office/drawing/2014/main" id="{EEE8D943-7889-626C-1762-FBA90CA66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520745"/>
            <a:ext cx="8555062" cy="215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211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E9F181-3254-39A6-E359-093588A68425}"/>
              </a:ext>
            </a:extLst>
          </p:cNvPr>
          <p:cNvSpPr>
            <a:spLocks noGrp="1"/>
          </p:cNvSpPr>
          <p:nvPr>
            <p:ph idx="1"/>
          </p:nvPr>
        </p:nvSpPr>
        <p:spPr>
          <a:xfrm>
            <a:off x="838200" y="1690688"/>
            <a:ext cx="10515600" cy="3862552"/>
          </a:xfrm>
        </p:spPr>
        <p:txBody>
          <a:bodyPr/>
          <a:lstStyle/>
          <a:p>
            <a:pPr marL="0" indent="0">
              <a:buNone/>
            </a:pPr>
            <a:r>
              <a:rPr lang="en-US" b="1" dirty="0"/>
              <a:t>Embedding in LangChain:</a:t>
            </a:r>
          </a:p>
          <a:p>
            <a:pPr marL="0" indent="0">
              <a:buNone/>
            </a:pPr>
            <a:r>
              <a:rPr lang="en-US" dirty="0">
                <a:solidFill>
                  <a:srgbClr val="FB4E0B"/>
                </a:solidFill>
                <a:highlight>
                  <a:srgbClr val="FFFF00"/>
                </a:highlight>
              </a:rPr>
              <a:t>Code: </a:t>
            </a:r>
          </a:p>
          <a:p>
            <a:pPr marL="0" indent="0">
              <a:buNone/>
            </a:pPr>
            <a:r>
              <a:rPr lang="en-US" dirty="0"/>
              <a:t>from </a:t>
            </a:r>
            <a:r>
              <a:rPr lang="en-US" dirty="0" err="1"/>
              <a:t>langchain.embeddings</a:t>
            </a:r>
            <a:r>
              <a:rPr lang="en-US" dirty="0"/>
              <a:t> import </a:t>
            </a:r>
            <a:r>
              <a:rPr lang="en-US" dirty="0" err="1"/>
              <a:t>DatabricksEmbeddings</a:t>
            </a:r>
            <a:br>
              <a:rPr lang="en-US" dirty="0"/>
            </a:br>
            <a:br>
              <a:rPr lang="en-US" dirty="0"/>
            </a:br>
            <a:r>
              <a:rPr lang="en-US" dirty="0" err="1"/>
              <a:t>embedding_model</a:t>
            </a:r>
            <a:r>
              <a:rPr lang="en-US" dirty="0"/>
              <a:t> = </a:t>
            </a:r>
            <a:r>
              <a:rPr lang="en-US" dirty="0" err="1"/>
              <a:t>DatabricksEmbeddings</a:t>
            </a:r>
            <a:r>
              <a:rPr lang="en-US" dirty="0"/>
              <a:t>(model="</a:t>
            </a:r>
            <a:r>
              <a:rPr lang="en-US" dirty="0" err="1"/>
              <a:t>databricks</a:t>
            </a:r>
            <a:r>
              <a:rPr lang="en-US" dirty="0"/>
              <a:t>-</a:t>
            </a:r>
            <a:r>
              <a:rPr lang="en-US" dirty="0" err="1"/>
              <a:t>bge</a:t>
            </a:r>
            <a:r>
              <a:rPr lang="en-US" dirty="0"/>
              <a:t>-large-</a:t>
            </a:r>
            <a:r>
              <a:rPr lang="en-US" dirty="0" err="1"/>
              <a:t>en</a:t>
            </a:r>
            <a:r>
              <a:rPr lang="en-US" dirty="0"/>
              <a:t>")</a:t>
            </a:r>
            <a:br>
              <a:rPr lang="en-US" dirty="0"/>
            </a:br>
            <a:r>
              <a:rPr lang="en-US" dirty="0" err="1"/>
              <a:t>chunk_vectors</a:t>
            </a:r>
            <a:r>
              <a:rPr lang="en-US" dirty="0"/>
              <a:t> = </a:t>
            </a:r>
            <a:r>
              <a:rPr lang="en-US" dirty="0" err="1"/>
              <a:t>embedding_model.embed_documents</a:t>
            </a:r>
            <a:r>
              <a:rPr lang="en-US" dirty="0"/>
              <a:t>([</a:t>
            </a:r>
            <a:r>
              <a:rPr lang="en-US" dirty="0" err="1"/>
              <a:t>chunk.page_content</a:t>
            </a:r>
            <a:r>
              <a:rPr lang="en-US" dirty="0"/>
              <a:t> for chunk in chunks])</a:t>
            </a:r>
          </a:p>
        </p:txBody>
      </p:sp>
      <p:sp>
        <p:nvSpPr>
          <p:cNvPr id="4" name="Title 1">
            <a:extLst>
              <a:ext uri="{FF2B5EF4-FFF2-40B4-BE49-F238E27FC236}">
                <a16:creationId xmlns:a16="http://schemas.microsoft.com/office/drawing/2014/main" id="{00EC56AC-BD7A-843F-EF9C-7357A454F34E}"/>
              </a:ext>
            </a:extLst>
          </p:cNvPr>
          <p:cNvSpPr>
            <a:spLocks noGrp="1"/>
          </p:cNvSpPr>
          <p:nvPr>
            <p:ph type="title"/>
          </p:nvPr>
        </p:nvSpPr>
        <p:spPr>
          <a:xfrm>
            <a:off x="838200" y="365125"/>
            <a:ext cx="10515600" cy="1325563"/>
          </a:xfrm>
        </p:spPr>
        <p:txBody>
          <a:bodyPr>
            <a:normAutofit fontScale="90000"/>
          </a:bodyPr>
          <a:lstStyle/>
          <a:p>
            <a:r>
              <a:rPr lang="en-US" b="1" dirty="0"/>
              <a:t>Embedding Generation — Vectorizing Your Chunks</a:t>
            </a:r>
            <a:br>
              <a:rPr lang="en-US" b="1" dirty="0"/>
            </a:br>
            <a:endParaRPr lang="en-US" dirty="0"/>
          </a:p>
        </p:txBody>
      </p:sp>
    </p:spTree>
    <p:extLst>
      <p:ext uri="{BB962C8B-B14F-4D97-AF65-F5344CB8AC3E}">
        <p14:creationId xmlns:p14="http://schemas.microsoft.com/office/powerpoint/2010/main" val="2722261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9E76-5833-7C8F-35CC-376149F7A163}"/>
              </a:ext>
            </a:extLst>
          </p:cNvPr>
          <p:cNvSpPr>
            <a:spLocks noGrp="1"/>
          </p:cNvSpPr>
          <p:nvPr>
            <p:ph type="title"/>
          </p:nvPr>
        </p:nvSpPr>
        <p:spPr>
          <a:xfrm>
            <a:off x="838200" y="500591"/>
            <a:ext cx="10515600" cy="1325563"/>
          </a:xfrm>
        </p:spPr>
        <p:txBody>
          <a:bodyPr>
            <a:normAutofit fontScale="90000"/>
          </a:bodyPr>
          <a:lstStyle/>
          <a:p>
            <a:r>
              <a:rPr lang="en-US" dirty="0">
                <a:solidFill>
                  <a:srgbClr val="FB4E0B"/>
                </a:solidFill>
              </a:rPr>
              <a:t>Metadata Design — Traceability, Filtering, Search</a:t>
            </a:r>
            <a:br>
              <a:rPr lang="en-US" dirty="0">
                <a:solidFill>
                  <a:srgbClr val="FB4E0B"/>
                </a:solidFill>
              </a:rPr>
            </a:br>
            <a:endParaRPr lang="en-US" dirty="0">
              <a:solidFill>
                <a:srgbClr val="FB4E0B"/>
              </a:solidFill>
            </a:endParaRPr>
          </a:p>
        </p:txBody>
      </p:sp>
      <p:sp>
        <p:nvSpPr>
          <p:cNvPr id="3" name="Content Placeholder 2">
            <a:extLst>
              <a:ext uri="{FF2B5EF4-FFF2-40B4-BE49-F238E27FC236}">
                <a16:creationId xmlns:a16="http://schemas.microsoft.com/office/drawing/2014/main" id="{0682D679-D6F2-5337-527D-98D1E43DC1E9}"/>
              </a:ext>
            </a:extLst>
          </p:cNvPr>
          <p:cNvSpPr>
            <a:spLocks noGrp="1"/>
          </p:cNvSpPr>
          <p:nvPr>
            <p:ph idx="1"/>
          </p:nvPr>
        </p:nvSpPr>
        <p:spPr>
          <a:xfrm>
            <a:off x="838200" y="2055666"/>
            <a:ext cx="5122333" cy="2982858"/>
          </a:xfrm>
        </p:spPr>
        <p:txBody>
          <a:bodyPr>
            <a:normAutofit fontScale="70000" lnSpcReduction="20000"/>
          </a:bodyPr>
          <a:lstStyle/>
          <a:p>
            <a:r>
              <a:rPr lang="en-US" dirty="0"/>
              <a:t>Metadata helps:</a:t>
            </a:r>
          </a:p>
          <a:p>
            <a:r>
              <a:rPr lang="en-US" dirty="0"/>
              <a:t>Filter documents based on user roles</a:t>
            </a:r>
          </a:p>
          <a:p>
            <a:r>
              <a:rPr lang="en-US" dirty="0"/>
              <a:t>Understand where the answer came from</a:t>
            </a:r>
          </a:p>
          <a:p>
            <a:r>
              <a:rPr lang="en-US" dirty="0"/>
              <a:t>Boost relevance using custom logic</a:t>
            </a:r>
          </a:p>
          <a:p>
            <a:pPr marL="0" indent="0">
              <a:buNone/>
            </a:pPr>
            <a:endParaRPr lang="en-US" b="1" dirty="0"/>
          </a:p>
          <a:p>
            <a:pPr marL="0" indent="0">
              <a:buNone/>
            </a:pPr>
            <a:r>
              <a:rPr lang="en-US" b="1" dirty="0"/>
              <a:t>Useful Metadata Fields:</a:t>
            </a:r>
          </a:p>
          <a:p>
            <a:r>
              <a:rPr lang="en-US" dirty="0"/>
              <a:t>Press enter or click to view image in full size</a:t>
            </a:r>
            <a:br>
              <a:rPr lang="en-US" dirty="0"/>
            </a:br>
            <a:endParaRPr lang="en-US" dirty="0"/>
          </a:p>
        </p:txBody>
      </p:sp>
      <p:pic>
        <p:nvPicPr>
          <p:cNvPr id="18434" name="Picture 2">
            <a:extLst>
              <a:ext uri="{FF2B5EF4-FFF2-40B4-BE49-F238E27FC236}">
                <a16:creationId xmlns:a16="http://schemas.microsoft.com/office/drawing/2014/main" id="{41E61642-D067-1050-E2C8-5603ABCF4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55666"/>
            <a:ext cx="5808661" cy="2746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882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7505F-7C98-D9F7-7FD8-F59697EB6E6B}"/>
              </a:ext>
            </a:extLst>
          </p:cNvPr>
          <p:cNvSpPr>
            <a:spLocks noGrp="1"/>
          </p:cNvSpPr>
          <p:nvPr>
            <p:ph type="title"/>
          </p:nvPr>
        </p:nvSpPr>
        <p:spPr>
          <a:xfrm>
            <a:off x="522890" y="83973"/>
            <a:ext cx="10515600" cy="1325563"/>
          </a:xfrm>
        </p:spPr>
        <p:txBody>
          <a:bodyPr/>
          <a:lstStyle/>
          <a:p>
            <a:r>
              <a:rPr lang="nn-NO" dirty="0">
                <a:solidFill>
                  <a:srgbClr val="FB4E0B"/>
                </a:solidFill>
              </a:rPr>
              <a:t>Delta Table Design for RAG</a:t>
            </a:r>
            <a:endParaRPr lang="en-US" dirty="0">
              <a:solidFill>
                <a:srgbClr val="FB4E0B"/>
              </a:solidFill>
            </a:endParaRPr>
          </a:p>
        </p:txBody>
      </p:sp>
      <p:sp>
        <p:nvSpPr>
          <p:cNvPr id="3" name="Content Placeholder 2">
            <a:extLst>
              <a:ext uri="{FF2B5EF4-FFF2-40B4-BE49-F238E27FC236}">
                <a16:creationId xmlns:a16="http://schemas.microsoft.com/office/drawing/2014/main" id="{875653BC-F933-5CE8-0ED9-121D22C17390}"/>
              </a:ext>
            </a:extLst>
          </p:cNvPr>
          <p:cNvSpPr>
            <a:spLocks noGrp="1"/>
          </p:cNvSpPr>
          <p:nvPr>
            <p:ph idx="1"/>
          </p:nvPr>
        </p:nvSpPr>
        <p:spPr>
          <a:xfrm>
            <a:off x="649013" y="1253331"/>
            <a:ext cx="10515600" cy="4351338"/>
          </a:xfrm>
        </p:spPr>
        <p:txBody>
          <a:bodyPr/>
          <a:lstStyle/>
          <a:p>
            <a:pPr marL="0" indent="0">
              <a:buNone/>
            </a:pPr>
            <a:r>
              <a:rPr lang="en-US" dirty="0"/>
              <a:t>Delta Lake offers versioning, ACID compliance, and performance. This makes it ideal for storing RAG content.</a:t>
            </a:r>
          </a:p>
        </p:txBody>
      </p:sp>
      <p:pic>
        <p:nvPicPr>
          <p:cNvPr id="20482" name="Picture 2">
            <a:extLst>
              <a:ext uri="{FF2B5EF4-FFF2-40B4-BE49-F238E27FC236}">
                <a16:creationId xmlns:a16="http://schemas.microsoft.com/office/drawing/2014/main" id="{9035AA49-A811-6488-A748-575A1ED2E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013" y="2106009"/>
            <a:ext cx="9693166" cy="476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94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7E35-C4D5-B08B-5300-90090531C492}"/>
              </a:ext>
            </a:extLst>
          </p:cNvPr>
          <p:cNvSpPr>
            <a:spLocks noGrp="1"/>
          </p:cNvSpPr>
          <p:nvPr>
            <p:ph type="title"/>
          </p:nvPr>
        </p:nvSpPr>
        <p:spPr/>
        <p:txBody>
          <a:bodyPr/>
          <a:lstStyle/>
          <a:p>
            <a:r>
              <a:rPr lang="en-US" dirty="0">
                <a:solidFill>
                  <a:srgbClr val="FB4E0B"/>
                </a:solidFill>
              </a:rPr>
              <a:t>Sample Code to Create Delta Table:</a:t>
            </a:r>
          </a:p>
        </p:txBody>
      </p:sp>
      <p:pic>
        <p:nvPicPr>
          <p:cNvPr id="5" name="Content Placeholder 4" descr="A screen shot of a computer code&#10;&#10;AI-generated content may be incorrect.">
            <a:extLst>
              <a:ext uri="{FF2B5EF4-FFF2-40B4-BE49-F238E27FC236}">
                <a16:creationId xmlns:a16="http://schemas.microsoft.com/office/drawing/2014/main" id="{A214C7E7-00A5-FE12-0F0A-481782C120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7"/>
            <a:ext cx="7459134" cy="3673229"/>
          </a:xfrm>
        </p:spPr>
      </p:pic>
      <p:sp>
        <p:nvSpPr>
          <p:cNvPr id="7" name="TextBox 6">
            <a:extLst>
              <a:ext uri="{FF2B5EF4-FFF2-40B4-BE49-F238E27FC236}">
                <a16:creationId xmlns:a16="http://schemas.microsoft.com/office/drawing/2014/main" id="{8B1CA7CC-37C6-2782-2A3C-046A37A1C979}"/>
              </a:ext>
            </a:extLst>
          </p:cNvPr>
          <p:cNvSpPr txBox="1"/>
          <p:nvPr/>
        </p:nvSpPr>
        <p:spPr>
          <a:xfrm>
            <a:off x="838199" y="5514569"/>
            <a:ext cx="11196092" cy="353943"/>
          </a:xfrm>
          <a:prstGeom prst="rect">
            <a:avLst/>
          </a:prstGeom>
          <a:noFill/>
        </p:spPr>
        <p:txBody>
          <a:bodyPr wrap="square">
            <a:spAutoFit/>
          </a:bodyPr>
          <a:lstStyle/>
          <a:p>
            <a:r>
              <a:rPr lang="en-US" sz="1700" b="0" i="0" dirty="0">
                <a:effectLst/>
                <a:latin typeface="source-serif-pro"/>
              </a:rPr>
              <a:t>Register it in Unity Catalog for governance</a:t>
            </a:r>
            <a:r>
              <a:rPr lang="en-US" sz="1700" dirty="0"/>
              <a:t>, supporting data lineage, access control, and compliance</a:t>
            </a:r>
            <a:r>
              <a:rPr lang="en-US" sz="1700" b="0" i="0" dirty="0">
                <a:effectLst/>
                <a:latin typeface="source-serif-pro"/>
              </a:rPr>
              <a:t>:</a:t>
            </a:r>
            <a:endParaRPr lang="en-US" sz="1700" dirty="0"/>
          </a:p>
        </p:txBody>
      </p:sp>
      <p:pic>
        <p:nvPicPr>
          <p:cNvPr id="9" name="Picture 8" descr="A close-up of a computer code&#10;&#10;AI-generated content may be incorrect.">
            <a:extLst>
              <a:ext uri="{FF2B5EF4-FFF2-40B4-BE49-F238E27FC236}">
                <a16:creationId xmlns:a16="http://schemas.microsoft.com/office/drawing/2014/main" id="{9E5A62BE-2292-1BC8-D45D-A4A8CD40A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5883901"/>
            <a:ext cx="5799083" cy="960529"/>
          </a:xfrm>
          <a:prstGeom prst="rect">
            <a:avLst/>
          </a:prstGeom>
        </p:spPr>
      </p:pic>
      <p:sp>
        <p:nvSpPr>
          <p:cNvPr id="4" name="TextBox 3">
            <a:extLst>
              <a:ext uri="{FF2B5EF4-FFF2-40B4-BE49-F238E27FC236}">
                <a16:creationId xmlns:a16="http://schemas.microsoft.com/office/drawing/2014/main" id="{95EBE7BA-FE7C-659E-4D2A-1BEB263973ED}"/>
              </a:ext>
            </a:extLst>
          </p:cNvPr>
          <p:cNvSpPr txBox="1"/>
          <p:nvPr/>
        </p:nvSpPr>
        <p:spPr>
          <a:xfrm>
            <a:off x="6960413" y="1692976"/>
            <a:ext cx="3518867" cy="2492990"/>
          </a:xfrm>
          <a:prstGeom prst="rect">
            <a:avLst/>
          </a:prstGeom>
          <a:noFill/>
        </p:spPr>
        <p:txBody>
          <a:bodyPr wrap="square">
            <a:spAutoFit/>
          </a:bodyPr>
          <a:lstStyle/>
          <a:p>
            <a:pPr algn="l">
              <a:buFont typeface="Arial" panose="020B0604020202020204" pitchFamily="34" charset="0"/>
              <a:buChar char="•"/>
            </a:pPr>
            <a:r>
              <a:rPr lang="en-US" sz="1300" b="0" i="0" dirty="0">
                <a:effectLst/>
                <a:latin typeface="fkGroteskNeue"/>
              </a:rPr>
              <a:t>Imports all data types from </a:t>
            </a:r>
            <a:r>
              <a:rPr lang="en-US" sz="1300" b="0" i="0" dirty="0" err="1">
                <a:effectLst/>
                <a:latin typeface="fkGroteskNeue"/>
              </a:rPr>
              <a:t>PySpark’s</a:t>
            </a:r>
            <a:r>
              <a:rPr lang="en-US" sz="1300" b="0" i="0" dirty="0">
                <a:effectLst/>
                <a:latin typeface="fkGroteskNeue"/>
              </a:rPr>
              <a:t> SQL module.</a:t>
            </a:r>
          </a:p>
          <a:p>
            <a:pPr algn="l">
              <a:buFont typeface="Arial" panose="020B0604020202020204" pitchFamily="34" charset="0"/>
              <a:buChar char="•"/>
            </a:pPr>
            <a:r>
              <a:rPr lang="en-US" sz="1300" b="0" i="0" dirty="0">
                <a:effectLst/>
                <a:latin typeface="fkGroteskNeue"/>
              </a:rPr>
              <a:t>Defines a schema for the Delta table, specifying each field’s name and data type:</a:t>
            </a:r>
          </a:p>
          <a:p>
            <a:pPr marL="742950" lvl="1" indent="-285750" algn="l">
              <a:buFont typeface="Arial" panose="020B0604020202020204" pitchFamily="34" charset="0"/>
              <a:buChar char="•"/>
            </a:pPr>
            <a:r>
              <a:rPr lang="en-US" sz="1300" b="0" i="0" dirty="0" err="1">
                <a:effectLst/>
                <a:latin typeface="berkeleyMono"/>
              </a:rPr>
              <a:t>chunk_id</a:t>
            </a:r>
            <a:r>
              <a:rPr lang="en-US" sz="1300" b="0" i="0" dirty="0">
                <a:effectLst/>
                <a:latin typeface="fkGroteskNeue"/>
              </a:rPr>
              <a:t>, </a:t>
            </a:r>
            <a:r>
              <a:rPr lang="en-US" sz="1300" b="0" i="0" dirty="0">
                <a:effectLst/>
                <a:latin typeface="berkeleyMono"/>
              </a:rPr>
              <a:t>doc</a:t>
            </a:r>
            <a:r>
              <a:rPr lang="en-US" sz="1300" b="0" i="0" dirty="0">
                <a:effectLst/>
                <a:latin typeface="fkGroteskNeue"/>
              </a:rPr>
              <a:t>, </a:t>
            </a:r>
            <a:r>
              <a:rPr lang="en-US" sz="1300" b="0" i="0" dirty="0" err="1">
                <a:effectLst/>
                <a:latin typeface="berkeleyMono"/>
              </a:rPr>
              <a:t>doc_type</a:t>
            </a:r>
            <a:r>
              <a:rPr lang="en-US" sz="1300" b="0" i="0" dirty="0">
                <a:effectLst/>
                <a:latin typeface="fkGroteskNeue"/>
              </a:rPr>
              <a:t>, </a:t>
            </a:r>
            <a:r>
              <a:rPr lang="en-US" sz="1300" b="0" i="0" dirty="0" err="1">
                <a:effectLst/>
                <a:latin typeface="berkeleyMono"/>
              </a:rPr>
              <a:t>doc_path</a:t>
            </a:r>
            <a:r>
              <a:rPr lang="en-US" sz="1300" b="0" i="0" dirty="0">
                <a:effectLst/>
                <a:latin typeface="fkGroteskNeue"/>
              </a:rPr>
              <a:t>, </a:t>
            </a:r>
            <a:r>
              <a:rPr lang="en-US" sz="1300" b="0" i="0" dirty="0" err="1">
                <a:effectLst/>
                <a:latin typeface="berkeleyMono"/>
              </a:rPr>
              <a:t>embedding_model</a:t>
            </a:r>
            <a:r>
              <a:rPr lang="en-US" sz="1300" b="0" i="0" dirty="0">
                <a:effectLst/>
                <a:latin typeface="fkGroteskNeue"/>
              </a:rPr>
              <a:t>: strings for IDs, document contents, types, file paths, and model names.</a:t>
            </a:r>
          </a:p>
          <a:p>
            <a:pPr marL="742950" lvl="1" indent="-285750" algn="l">
              <a:buFont typeface="Arial" panose="020B0604020202020204" pitchFamily="34" charset="0"/>
              <a:buChar char="•"/>
            </a:pPr>
            <a:r>
              <a:rPr lang="en-US" sz="1300" b="0" i="0" dirty="0">
                <a:effectLst/>
                <a:latin typeface="berkeleyMono"/>
              </a:rPr>
              <a:t>vector</a:t>
            </a:r>
            <a:r>
              <a:rPr lang="en-US" sz="1300" b="0" i="0" dirty="0">
                <a:effectLst/>
                <a:latin typeface="fkGroteskNeue"/>
              </a:rPr>
              <a:t>: array of floats to store embedding vectors.</a:t>
            </a:r>
          </a:p>
          <a:p>
            <a:pPr marL="742950" lvl="1" indent="-285750" algn="l">
              <a:buFont typeface="Arial" panose="020B0604020202020204" pitchFamily="34" charset="0"/>
              <a:buChar char="•"/>
            </a:pPr>
            <a:r>
              <a:rPr lang="en-US" sz="1300" b="0" i="0" dirty="0" err="1">
                <a:effectLst/>
                <a:latin typeface="berkeleyMono"/>
              </a:rPr>
              <a:t>last_updated</a:t>
            </a:r>
            <a:r>
              <a:rPr lang="en-US" sz="1300" b="0" i="0" dirty="0">
                <a:effectLst/>
                <a:latin typeface="fkGroteskNeue"/>
              </a:rPr>
              <a:t>: timestamp indicating last update time.</a:t>
            </a:r>
          </a:p>
        </p:txBody>
      </p:sp>
      <p:sp>
        <p:nvSpPr>
          <p:cNvPr id="6" name="Rectangle 5">
            <a:extLst>
              <a:ext uri="{FF2B5EF4-FFF2-40B4-BE49-F238E27FC236}">
                <a16:creationId xmlns:a16="http://schemas.microsoft.com/office/drawing/2014/main" id="{9B2C2838-A0A3-3530-B553-39E4F798B45A}"/>
              </a:ext>
            </a:extLst>
          </p:cNvPr>
          <p:cNvSpPr/>
          <p:nvPr/>
        </p:nvSpPr>
        <p:spPr>
          <a:xfrm>
            <a:off x="1056290" y="1948142"/>
            <a:ext cx="5249917" cy="2605893"/>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9DEB201-CF41-69A8-B5B2-3416DA4ED0AA}"/>
              </a:ext>
            </a:extLst>
          </p:cNvPr>
          <p:cNvCxnSpPr>
            <a:cxnSpLocks/>
          </p:cNvCxnSpPr>
          <p:nvPr/>
        </p:nvCxnSpPr>
        <p:spPr>
          <a:xfrm>
            <a:off x="6306207" y="2626060"/>
            <a:ext cx="845025"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6D11156-B8A9-1273-2C7D-54B54EC8C672}"/>
              </a:ext>
            </a:extLst>
          </p:cNvPr>
          <p:cNvSpPr txBox="1"/>
          <p:nvPr/>
        </p:nvSpPr>
        <p:spPr>
          <a:xfrm>
            <a:off x="8515424" y="4500696"/>
            <a:ext cx="3518867" cy="892552"/>
          </a:xfrm>
          <a:prstGeom prst="rect">
            <a:avLst/>
          </a:prstGeom>
          <a:noFill/>
        </p:spPr>
        <p:txBody>
          <a:bodyPr wrap="square">
            <a:spAutoFit/>
          </a:bodyPr>
          <a:lstStyle>
            <a:defPPr>
              <a:defRPr lang="en-US"/>
            </a:defPPr>
            <a:lvl1pPr>
              <a:buFont typeface="Arial" panose="020B0604020202020204" pitchFamily="34" charset="0"/>
              <a:buChar char="•"/>
              <a:defRPr sz="1300" b="0" i="0">
                <a:effectLst/>
                <a:latin typeface="fkGroteskNeue"/>
              </a:defRPr>
            </a:lvl1pPr>
            <a:lvl2pPr marL="742950" lvl="1" indent="-285750">
              <a:buFont typeface="Arial" panose="020B0604020202020204" pitchFamily="34" charset="0"/>
              <a:buChar char="•"/>
              <a:defRPr sz="1300" b="0" i="0">
                <a:effectLst/>
                <a:latin typeface="berkeleyMono"/>
              </a:defRPr>
            </a:lvl2pPr>
          </a:lstStyle>
          <a:p>
            <a:r>
              <a:rPr lang="en-US" dirty="0"/>
              <a:t>Creates a Spark </a:t>
            </a:r>
            <a:r>
              <a:rPr lang="en-US" dirty="0" err="1"/>
              <a:t>DataFrame</a:t>
            </a:r>
            <a:r>
              <a:rPr lang="en-US" dirty="0"/>
              <a:t> using the above schema and some variable data.</a:t>
            </a:r>
          </a:p>
          <a:p>
            <a:r>
              <a:rPr lang="en-US" dirty="0"/>
              <a:t>Writes this </a:t>
            </a:r>
            <a:r>
              <a:rPr lang="en-US" dirty="0" err="1"/>
              <a:t>DataFrame</a:t>
            </a:r>
            <a:r>
              <a:rPr lang="en-US" dirty="0"/>
              <a:t> to a Delta table, overwriting any previous data at the given path.</a:t>
            </a:r>
          </a:p>
        </p:txBody>
      </p:sp>
      <p:sp>
        <p:nvSpPr>
          <p:cNvPr id="13" name="Rectangle 12">
            <a:extLst>
              <a:ext uri="{FF2B5EF4-FFF2-40B4-BE49-F238E27FC236}">
                <a16:creationId xmlns:a16="http://schemas.microsoft.com/office/drawing/2014/main" id="{CC30FEF4-79DD-9817-E451-E99B673C0648}"/>
              </a:ext>
            </a:extLst>
          </p:cNvPr>
          <p:cNvSpPr/>
          <p:nvPr/>
        </p:nvSpPr>
        <p:spPr>
          <a:xfrm>
            <a:off x="1056290" y="4650576"/>
            <a:ext cx="6968358" cy="581377"/>
          </a:xfrm>
          <a:prstGeom prst="rect">
            <a:avLst/>
          </a:prstGeom>
          <a:noFill/>
          <a:ln w="38100">
            <a:solidFill>
              <a:srgbClr val="FB4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711BD6F-7E5A-1AB5-C10D-486C3DE15D01}"/>
              </a:ext>
            </a:extLst>
          </p:cNvPr>
          <p:cNvCxnSpPr>
            <a:cxnSpLocks/>
          </p:cNvCxnSpPr>
          <p:nvPr/>
        </p:nvCxnSpPr>
        <p:spPr>
          <a:xfrm>
            <a:off x="8024648" y="4960738"/>
            <a:ext cx="490776" cy="0"/>
          </a:xfrm>
          <a:prstGeom prst="straightConnector1">
            <a:avLst/>
          </a:prstGeom>
          <a:ln w="38100">
            <a:solidFill>
              <a:srgbClr val="FB4E0B"/>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699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D10A7-AF85-0E98-7A18-9204592559A6}"/>
              </a:ext>
            </a:extLst>
          </p:cNvPr>
          <p:cNvSpPr>
            <a:spLocks noGrp="1"/>
          </p:cNvSpPr>
          <p:nvPr>
            <p:ph type="title"/>
          </p:nvPr>
        </p:nvSpPr>
        <p:spPr/>
        <p:txBody>
          <a:bodyPr>
            <a:normAutofit/>
          </a:bodyPr>
          <a:lstStyle/>
          <a:p>
            <a:r>
              <a:rPr lang="en-US" dirty="0">
                <a:solidFill>
                  <a:srgbClr val="FB4E0B"/>
                </a:solidFill>
              </a:rPr>
              <a:t>Vector Indexing Using Mosaic AI Vector Search</a:t>
            </a:r>
          </a:p>
        </p:txBody>
      </p:sp>
      <p:sp>
        <p:nvSpPr>
          <p:cNvPr id="3" name="Content Placeholder 2">
            <a:extLst>
              <a:ext uri="{FF2B5EF4-FFF2-40B4-BE49-F238E27FC236}">
                <a16:creationId xmlns:a16="http://schemas.microsoft.com/office/drawing/2014/main" id="{A86E2A01-7A07-4E61-B9DA-306DE1B3CA80}"/>
              </a:ext>
            </a:extLst>
          </p:cNvPr>
          <p:cNvSpPr>
            <a:spLocks noGrp="1"/>
          </p:cNvSpPr>
          <p:nvPr>
            <p:ph idx="1"/>
          </p:nvPr>
        </p:nvSpPr>
        <p:spPr>
          <a:xfrm>
            <a:off x="838200" y="1769121"/>
            <a:ext cx="10515600" cy="4351338"/>
          </a:xfrm>
        </p:spPr>
        <p:txBody>
          <a:bodyPr/>
          <a:lstStyle/>
          <a:p>
            <a:pPr marL="0" indent="0">
              <a:buNone/>
            </a:pPr>
            <a:r>
              <a:rPr lang="en-US" dirty="0">
                <a:latin typeface="+mj-lt"/>
              </a:rPr>
              <a:t>Once the Delta table is created, </a:t>
            </a:r>
            <a:r>
              <a:rPr lang="en-US" b="1" dirty="0">
                <a:latin typeface="+mj-lt"/>
              </a:rPr>
              <a:t>enable Mosaic AI Vector Search</a:t>
            </a:r>
            <a:r>
              <a:rPr lang="en-US" dirty="0">
                <a:latin typeface="+mj-lt"/>
              </a:rPr>
              <a:t>:</a:t>
            </a:r>
            <a:br>
              <a:rPr lang="en-US" dirty="0">
                <a:latin typeface="+mj-lt"/>
              </a:rPr>
            </a:br>
            <a:r>
              <a:rPr lang="en-US" b="1" dirty="0">
                <a:latin typeface="+mj-lt"/>
              </a:rPr>
              <a:t>Steps:</a:t>
            </a:r>
          </a:p>
          <a:p>
            <a:pPr marL="514350" indent="-514350">
              <a:buFont typeface="+mj-lt"/>
              <a:buAutoNum type="arabicPeriod"/>
            </a:pPr>
            <a:r>
              <a:rPr lang="en-US" dirty="0">
                <a:latin typeface="+mj-lt"/>
              </a:rPr>
              <a:t>Ensure vector column exists and is float array</a:t>
            </a:r>
          </a:p>
          <a:p>
            <a:pPr marL="514350" indent="-514350">
              <a:buFont typeface="+mj-lt"/>
              <a:buAutoNum type="arabicPeriod"/>
            </a:pPr>
            <a:r>
              <a:rPr lang="en-US" dirty="0">
                <a:latin typeface="+mj-lt"/>
              </a:rPr>
              <a:t>Enable </a:t>
            </a:r>
            <a:r>
              <a:rPr lang="en-US" b="1" dirty="0">
                <a:latin typeface="+mj-lt"/>
              </a:rPr>
              <a:t>Change Data Feed (CDF)</a:t>
            </a:r>
            <a:r>
              <a:rPr lang="en-US" dirty="0">
                <a:latin typeface="+mj-lt"/>
              </a:rPr>
              <a:t> for updates</a:t>
            </a:r>
          </a:p>
          <a:p>
            <a:pPr marL="514350" indent="-514350">
              <a:buFont typeface="+mj-lt"/>
              <a:buAutoNum type="arabicPeriod"/>
            </a:pPr>
            <a:r>
              <a:rPr lang="en-US" dirty="0">
                <a:latin typeface="+mj-lt"/>
              </a:rPr>
              <a:t>Create an index:</a:t>
            </a:r>
            <a:br>
              <a:rPr lang="en-US" dirty="0">
                <a:latin typeface="+mj-lt"/>
              </a:rPr>
            </a:br>
            <a:endParaRPr lang="en-US" dirty="0">
              <a:latin typeface="+mj-lt"/>
            </a:endParaRPr>
          </a:p>
        </p:txBody>
      </p:sp>
      <p:pic>
        <p:nvPicPr>
          <p:cNvPr id="5" name="Picture 4" descr="A computer code with text">
            <a:extLst>
              <a:ext uri="{FF2B5EF4-FFF2-40B4-BE49-F238E27FC236}">
                <a16:creationId xmlns:a16="http://schemas.microsoft.com/office/drawing/2014/main" id="{9F2438CF-22E8-D639-3AEF-3A924A84E49E}"/>
              </a:ext>
            </a:extLst>
          </p:cNvPr>
          <p:cNvPicPr>
            <a:picLocks noChangeAspect="1"/>
          </p:cNvPicPr>
          <p:nvPr/>
        </p:nvPicPr>
        <p:blipFill>
          <a:blip r:embed="rId2">
            <a:extLst>
              <a:ext uri="{28A0092B-C50C-407E-A947-70E740481C1C}">
                <a14:useLocalDpi xmlns:a14="http://schemas.microsoft.com/office/drawing/2010/main" val="0"/>
              </a:ext>
            </a:extLst>
          </a:blip>
          <a:srcRect r="35282"/>
          <a:stretch>
            <a:fillRect/>
          </a:stretch>
        </p:blipFill>
        <p:spPr>
          <a:xfrm>
            <a:off x="988841" y="4197795"/>
            <a:ext cx="6515545" cy="2392446"/>
          </a:xfrm>
          <a:prstGeom prst="rect">
            <a:avLst/>
          </a:prstGeom>
        </p:spPr>
      </p:pic>
      <p:sp>
        <p:nvSpPr>
          <p:cNvPr id="7" name="TextBox 6">
            <a:extLst>
              <a:ext uri="{FF2B5EF4-FFF2-40B4-BE49-F238E27FC236}">
                <a16:creationId xmlns:a16="http://schemas.microsoft.com/office/drawing/2014/main" id="{23ABE0F5-C65D-348E-D914-885292251ABC}"/>
              </a:ext>
            </a:extLst>
          </p:cNvPr>
          <p:cNvSpPr txBox="1"/>
          <p:nvPr/>
        </p:nvSpPr>
        <p:spPr>
          <a:xfrm>
            <a:off x="7788165" y="4197795"/>
            <a:ext cx="4256688" cy="1925976"/>
          </a:xfrm>
          <a:prstGeom prst="rect">
            <a:avLst/>
          </a:prstGeom>
          <a:noFill/>
        </p:spPr>
        <p:txBody>
          <a:bodyPr wrap="square">
            <a:spAutoFit/>
          </a:bodyPr>
          <a:lstStyle/>
          <a:p>
            <a:pPr algn="l">
              <a:lnSpc>
                <a:spcPts val="2400"/>
              </a:lnSpc>
              <a:buNone/>
            </a:pPr>
            <a:r>
              <a:rPr lang="en-US" dirty="0">
                <a:solidFill>
                  <a:srgbClr val="242424"/>
                </a:solidFill>
                <a:latin typeface="+mj-lt"/>
              </a:rPr>
              <a:t>We</a:t>
            </a:r>
            <a:r>
              <a:rPr lang="en-US" b="0" i="0" dirty="0">
                <a:solidFill>
                  <a:srgbClr val="242424"/>
                </a:solidFill>
                <a:effectLst/>
                <a:latin typeface="+mj-lt"/>
              </a:rPr>
              <a:t> can now use:</a:t>
            </a:r>
          </a:p>
          <a:p>
            <a:pPr marL="285750" indent="-285750" algn="l">
              <a:lnSpc>
                <a:spcPts val="2400"/>
              </a:lnSpc>
              <a:buFont typeface="Arial" panose="020B0604020202020204" pitchFamily="34" charset="0"/>
              <a:buChar char="•"/>
            </a:pPr>
            <a:r>
              <a:rPr lang="en-US" b="1" i="0" dirty="0">
                <a:solidFill>
                  <a:srgbClr val="242424"/>
                </a:solidFill>
                <a:effectLst/>
                <a:latin typeface="+mj-lt"/>
              </a:rPr>
              <a:t>LangChain</a:t>
            </a:r>
            <a:r>
              <a:rPr lang="en-US" b="0" i="0" dirty="0">
                <a:solidFill>
                  <a:srgbClr val="242424"/>
                </a:solidFill>
                <a:effectLst/>
                <a:latin typeface="+mj-lt"/>
              </a:rPr>
              <a:t> to connect to the index</a:t>
            </a:r>
          </a:p>
          <a:p>
            <a:pPr marL="285750" indent="-285750" algn="l">
              <a:lnSpc>
                <a:spcPts val="2400"/>
              </a:lnSpc>
              <a:buFont typeface="Arial" panose="020B0604020202020204" pitchFamily="34" charset="0"/>
              <a:buChar char="•"/>
            </a:pPr>
            <a:r>
              <a:rPr lang="en-US" b="1" i="0" dirty="0">
                <a:solidFill>
                  <a:srgbClr val="242424"/>
                </a:solidFill>
                <a:effectLst/>
                <a:latin typeface="+mj-lt"/>
              </a:rPr>
              <a:t>Semantic search</a:t>
            </a:r>
            <a:r>
              <a:rPr lang="en-US" b="0" i="0" dirty="0">
                <a:solidFill>
                  <a:srgbClr val="242424"/>
                </a:solidFill>
                <a:effectLst/>
                <a:latin typeface="+mj-lt"/>
              </a:rPr>
              <a:t> to retrieve top-K relevant chunks</a:t>
            </a:r>
          </a:p>
          <a:p>
            <a:pPr marL="285750" indent="-285750" algn="l">
              <a:lnSpc>
                <a:spcPts val="2400"/>
              </a:lnSpc>
              <a:buFont typeface="Arial" panose="020B0604020202020204" pitchFamily="34" charset="0"/>
              <a:buChar char="•"/>
            </a:pPr>
            <a:r>
              <a:rPr lang="en-US" b="1" i="0" dirty="0">
                <a:solidFill>
                  <a:srgbClr val="242424"/>
                </a:solidFill>
                <a:effectLst/>
                <a:latin typeface="+mj-lt"/>
              </a:rPr>
              <a:t>Audit the source</a:t>
            </a:r>
            <a:r>
              <a:rPr lang="en-US" b="0" i="0" dirty="0">
                <a:solidFill>
                  <a:srgbClr val="242424"/>
                </a:solidFill>
                <a:effectLst/>
                <a:latin typeface="+mj-lt"/>
              </a:rPr>
              <a:t> using metadata in responses</a:t>
            </a:r>
            <a:endParaRPr lang="en-US" dirty="0">
              <a:latin typeface="+mj-lt"/>
            </a:endParaRPr>
          </a:p>
        </p:txBody>
      </p:sp>
    </p:spTree>
    <p:extLst>
      <p:ext uri="{BB962C8B-B14F-4D97-AF65-F5344CB8AC3E}">
        <p14:creationId xmlns:p14="http://schemas.microsoft.com/office/powerpoint/2010/main" val="4990227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31CC-D47A-4CFD-8DE6-4A4E6AB0C297}"/>
              </a:ext>
            </a:extLst>
          </p:cNvPr>
          <p:cNvSpPr>
            <a:spLocks noGrp="1"/>
          </p:cNvSpPr>
          <p:nvPr>
            <p:ph type="title"/>
          </p:nvPr>
        </p:nvSpPr>
        <p:spPr/>
        <p:txBody>
          <a:bodyPr/>
          <a:lstStyle/>
          <a:p>
            <a:r>
              <a:rPr lang="en-US" dirty="0">
                <a:solidFill>
                  <a:srgbClr val="FB4E0B"/>
                </a:solidFill>
              </a:rPr>
              <a:t>Governance and Observability</a:t>
            </a:r>
          </a:p>
        </p:txBody>
      </p:sp>
      <p:sp>
        <p:nvSpPr>
          <p:cNvPr id="3" name="Content Placeholder 2">
            <a:extLst>
              <a:ext uri="{FF2B5EF4-FFF2-40B4-BE49-F238E27FC236}">
                <a16:creationId xmlns:a16="http://schemas.microsoft.com/office/drawing/2014/main" id="{F9DD5063-3D39-02F4-79BB-51DD4C2022A8}"/>
              </a:ext>
            </a:extLst>
          </p:cNvPr>
          <p:cNvSpPr>
            <a:spLocks noGrp="1"/>
          </p:cNvSpPr>
          <p:nvPr>
            <p:ph idx="1"/>
          </p:nvPr>
        </p:nvSpPr>
        <p:spPr/>
        <p:txBody>
          <a:bodyPr/>
          <a:lstStyle/>
          <a:p>
            <a:pPr marL="0" indent="0">
              <a:buNone/>
            </a:pPr>
            <a:r>
              <a:rPr lang="en-US" dirty="0"/>
              <a:t>Data governance is critical for enterprise-grade RAG systems:</a:t>
            </a:r>
          </a:p>
        </p:txBody>
      </p:sp>
      <p:pic>
        <p:nvPicPr>
          <p:cNvPr id="21506" name="Picture 2">
            <a:extLst>
              <a:ext uri="{FF2B5EF4-FFF2-40B4-BE49-F238E27FC236}">
                <a16:creationId xmlns:a16="http://schemas.microsoft.com/office/drawing/2014/main" id="{5F89A704-000F-5B58-C27A-CD0DB9BB6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03092"/>
            <a:ext cx="66675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6792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77A89C-1249-9CE9-0AE9-A6BEF54A61BC}"/>
              </a:ext>
            </a:extLst>
          </p:cNvPr>
          <p:cNvSpPr txBox="1"/>
          <p:nvPr/>
        </p:nvSpPr>
        <p:spPr>
          <a:xfrm>
            <a:off x="359229" y="272655"/>
            <a:ext cx="10940142" cy="5247270"/>
          </a:xfrm>
          <a:prstGeom prst="rect">
            <a:avLst/>
          </a:prstGeom>
          <a:noFill/>
        </p:spPr>
        <p:txBody>
          <a:bodyPr wrap="square">
            <a:spAutoFit/>
          </a:bodyPr>
          <a:lstStyle/>
          <a:p>
            <a:pPr>
              <a:lnSpc>
                <a:spcPct val="115000"/>
              </a:lnSpc>
              <a:spcAft>
                <a:spcPts val="800"/>
              </a:spcAft>
              <a:buNone/>
            </a:pPr>
            <a:r>
              <a:rPr lang="en-IN" sz="2400" b="1" kern="100" dirty="0">
                <a:solidFill>
                  <a:srgbClr val="FB4E0B"/>
                </a:solidFill>
                <a:effectLst/>
                <a:latin typeface="Aptos Display" panose="020B0004020202020204" pitchFamily="34" charset="0"/>
                <a:ea typeface="Aptos" panose="020B0004020202020204" pitchFamily="34" charset="0"/>
                <a:cs typeface="Times New Roman" panose="02020603050405020304" pitchFamily="18" charset="0"/>
              </a:rPr>
              <a:t>Section 2: Data Preparation (summary)</a:t>
            </a:r>
            <a:endParaRPr lang="en-IN" sz="2400" kern="100" dirty="0">
              <a:solidFill>
                <a:srgbClr val="FB4E0B"/>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6. Apply a chunking strategy for a given document structure and model constraints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Applying a chunking strategy involves dividing documents into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manageable pieces that fit within the model’s context window and constraints.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Key Considerations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 Window</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Chunking Strategy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Context-aware Chunking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Divide text by sentences, paragraphs, or sections using special punctuation such as periods or newlines.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Fixed-size Chunking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Divide text into chunks of a specific number of tokens.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3. Advanced Chunking Strategies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like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Windowed Summarization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where Each chunk includes a summary of the previous chunks to maintain context across the document.</a:t>
            </a:r>
          </a:p>
          <a:p>
            <a:pPr>
              <a:lnSpc>
                <a:spcPct val="115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126F080-B1D3-C65C-546E-CB768BA942DA}"/>
              </a:ext>
            </a:extLst>
          </p:cNvPr>
          <p:cNvSpPr txBox="1"/>
          <p:nvPr/>
        </p:nvSpPr>
        <p:spPr>
          <a:xfrm>
            <a:off x="359228" y="4983448"/>
            <a:ext cx="10602685" cy="1237455"/>
          </a:xfrm>
          <a:prstGeom prst="rect">
            <a:avLst/>
          </a:prstGeom>
          <a:noFill/>
        </p:spPr>
        <p:txBody>
          <a:bodyPr wrap="square">
            <a:spAutoFit/>
          </a:bodyPr>
          <a:lstStyle/>
          <a:p>
            <a:pPr>
              <a:lnSpc>
                <a:spcPct val="115000"/>
              </a:lnSpc>
              <a:spcAft>
                <a:spcPts val="800"/>
              </a:spcAft>
              <a:buNone/>
            </a:pPr>
            <a:r>
              <a:rPr lang="en-IN" b="1"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7. </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Implementation Steps</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Data Extraction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Extract raw text from documents, ensuring it is clean and ready for processing.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Chunking Process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Apply the chosen chunking strategy (context-aware, fixed-size, windowed summarization)</a:t>
            </a:r>
            <a:endParaRPr lang="en-IN" dirty="0"/>
          </a:p>
        </p:txBody>
      </p:sp>
    </p:spTree>
    <p:extLst>
      <p:ext uri="{BB962C8B-B14F-4D97-AF65-F5344CB8AC3E}">
        <p14:creationId xmlns:p14="http://schemas.microsoft.com/office/powerpoint/2010/main" val="11640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5961-46D1-713A-DF04-2B2BB0E39B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7BDDCD-BFB4-2DE6-75B0-F30FF48DC2C1}"/>
              </a:ext>
            </a:extLst>
          </p:cNvPr>
          <p:cNvSpPr txBox="1"/>
          <p:nvPr/>
        </p:nvSpPr>
        <p:spPr>
          <a:xfrm>
            <a:off x="261257" y="144182"/>
            <a:ext cx="11364686" cy="5221109"/>
          </a:xfrm>
          <a:prstGeom prst="rect">
            <a:avLst/>
          </a:prstGeom>
          <a:noFill/>
        </p:spPr>
        <p:txBody>
          <a:bodyPr wrap="square">
            <a:spAutoFit/>
          </a:bodyPr>
          <a:lstStyle/>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Embedding and Storage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Embed each chunk using a model and store the embeddings in a vector store for efficient retrieval.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8.</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Challenges and Solutions</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Maintaining Context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Ensure that each chunk preserves enough context to be meaningful on its own.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Handling Different Document Types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appropriate tools and methods for different formats (e.g., .doc, .pdf,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dat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.html). Learn the basic python packages like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doctr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or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pypdf</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9</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Use Case</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Experiment with different chunk sizes and methods to find the best fit for the specific use case.</a:t>
            </a:r>
          </a:p>
          <a:p>
            <a:r>
              <a:rPr lang="en-IN" dirty="0">
                <a:solidFill>
                  <a:schemeClr val="accent1"/>
                </a:solidFill>
              </a:rPr>
              <a:t>10. </a:t>
            </a:r>
            <a:r>
              <a:rPr lang="en-IN" b="1" dirty="0">
                <a:solidFill>
                  <a:schemeClr val="accent1"/>
                </a:solidFill>
              </a:rPr>
              <a:t>Filter extraneous content in source documents that degrades quality of a RAG application</a:t>
            </a:r>
            <a:endParaRPr lang="en-IN" dirty="0">
              <a:solidFill>
                <a:schemeClr val="accent1"/>
              </a:solidFill>
            </a:endParaRPr>
          </a:p>
          <a:p>
            <a:r>
              <a:rPr lang="en-IN" dirty="0"/>
              <a:t>This includes:</a:t>
            </a:r>
          </a:p>
          <a:p>
            <a:pPr marL="285750" lvl="0" indent="-285750">
              <a:buFont typeface="Arial" panose="020B0604020202020204" pitchFamily="34" charset="0"/>
              <a:buChar char="•"/>
            </a:pPr>
            <a:r>
              <a:rPr lang="en-IN" b="1" dirty="0"/>
              <a:t>Cleaning Data:</a:t>
            </a:r>
            <a:r>
              <a:rPr lang="en-IN" dirty="0"/>
              <a:t> Ensuring the text is free from irrelevant content such as advertisements, navigation bars, and footers.</a:t>
            </a:r>
          </a:p>
          <a:p>
            <a:pPr marL="285750" lvl="0" indent="-285750">
              <a:buFont typeface="Arial" panose="020B0604020202020204" pitchFamily="34" charset="0"/>
              <a:buChar char="•"/>
            </a:pPr>
            <a:r>
              <a:rPr lang="en-IN" b="1" dirty="0"/>
              <a:t>Preprocessing Steps:</a:t>
            </a:r>
            <a:r>
              <a:rPr lang="en-IN" dirty="0"/>
              <a:t> Applying preprocessing techniques like removing stop words, correcting misspellings, and normalizing text to enhance the quality of the data fed into the model</a:t>
            </a:r>
          </a:p>
          <a:p>
            <a:pPr>
              <a:lnSpc>
                <a:spcPct val="115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26464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6273-C7AC-D0D6-CB64-F42BF2B464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783E97-7CA7-49A3-0872-0378227D73EB}"/>
              </a:ext>
            </a:extLst>
          </p:cNvPr>
          <p:cNvSpPr txBox="1"/>
          <p:nvPr/>
        </p:nvSpPr>
        <p:spPr>
          <a:xfrm>
            <a:off x="359228" y="511600"/>
            <a:ext cx="10831286" cy="1453411"/>
          </a:xfrm>
          <a:prstGeom prst="rect">
            <a:avLst/>
          </a:prstGeom>
          <a:noFill/>
        </p:spPr>
        <p:txBody>
          <a:bodyPr wrap="square">
            <a:spAutoFit/>
          </a:bodyPr>
          <a:lstStyle/>
          <a:p>
            <a:pPr>
              <a:lnSpc>
                <a:spcPct val="115000"/>
              </a:lnSpc>
              <a:spcAft>
                <a:spcPts val="800"/>
              </a:spcAft>
              <a:buNone/>
            </a:pPr>
            <a:r>
              <a:rPr lang="en-IN" b="1"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11</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Choose the appropriate Python package to extract document content from provided source data and format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PyPDF</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Hugging Face’s Options, </a:t>
            </a: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Doctr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where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OCR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(Optical Character Recognition) is required to extract text; learn about bigger models: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OpenAI’s Models, Alphabet’s Gemini 1.5, Meta’s </a:t>
            </a: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Llamma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933417F-F468-8DC0-B334-396FCAD18799}"/>
              </a:ext>
            </a:extLst>
          </p:cNvPr>
          <p:cNvSpPr txBox="1"/>
          <p:nvPr/>
        </p:nvSpPr>
        <p:spPr>
          <a:xfrm>
            <a:off x="359228" y="1975948"/>
            <a:ext cx="10831285" cy="3137975"/>
          </a:xfrm>
          <a:prstGeom prst="rect">
            <a:avLst/>
          </a:prstGeom>
          <a:noFill/>
        </p:spPr>
        <p:txBody>
          <a:bodyPr wrap="square">
            <a:spAutoFit/>
          </a:bodyPr>
          <a:lstStyle/>
          <a:p>
            <a:pPr>
              <a:lnSpc>
                <a:spcPct val="115000"/>
              </a:lnSpc>
              <a:spcAft>
                <a:spcPts val="800"/>
              </a:spcAft>
              <a:buNone/>
            </a:pPr>
            <a:r>
              <a:rPr lang="en-IN" b="1"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12</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Define operations and sequence to write given chunked text into Delta Lake tables in Unity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Catalog</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Defining operations and sequence involves several steps: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Data Ingestion: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Extract text content from documents and load it into a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dataframe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Chunking and Embedding: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Apply chunking strategies and compute embeddings for each chunk.</a:t>
            </a:r>
          </a:p>
          <a:p>
            <a:pPr marL="342900" lvl="0" indent="-342900">
              <a:lnSpc>
                <a:spcPct val="115000"/>
              </a:lnSpc>
              <a:spcAft>
                <a:spcPts val="800"/>
              </a:spcAft>
              <a:buFont typeface="+mj-lt"/>
              <a:buAutoNum type="arabicPeriod"/>
              <a:tabLst>
                <a:tab pos="457200" algn="l"/>
              </a:tabLst>
            </a:pPr>
            <a:r>
              <a:rPr lang="en-IN" b="1" kern="100" dirty="0">
                <a:latin typeface="Aptos Display" panose="020B0004020202020204" pitchFamily="34" charset="0"/>
                <a:ea typeface="Aptos" panose="020B0004020202020204" pitchFamily="34" charset="0"/>
                <a:cs typeface="Times New Roman" panose="02020603050405020304" pitchFamily="18" charset="0"/>
              </a:rPr>
              <a:t>Writing to Delta Lake:</a:t>
            </a:r>
            <a:r>
              <a:rPr lang="en-IN" kern="100" dirty="0">
                <a:latin typeface="Aptos Display" panose="020B0004020202020204" pitchFamily="34" charset="0"/>
                <a:ea typeface="Aptos" panose="020B0004020202020204" pitchFamily="34" charset="0"/>
                <a:cs typeface="Times New Roman" panose="02020603050405020304" pitchFamily="18" charset="0"/>
              </a:rPr>
              <a:t> Store the chunked text and embeddings into Delta Lake tables. This process ensures the data is easily accessible for retrieval operations in Unity </a:t>
            </a:r>
            <a:r>
              <a:rPr lang="en-IN" kern="100" dirty="0" err="1">
                <a:latin typeface="Aptos Display" panose="020B0004020202020204" pitchFamily="34" charset="0"/>
                <a:ea typeface="Aptos" panose="020B0004020202020204" pitchFamily="34" charset="0"/>
                <a:cs typeface="Times New Roman" panose="02020603050405020304" pitchFamily="18" charset="0"/>
              </a:rPr>
              <a:t>Catalog</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IN" b="1" kern="100" dirty="0">
                <a:latin typeface="Aptos Display" panose="020B0004020202020204" pitchFamily="34" charset="0"/>
                <a:ea typeface="Aptos" panose="020B0004020202020204" pitchFamily="34" charset="0"/>
                <a:cs typeface="Times New Roman" panose="02020603050405020304" pitchFamily="18" charset="0"/>
              </a:rPr>
              <a:t>Governance and Metadata Management</a:t>
            </a:r>
            <a:r>
              <a:rPr lang="en-IN" kern="100" dirty="0">
                <a:latin typeface="Aptos Display" panose="020B0004020202020204" pitchFamily="34" charset="0"/>
                <a:ea typeface="Aptos" panose="020B0004020202020204" pitchFamily="34" charset="0"/>
                <a:cs typeface="Times New Roman" panose="02020603050405020304" pitchFamily="18" charset="0"/>
              </a:rPr>
              <a:t>: Ensure the tables are registered in Unity </a:t>
            </a:r>
            <a:r>
              <a:rPr lang="en-IN" kern="100" dirty="0" err="1">
                <a:latin typeface="Aptos Display" panose="020B0004020202020204" pitchFamily="34" charset="0"/>
                <a:ea typeface="Aptos" panose="020B0004020202020204" pitchFamily="34" charset="0"/>
                <a:cs typeface="Times New Roman" panose="02020603050405020304" pitchFamily="18" charset="0"/>
              </a:rPr>
              <a:t>Catalog</a:t>
            </a:r>
            <a:r>
              <a:rPr lang="en-IN" kern="100" dirty="0">
                <a:latin typeface="Aptos Display" panose="020B0004020202020204" pitchFamily="34" charset="0"/>
                <a:ea typeface="Aptos" panose="020B0004020202020204" pitchFamily="34" charset="0"/>
                <a:cs typeface="Times New Roman" panose="02020603050405020304" pitchFamily="18" charset="0"/>
              </a:rPr>
              <a:t> for proper governance and metadata management.</a:t>
            </a:r>
            <a:endParaRPr lang="en-IN"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893776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C2F5-BD45-E577-89BE-D09226EDE5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9421E1-3AF9-7C1C-55E5-FE97F4F48B10}"/>
              </a:ext>
            </a:extLst>
          </p:cNvPr>
          <p:cNvSpPr txBox="1"/>
          <p:nvPr/>
        </p:nvSpPr>
        <p:spPr>
          <a:xfrm>
            <a:off x="391886" y="382660"/>
            <a:ext cx="9144000" cy="1556003"/>
          </a:xfrm>
          <a:prstGeom prst="rect">
            <a:avLst/>
          </a:prstGeom>
          <a:noFill/>
        </p:spPr>
        <p:txBody>
          <a:bodyPr wrap="square">
            <a:spAutoFit/>
          </a:bodyPr>
          <a:lstStyle/>
          <a:p>
            <a:pPr lvl="0">
              <a:lnSpc>
                <a:spcPct val="115000"/>
              </a:lnSpc>
              <a:spcAft>
                <a:spcPts val="800"/>
              </a:spcAft>
              <a:tabLst>
                <a:tab pos="457200" algn="l"/>
              </a:tabLst>
            </a:pP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13. </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Continuous Integration and Data Refresh</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Automate Updates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Set up workflows to continuously update the Delta tables as new data arrives or existing data is modified.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Delta Live Tables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Delta Live Tables to automate and orchestrate these data workflows.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232EA6B-19C3-7551-010E-DF56E6AA3C9E}"/>
              </a:ext>
            </a:extLst>
          </p:cNvPr>
          <p:cNvSpPr txBox="1"/>
          <p:nvPr/>
        </p:nvSpPr>
        <p:spPr>
          <a:xfrm>
            <a:off x="391886" y="1938663"/>
            <a:ext cx="11027228" cy="3980257"/>
          </a:xfrm>
          <a:prstGeom prst="rect">
            <a:avLst/>
          </a:prstGeom>
          <a:noFill/>
        </p:spPr>
        <p:txBody>
          <a:bodyPr wrap="square">
            <a:spAutoFit/>
          </a:bodyPr>
          <a:lstStyle/>
          <a:p>
            <a:pPr>
              <a:lnSpc>
                <a:spcPct val="115000"/>
              </a:lnSpc>
              <a:spcAft>
                <a:spcPts val="800"/>
              </a:spcAft>
              <a:buNone/>
            </a:pP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14.</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Identify needed source documents that provide the necessary knowledge and quality for a given RAG application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Relevance: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Selecting documents that are highly relevant to the domain and task at hand.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Quality Assessment: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Evaluating the accuracy, reliability, and completeness of the documents.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Diversity: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Ensuring a diverse set of documents to cover various aspects of the knowledge required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kern="100" dirty="0">
                <a:solidFill>
                  <a:schemeClr val="accent1"/>
                </a:solidFill>
                <a:latin typeface="Aptos Display" panose="020B0004020202020204" pitchFamily="34" charset="0"/>
                <a:ea typeface="Aptos" panose="020B0004020202020204" pitchFamily="34" charset="0"/>
                <a:cs typeface="Times New Roman" panose="02020603050405020304" pitchFamily="18" charset="0"/>
              </a:rPr>
              <a:t>15</a:t>
            </a: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Identify prompt/response pairs that align with a given model task</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Identifying suitable prompt/response pairs involves: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Task Alignment: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Ensuring the pairs are relevant to the specific task the model is designed to perform.</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Contextual Relevance: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Selecting pairs that provide sufficient context for the model to generate accurate responses.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049154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0CD80-B3B2-F62A-F0A4-B8A5CAF9CB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65F8D6-8D0C-185E-584D-B5153DDFEA51}"/>
              </a:ext>
            </a:extLst>
          </p:cNvPr>
          <p:cNvSpPr txBox="1"/>
          <p:nvPr/>
        </p:nvSpPr>
        <p:spPr>
          <a:xfrm>
            <a:off x="511627" y="420306"/>
            <a:ext cx="11201401" cy="1134862"/>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Quality Control: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Verifying that the prompt/response pairs are free from errors and biases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Tagging examples: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For sentiment analysis, tag responses as positive, negative, or neutral. And for question-answering, tag responses as factual, opinion-based, or advisory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9572987-7062-0061-6763-5A118BACAD9C}"/>
              </a:ext>
            </a:extLst>
          </p:cNvPr>
          <p:cNvSpPr txBox="1"/>
          <p:nvPr/>
        </p:nvSpPr>
        <p:spPr>
          <a:xfrm>
            <a:off x="511627" y="1555168"/>
            <a:ext cx="10395859" cy="4276235"/>
          </a:xfrm>
          <a:prstGeom prst="rect">
            <a:avLst/>
          </a:prstGeom>
          <a:noFill/>
        </p:spPr>
        <p:txBody>
          <a:bodyPr wrap="square">
            <a:spAutoFit/>
          </a:bodyPr>
          <a:lstStyle/>
          <a:p>
            <a:pPr>
              <a:lnSpc>
                <a:spcPct val="115000"/>
              </a:lnSpc>
              <a:spcAft>
                <a:spcPts val="800"/>
              </a:spcAft>
              <a:buNone/>
            </a:pPr>
            <a:r>
              <a:rPr lang="en-IN" sz="1800"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16. </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Use tools and metrics to evaluate retrieval performance</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r>
              <a:rPr lang="en-US" kern="100" dirty="0">
                <a:latin typeface="Aptos Display" panose="020B0004020202020204" pitchFamily="34" charset="0"/>
                <a:cs typeface="Times New Roman" panose="02020603050405020304" pitchFamily="18" charset="0"/>
              </a:rPr>
              <a:t>Context Precision: Measures how much of the retrieved context is actually relevant to the query.</a:t>
            </a:r>
          </a:p>
          <a:p>
            <a:r>
              <a:rPr lang="en-US" kern="100" dirty="0">
                <a:latin typeface="Aptos Display" panose="020B0004020202020204" pitchFamily="34" charset="0"/>
                <a:cs typeface="Times New Roman" panose="02020603050405020304" pitchFamily="18" charset="0"/>
              </a:rPr>
              <a:t>Context Recall: Measures how much of the relevant context was successfully retrieved.</a:t>
            </a:r>
          </a:p>
          <a:p>
            <a:r>
              <a:rPr lang="en-US" kern="100" dirty="0">
                <a:latin typeface="Aptos Display" panose="020B0004020202020204" pitchFamily="34" charset="0"/>
                <a:cs typeface="Times New Roman" panose="02020603050405020304" pitchFamily="18" charset="0"/>
              </a:rPr>
              <a:t>Faithfulness: Evaluates whether the generated answer accurately reflects the retrieved or source information.</a:t>
            </a:r>
          </a:p>
          <a:p>
            <a:r>
              <a:rPr lang="en-US" kern="100" dirty="0">
                <a:latin typeface="Aptos Display" panose="020B0004020202020204" pitchFamily="34" charset="0"/>
                <a:cs typeface="Times New Roman" panose="02020603050405020304" pitchFamily="18" charset="0"/>
              </a:rPr>
              <a:t>Answer Relevancy: Assesses how directly the answer addresses the user’s query.</a:t>
            </a:r>
          </a:p>
          <a:p>
            <a:r>
              <a:rPr lang="en-US" kern="100" dirty="0">
                <a:latin typeface="Aptos Display" panose="020B0004020202020204" pitchFamily="34" charset="0"/>
                <a:cs typeface="Times New Roman" panose="02020603050405020304" pitchFamily="18" charset="0"/>
              </a:rPr>
              <a:t>Answer Correctness: Judges whether the answer is factually and semantically accurate.</a:t>
            </a:r>
          </a:p>
          <a:p>
            <a:endParaRPr lang="en-US" dirty="0"/>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2. 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Evaluation Tools and Methods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Facilitates the evaluation of retrievers and LLMs, supporting batch comparisons and scalable experimentation.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can evaluate unstructured outputs automatically and at low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LLM-as-a-Judge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An approach where an LLM is used to evaluate the performance of another LLM by scoring responses based on predefined criteria. This method can be integrated with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automated and scalable evaluations.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004840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D252-0E0C-2D4C-B12D-B6B5122E5F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354F18-8661-2E1E-613D-6C3C16E667C4}"/>
              </a:ext>
            </a:extLst>
          </p:cNvPr>
          <p:cNvSpPr txBox="1"/>
          <p:nvPr/>
        </p:nvSpPr>
        <p:spPr>
          <a:xfrm>
            <a:off x="732344" y="580527"/>
            <a:ext cx="10395859" cy="5523115"/>
          </a:xfrm>
          <a:prstGeom prst="rect">
            <a:avLst/>
          </a:prstGeom>
          <a:noFill/>
        </p:spPr>
        <p:txBody>
          <a:bodyPr wrap="square">
            <a:spAutoFit/>
          </a:bodyPr>
          <a:lstStyle/>
          <a:p>
            <a:endParaRPr lang="en-US" sz="2400" dirty="0"/>
          </a:p>
          <a:p>
            <a:pPr>
              <a:lnSpc>
                <a:spcPct val="115000"/>
              </a:lnSpc>
              <a:spcAft>
                <a:spcPts val="800"/>
              </a:spcAft>
              <a:buNone/>
            </a:pPr>
            <a:r>
              <a:rPr lang="en-IN" sz="2400" b="1" kern="100" dirty="0">
                <a:effectLst/>
                <a:latin typeface="Aptos Display" panose="020B0004020202020204" pitchFamily="34" charset="0"/>
                <a:ea typeface="Aptos" panose="020B0004020202020204" pitchFamily="34" charset="0"/>
                <a:cs typeface="Times New Roman" panose="02020603050405020304" pitchFamily="18" charset="0"/>
              </a:rPr>
              <a:t>Evaluation Tools and Methods</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Facilitates the evaluation of retrievers and LLMs, supporting batch comparisons and scalable experimentation. </a:t>
            </a:r>
            <a:r>
              <a:rPr lang="en-IN" sz="24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can evaluate unstructured outputs automatically and at low cost.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latin typeface="Aptos Display" panose="020B0004020202020204" pitchFamily="34" charset="0"/>
                <a:ea typeface="Aptos" panose="020B0004020202020204" pitchFamily="34" charset="0"/>
                <a:cs typeface="Times New Roman" panose="02020603050405020304" pitchFamily="18" charset="0"/>
              </a:rPr>
              <a:t>LLM-as-a-Judge</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An approach where an LLM is used to evaluate the performance of another LLM by scoring responses based on predefined criteria. This method can be integrated with </a:t>
            </a:r>
            <a:r>
              <a:rPr lang="en-IN" sz="24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for automated and scalable evaluations.</a:t>
            </a:r>
          </a:p>
          <a:p>
            <a:pPr marL="342900" indent="-342900">
              <a:lnSpc>
                <a:spcPct val="115000"/>
              </a:lnSpc>
              <a:spcAft>
                <a:spcPts val="800"/>
              </a:spcAft>
              <a:buSzPts val="1000"/>
              <a:buFont typeface="Symbol" panose="05050102010706020507" pitchFamily="18" charset="2"/>
              <a:buChar char=""/>
              <a:tabLst>
                <a:tab pos="457200" algn="l"/>
              </a:tabLst>
            </a:pPr>
            <a:r>
              <a:rPr lang="en-IN" sz="2400" b="1" kern="100" dirty="0">
                <a:latin typeface="Aptos Display" panose="020B0004020202020204" pitchFamily="34" charset="0"/>
                <a:ea typeface="Aptos" panose="020B0004020202020204" pitchFamily="34" charset="0"/>
                <a:cs typeface="Times New Roman" panose="02020603050405020304" pitchFamily="18" charset="0"/>
              </a:rPr>
              <a:t>Task-specific Metrics</a:t>
            </a:r>
            <a:r>
              <a:rPr lang="en-IN" sz="2400" kern="100" dirty="0">
                <a:latin typeface="Aptos Display" panose="020B0004020202020204" pitchFamily="34" charset="0"/>
                <a:ea typeface="Aptos" panose="020B0004020202020204" pitchFamily="34" charset="0"/>
                <a:cs typeface="Times New Roman" panose="02020603050405020304" pitchFamily="18" charset="0"/>
              </a:rPr>
              <a:t>: Metrics like BLEU for translation and ROUGE for summarization are used to evaluate LLM performance on specific tasks.</a:t>
            </a:r>
            <a:endParaRPr lang="en-IN" sz="2400" kern="1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79947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F2E24-F980-4E9F-9492-0CE029C1615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6C15B2-540D-FCB5-8E82-FCC3697EA8FD}"/>
              </a:ext>
            </a:extLst>
          </p:cNvPr>
          <p:cNvSpPr txBox="1"/>
          <p:nvPr/>
        </p:nvSpPr>
        <p:spPr>
          <a:xfrm>
            <a:off x="430548" y="1048344"/>
            <a:ext cx="10635343" cy="2824941"/>
          </a:xfrm>
          <a:prstGeom prst="rect">
            <a:avLst/>
          </a:prstGeom>
          <a:noFill/>
        </p:spPr>
        <p:txBody>
          <a:bodyPr wrap="square">
            <a:spAutoFit/>
          </a:bodyPr>
          <a:lstStyle/>
          <a:p>
            <a:pPr>
              <a:lnSpc>
                <a:spcPct val="115000"/>
              </a:lnSpc>
              <a:spcAft>
                <a:spcPts val="800"/>
              </a:spcAft>
              <a:buNone/>
            </a:pPr>
            <a:r>
              <a:rPr lang="en-IN" sz="2400" b="1" kern="100" dirty="0">
                <a:effectLst/>
                <a:latin typeface="Aptos Display" panose="020B0004020202020204" pitchFamily="34" charset="0"/>
                <a:ea typeface="Aptos" panose="020B0004020202020204" pitchFamily="34" charset="0"/>
                <a:cs typeface="Times New Roman" panose="02020603050405020304" pitchFamily="18" charset="0"/>
              </a:rPr>
              <a:t>Offline vs. Online Evaluation</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latin typeface="Aptos Display" panose="020B0004020202020204" pitchFamily="34" charset="0"/>
                <a:ea typeface="Aptos" panose="020B0004020202020204" pitchFamily="34" charset="0"/>
                <a:cs typeface="Times New Roman" panose="02020603050405020304" pitchFamily="18" charset="0"/>
              </a:rPr>
              <a:t>Offline Evaluation</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Conducted before deployment using curated benchmark datasets and task-specific metrics to evaluate LLM performance.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latin typeface="Aptos Display" panose="020B0004020202020204" pitchFamily="34" charset="0"/>
                <a:ea typeface="Aptos" panose="020B0004020202020204" pitchFamily="34" charset="0"/>
                <a:cs typeface="Times New Roman" panose="02020603050405020304" pitchFamily="18" charset="0"/>
              </a:rPr>
              <a:t>Online Evaluation</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Conducted post-deployment, collecting real-time user </a:t>
            </a:r>
            <a:r>
              <a:rPr lang="en-IN" sz="2400" kern="100" dirty="0" err="1">
                <a:effectLst/>
                <a:latin typeface="Aptos Display" panose="020B0004020202020204" pitchFamily="34" charset="0"/>
                <a:ea typeface="Aptos" panose="020B0004020202020204" pitchFamily="34" charset="0"/>
                <a:cs typeface="Times New Roman" panose="02020603050405020304" pitchFamily="18" charset="0"/>
              </a:rPr>
              <a:t>behavior</a:t>
            </a:r>
            <a:r>
              <a:rPr lang="en-IN" sz="2400" kern="100" dirty="0">
                <a:effectLst/>
                <a:latin typeface="Aptos Display" panose="020B0004020202020204" pitchFamily="34" charset="0"/>
                <a:ea typeface="Aptos" panose="020B0004020202020204" pitchFamily="34" charset="0"/>
                <a:cs typeface="Times New Roman" panose="02020603050405020304" pitchFamily="18" charset="0"/>
              </a:rPr>
              <a:t> data to evaluate how well users respond to the LLM system. This approach includes metrics from A/B testing and user feedback.</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27089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AD788-DA74-DAB8-51C9-58751F14720C}"/>
              </a:ext>
            </a:extLst>
          </p:cNvPr>
          <p:cNvSpPr>
            <a:spLocks noGrp="1"/>
          </p:cNvSpPr>
          <p:nvPr>
            <p:ph type="title"/>
          </p:nvPr>
        </p:nvSpPr>
        <p:spPr/>
        <p:txBody>
          <a:bodyPr/>
          <a:lstStyle/>
          <a:p>
            <a:r>
              <a:rPr lang="en-US" b="1" dirty="0"/>
              <a:t>Summary – Part 2</a:t>
            </a:r>
            <a:endParaRPr lang="en-US" dirty="0"/>
          </a:p>
        </p:txBody>
      </p:sp>
      <p:pic>
        <p:nvPicPr>
          <p:cNvPr id="4" name="Content Placeholder 3">
            <a:extLst>
              <a:ext uri="{FF2B5EF4-FFF2-40B4-BE49-F238E27FC236}">
                <a16:creationId xmlns:a16="http://schemas.microsoft.com/office/drawing/2014/main" id="{F072937B-B194-06F8-81AB-4684CDB11603}"/>
              </a:ext>
            </a:extLst>
          </p:cNvPr>
          <p:cNvPicPr>
            <a:picLocks noGrp="1" noChangeAspect="1"/>
          </p:cNvPicPr>
          <p:nvPr>
            <p:ph idx="1"/>
          </p:nvPr>
        </p:nvPicPr>
        <p:blipFill>
          <a:blip r:embed="rId2"/>
          <a:stretch>
            <a:fillRect/>
          </a:stretch>
        </p:blipFill>
        <p:spPr>
          <a:xfrm>
            <a:off x="838199" y="1528762"/>
            <a:ext cx="8936421" cy="4952267"/>
          </a:xfrm>
          <a:prstGeom prst="rect">
            <a:avLst/>
          </a:prstGeom>
        </p:spPr>
      </p:pic>
    </p:spTree>
    <p:extLst>
      <p:ext uri="{BB962C8B-B14F-4D97-AF65-F5344CB8AC3E}">
        <p14:creationId xmlns:p14="http://schemas.microsoft.com/office/powerpoint/2010/main" val="33334559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D0D8A159-F835-1C11-81C7-55461820DACB}"/>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0B0FDFB8-3E2E-0787-BAB1-AE6460CA424B}"/>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12DD7780-C495-1B0C-68F0-1971DAF4134E}"/>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B2AB9B2F-A557-1FDD-4683-41ECBAD9613A}"/>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13778E81-3087-AF5E-22E1-34401A2F0C74}"/>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48B5FB2E-A9F0-7A16-295A-A4439274707F}"/>
              </a:ext>
            </a:extLst>
          </p:cNvPr>
          <p:cNvSpPr/>
          <p:nvPr/>
        </p:nvSpPr>
        <p:spPr>
          <a:xfrm>
            <a:off x="4897275" y="2791048"/>
            <a:ext cx="6745375" cy="1200329"/>
          </a:xfrm>
          <a:prstGeom prst="rect">
            <a:avLst/>
          </a:prstGeom>
        </p:spPr>
        <p:txBody>
          <a:bodyPr wrap="square">
            <a:spAutoFit/>
          </a:bodyPr>
          <a:lstStyle/>
          <a:p>
            <a:pPr lvl="0" defTabSz="457166">
              <a:defRPr/>
            </a:pPr>
            <a:r>
              <a:rPr lang="en-US" sz="3600" dirty="0">
                <a:solidFill>
                  <a:srgbClr val="FFFFFF"/>
                </a:solidFill>
              </a:rPr>
              <a:t>Section 3: Application Development</a:t>
            </a:r>
          </a:p>
        </p:txBody>
      </p:sp>
    </p:spTree>
    <p:extLst>
      <p:ext uri="{BB962C8B-B14F-4D97-AF65-F5344CB8AC3E}">
        <p14:creationId xmlns:p14="http://schemas.microsoft.com/office/powerpoint/2010/main" val="20108821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10362-1ED1-19B7-1A2A-C0254DCF5F5D}"/>
              </a:ext>
            </a:extLst>
          </p:cNvPr>
          <p:cNvSpPr>
            <a:spLocks noGrp="1"/>
          </p:cNvSpPr>
          <p:nvPr>
            <p:ph type="title"/>
          </p:nvPr>
        </p:nvSpPr>
        <p:spPr/>
        <p:txBody>
          <a:bodyPr/>
          <a:lstStyle/>
          <a:p>
            <a:r>
              <a:rPr lang="en-US" dirty="0">
                <a:solidFill>
                  <a:srgbClr val="FB4E0B"/>
                </a:solidFill>
              </a:rPr>
              <a:t>Embedding Models and Vectorization</a:t>
            </a:r>
            <a:br>
              <a:rPr lang="en-US" dirty="0">
                <a:solidFill>
                  <a:srgbClr val="FB4E0B"/>
                </a:solidFill>
              </a:rPr>
            </a:br>
            <a:endParaRPr lang="en-US" dirty="0">
              <a:solidFill>
                <a:srgbClr val="FB4E0B"/>
              </a:solidFill>
            </a:endParaRPr>
          </a:p>
        </p:txBody>
      </p:sp>
      <p:sp>
        <p:nvSpPr>
          <p:cNvPr id="3" name="Content Placeholder 2">
            <a:extLst>
              <a:ext uri="{FF2B5EF4-FFF2-40B4-BE49-F238E27FC236}">
                <a16:creationId xmlns:a16="http://schemas.microsoft.com/office/drawing/2014/main" id="{C0826A59-7E37-A471-C665-95D07D977EE3}"/>
              </a:ext>
            </a:extLst>
          </p:cNvPr>
          <p:cNvSpPr>
            <a:spLocks noGrp="1"/>
          </p:cNvSpPr>
          <p:nvPr>
            <p:ph idx="1"/>
          </p:nvPr>
        </p:nvSpPr>
        <p:spPr>
          <a:xfrm>
            <a:off x="838200" y="1825624"/>
            <a:ext cx="10515600" cy="4351338"/>
          </a:xfrm>
        </p:spPr>
        <p:txBody>
          <a:bodyPr/>
          <a:lstStyle/>
          <a:p>
            <a:pPr marL="0" indent="0">
              <a:buNone/>
            </a:pPr>
            <a:r>
              <a:rPr lang="en-US" b="1" dirty="0">
                <a:latin typeface="+mj-lt"/>
              </a:rPr>
              <a:t>What Are Embeddings?</a:t>
            </a:r>
          </a:p>
          <a:p>
            <a:endParaRPr lang="en-US" dirty="0">
              <a:latin typeface="+mj-lt"/>
            </a:endParaRPr>
          </a:p>
        </p:txBody>
      </p:sp>
      <p:pic>
        <p:nvPicPr>
          <p:cNvPr id="22530" name="Picture 2">
            <a:extLst>
              <a:ext uri="{FF2B5EF4-FFF2-40B4-BE49-F238E27FC236}">
                <a16:creationId xmlns:a16="http://schemas.microsoft.com/office/drawing/2014/main" id="{6DCFE183-CB3B-F5EE-EE85-4B74E6E39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822" y="2514763"/>
            <a:ext cx="6667500" cy="3152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1843C0-4E91-CC06-61E9-246CE415A41E}"/>
              </a:ext>
            </a:extLst>
          </p:cNvPr>
          <p:cNvSpPr txBox="1"/>
          <p:nvPr/>
        </p:nvSpPr>
        <p:spPr>
          <a:xfrm>
            <a:off x="8258785" y="2147528"/>
            <a:ext cx="2509063" cy="2308324"/>
          </a:xfrm>
          <a:prstGeom prst="rect">
            <a:avLst/>
          </a:prstGeom>
          <a:noFill/>
        </p:spPr>
        <p:txBody>
          <a:bodyPr wrap="square">
            <a:spAutoFit/>
          </a:bodyPr>
          <a:lstStyle/>
          <a:p>
            <a:r>
              <a:rPr lang="en-US" b="0" i="0" dirty="0">
                <a:solidFill>
                  <a:srgbClr val="242424"/>
                </a:solidFill>
                <a:effectLst/>
                <a:latin typeface="+mj-lt"/>
              </a:rPr>
              <a:t>An </a:t>
            </a:r>
            <a:r>
              <a:rPr lang="en-US" b="1" i="0" dirty="0">
                <a:solidFill>
                  <a:srgbClr val="242424"/>
                </a:solidFill>
                <a:effectLst/>
                <a:latin typeface="+mj-lt"/>
              </a:rPr>
              <a:t>embedding</a:t>
            </a:r>
            <a:r>
              <a:rPr lang="en-US" b="0" i="0" dirty="0">
                <a:solidFill>
                  <a:srgbClr val="242424"/>
                </a:solidFill>
                <a:effectLst/>
                <a:latin typeface="+mj-lt"/>
              </a:rPr>
              <a:t> is a vector representation of data — specifically, a way to map words, sentences, or documents to high-dimensional numerical space.</a:t>
            </a:r>
            <a:endParaRPr lang="en-US" dirty="0">
              <a:latin typeface="+mj-lt"/>
            </a:endParaRPr>
          </a:p>
        </p:txBody>
      </p:sp>
    </p:spTree>
    <p:extLst>
      <p:ext uri="{BB962C8B-B14F-4D97-AF65-F5344CB8AC3E}">
        <p14:creationId xmlns:p14="http://schemas.microsoft.com/office/powerpoint/2010/main" val="21233291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B00CC-27B4-3D26-6192-82BCF4B5CCA8}"/>
              </a:ext>
            </a:extLst>
          </p:cNvPr>
          <p:cNvSpPr>
            <a:spLocks noGrp="1"/>
          </p:cNvSpPr>
          <p:nvPr>
            <p:ph type="title"/>
          </p:nvPr>
        </p:nvSpPr>
        <p:spPr/>
        <p:txBody>
          <a:bodyPr>
            <a:normAutofit/>
          </a:bodyPr>
          <a:lstStyle/>
          <a:p>
            <a:r>
              <a:rPr lang="en-US" dirty="0">
                <a:solidFill>
                  <a:srgbClr val="FB4E0B"/>
                </a:solidFill>
              </a:rPr>
              <a:t>Example:</a:t>
            </a:r>
            <a:br>
              <a:rPr lang="en-US" dirty="0">
                <a:solidFill>
                  <a:srgbClr val="FB4E0B"/>
                </a:solidFill>
              </a:rPr>
            </a:br>
            <a:endParaRPr lang="en-US" dirty="0">
              <a:solidFill>
                <a:srgbClr val="FB4E0B"/>
              </a:solidFill>
            </a:endParaRPr>
          </a:p>
        </p:txBody>
      </p:sp>
      <p:sp>
        <p:nvSpPr>
          <p:cNvPr id="3" name="Content Placeholder 2">
            <a:extLst>
              <a:ext uri="{FF2B5EF4-FFF2-40B4-BE49-F238E27FC236}">
                <a16:creationId xmlns:a16="http://schemas.microsoft.com/office/drawing/2014/main" id="{A2F43CFA-BB06-F1C2-90A4-E571F6F98720}"/>
              </a:ext>
            </a:extLst>
          </p:cNvPr>
          <p:cNvSpPr>
            <a:spLocks noGrp="1"/>
          </p:cNvSpPr>
          <p:nvPr>
            <p:ph idx="1"/>
          </p:nvPr>
        </p:nvSpPr>
        <p:spPr>
          <a:xfrm>
            <a:off x="838200" y="1027906"/>
            <a:ext cx="10515600" cy="3566181"/>
          </a:xfrm>
        </p:spPr>
        <p:txBody>
          <a:bodyPr>
            <a:normAutofit lnSpcReduction="10000"/>
          </a:bodyPr>
          <a:lstStyle/>
          <a:p>
            <a:pPr marL="0" indent="0">
              <a:buNone/>
            </a:pPr>
            <a:r>
              <a:rPr lang="en-US" sz="1800" dirty="0"/>
              <a:t>The phrase </a:t>
            </a:r>
            <a:r>
              <a:rPr lang="en-US" sz="1800" b="1" dirty="0"/>
              <a:t>“health insurance coverage”</a:t>
            </a:r>
            <a:r>
              <a:rPr lang="en-US" sz="1800" dirty="0"/>
              <a:t> might map to:</a:t>
            </a:r>
            <a:br>
              <a:rPr lang="en-US" sz="1800" dirty="0"/>
            </a:br>
            <a:r>
              <a:rPr lang="en-US" sz="1800" dirty="0"/>
              <a:t>[0.234, -0.111, 0.543, ..., 0.007] → 768-dim vector</a:t>
            </a:r>
            <a:br>
              <a:rPr lang="en-US" sz="1800" dirty="0"/>
            </a:br>
            <a:r>
              <a:rPr lang="en-US" sz="1800" dirty="0"/>
              <a:t>Similar phrases like “medical policy benefits” will have vectors </a:t>
            </a:r>
            <a:r>
              <a:rPr lang="en-US" sz="1800" b="1" dirty="0"/>
              <a:t>close</a:t>
            </a:r>
            <a:r>
              <a:rPr lang="en-US" sz="1800" dirty="0"/>
              <a:t> to it, while unrelated phrases will be far apart.</a:t>
            </a:r>
          </a:p>
          <a:p>
            <a:pPr marL="0" indent="0">
              <a:buNone/>
            </a:pPr>
            <a:br>
              <a:rPr lang="en-US" sz="1800" dirty="0"/>
            </a:br>
            <a:r>
              <a:rPr lang="en-US" sz="1800" dirty="0"/>
              <a:t>This geometric property allows you to:</a:t>
            </a:r>
          </a:p>
          <a:p>
            <a:r>
              <a:rPr lang="en-US" sz="1800" dirty="0"/>
              <a:t>Search by </a:t>
            </a:r>
            <a:r>
              <a:rPr lang="en-US" sz="1800" b="1" dirty="0"/>
              <a:t>meaning</a:t>
            </a:r>
            <a:r>
              <a:rPr lang="en-US" sz="1800" dirty="0"/>
              <a:t>, not exact words</a:t>
            </a:r>
          </a:p>
          <a:p>
            <a:r>
              <a:rPr lang="en-US" sz="1800" dirty="0"/>
              <a:t>Retrieve </a:t>
            </a:r>
            <a:r>
              <a:rPr lang="en-US" sz="1800" b="1" dirty="0"/>
              <a:t>semantically relevant</a:t>
            </a:r>
            <a:r>
              <a:rPr lang="en-US" sz="1800" dirty="0"/>
              <a:t> chunks</a:t>
            </a:r>
          </a:p>
          <a:p>
            <a:r>
              <a:rPr lang="en-US" sz="1800" dirty="0"/>
              <a:t>Connect unstructured text to structured queries</a:t>
            </a:r>
          </a:p>
          <a:p>
            <a:pPr marL="0" indent="0">
              <a:buNone/>
            </a:pPr>
            <a:br>
              <a:rPr lang="en-US" sz="1800" dirty="0"/>
            </a:br>
            <a:r>
              <a:rPr lang="en-US" sz="1800" b="1" dirty="0"/>
              <a:t>Key Properties of Embedding Vectors</a:t>
            </a:r>
            <a:br>
              <a:rPr lang="en-US" sz="1800" b="1" dirty="0"/>
            </a:br>
            <a:endParaRPr lang="en-US" sz="1800" dirty="0"/>
          </a:p>
        </p:txBody>
      </p:sp>
      <p:pic>
        <p:nvPicPr>
          <p:cNvPr id="23554" name="Picture 2">
            <a:extLst>
              <a:ext uri="{FF2B5EF4-FFF2-40B4-BE49-F238E27FC236}">
                <a16:creationId xmlns:a16="http://schemas.microsoft.com/office/drawing/2014/main" id="{4CF32DBE-4706-0896-D437-D734EB139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133850"/>
            <a:ext cx="666750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0881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CC0B3-53D9-287D-3C41-7C1A08AC1DB2}"/>
              </a:ext>
            </a:extLst>
          </p:cNvPr>
          <p:cNvSpPr>
            <a:spLocks noGrp="1"/>
          </p:cNvSpPr>
          <p:nvPr>
            <p:ph type="title"/>
          </p:nvPr>
        </p:nvSpPr>
        <p:spPr/>
        <p:txBody>
          <a:bodyPr/>
          <a:lstStyle/>
          <a:p>
            <a:r>
              <a:rPr lang="en-US" dirty="0">
                <a:solidFill>
                  <a:srgbClr val="FB4E0B"/>
                </a:solidFill>
              </a:rPr>
              <a:t>Cosine Similarity</a:t>
            </a:r>
          </a:p>
        </p:txBody>
      </p:sp>
      <p:sp>
        <p:nvSpPr>
          <p:cNvPr id="3" name="Content Placeholder 2">
            <a:extLst>
              <a:ext uri="{FF2B5EF4-FFF2-40B4-BE49-F238E27FC236}">
                <a16:creationId xmlns:a16="http://schemas.microsoft.com/office/drawing/2014/main" id="{A14350F3-50E1-A62A-2497-B7BB21110C04}"/>
              </a:ext>
            </a:extLst>
          </p:cNvPr>
          <p:cNvSpPr>
            <a:spLocks noGrp="1"/>
          </p:cNvSpPr>
          <p:nvPr>
            <p:ph idx="1"/>
          </p:nvPr>
        </p:nvSpPr>
        <p:spPr>
          <a:xfrm>
            <a:off x="838200" y="1825625"/>
            <a:ext cx="10515600" cy="2005396"/>
          </a:xfrm>
        </p:spPr>
        <p:txBody>
          <a:bodyPr/>
          <a:lstStyle/>
          <a:p>
            <a:pPr marL="0" indent="0">
              <a:buNone/>
            </a:pPr>
            <a:r>
              <a:rPr lang="en-US" dirty="0"/>
              <a:t>Most RAG systems use </a:t>
            </a:r>
            <a:r>
              <a:rPr lang="en-US" b="1" dirty="0"/>
              <a:t>cosine similarity</a:t>
            </a:r>
            <a:r>
              <a:rPr lang="en-US" dirty="0"/>
              <a:t> to measure the closeness between a user query and document vectors:</a:t>
            </a:r>
          </a:p>
        </p:txBody>
      </p:sp>
      <p:pic>
        <p:nvPicPr>
          <p:cNvPr id="5" name="Picture 4" descr="A black text on a white background&#10;&#10;AI-generated content may be incorrect.">
            <a:extLst>
              <a:ext uri="{FF2B5EF4-FFF2-40B4-BE49-F238E27FC236}">
                <a16:creationId xmlns:a16="http://schemas.microsoft.com/office/drawing/2014/main" id="{A52F495F-F8C9-D866-9109-011713966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1128" y="2819315"/>
            <a:ext cx="4429743" cy="1219370"/>
          </a:xfrm>
          <a:prstGeom prst="rect">
            <a:avLst/>
          </a:prstGeom>
        </p:spPr>
      </p:pic>
    </p:spTree>
    <p:extLst>
      <p:ext uri="{BB962C8B-B14F-4D97-AF65-F5344CB8AC3E}">
        <p14:creationId xmlns:p14="http://schemas.microsoft.com/office/powerpoint/2010/main" val="3233918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A90E9-4F31-BEA0-1852-BF6441CB8287}"/>
              </a:ext>
            </a:extLst>
          </p:cNvPr>
          <p:cNvSpPr>
            <a:spLocks noGrp="1"/>
          </p:cNvSpPr>
          <p:nvPr>
            <p:ph idx="1"/>
          </p:nvPr>
        </p:nvSpPr>
        <p:spPr>
          <a:xfrm>
            <a:off x="838200" y="1825625"/>
            <a:ext cx="10515600" cy="2667547"/>
          </a:xfrm>
        </p:spPr>
        <p:txBody>
          <a:bodyPr/>
          <a:lstStyle/>
          <a:p>
            <a:pPr>
              <a:lnSpc>
                <a:spcPts val="2400"/>
              </a:lnSpc>
              <a:buNone/>
            </a:pPr>
            <a:r>
              <a:rPr lang="en-US" b="1" dirty="0">
                <a:latin typeface="+mj-lt"/>
              </a:rPr>
              <a:t>1. </a:t>
            </a:r>
            <a:r>
              <a:rPr lang="en-US" b="1" dirty="0" err="1">
                <a:latin typeface="+mj-lt"/>
              </a:rPr>
              <a:t>databricks</a:t>
            </a:r>
            <a:r>
              <a:rPr lang="en-US" b="1" dirty="0">
                <a:latin typeface="+mj-lt"/>
              </a:rPr>
              <a:t>-</a:t>
            </a:r>
            <a:r>
              <a:rPr lang="en-US" b="1" dirty="0" err="1">
                <a:latin typeface="+mj-lt"/>
              </a:rPr>
              <a:t>bge</a:t>
            </a:r>
            <a:r>
              <a:rPr lang="en-US" b="1" dirty="0">
                <a:latin typeface="+mj-lt"/>
              </a:rPr>
              <a:t>-large-</a:t>
            </a:r>
            <a:r>
              <a:rPr lang="en-US" b="1" dirty="0" err="1">
                <a:latin typeface="+mj-lt"/>
              </a:rPr>
              <a:t>en</a:t>
            </a:r>
            <a:endParaRPr lang="en-US" b="1" dirty="0">
              <a:latin typeface="+mj-lt"/>
            </a:endParaRPr>
          </a:p>
          <a:p>
            <a:pPr>
              <a:lnSpc>
                <a:spcPts val="2400"/>
              </a:lnSpc>
              <a:buNone/>
            </a:pPr>
            <a:endParaRPr lang="en-US" dirty="0">
              <a:solidFill>
                <a:srgbClr val="242424"/>
              </a:solidFill>
              <a:latin typeface="+mj-lt"/>
            </a:endParaRPr>
          </a:p>
          <a:p>
            <a:pPr>
              <a:lnSpc>
                <a:spcPts val="2400"/>
              </a:lnSpc>
              <a:buNone/>
            </a:pPr>
            <a:r>
              <a:rPr lang="en-US" dirty="0">
                <a:solidFill>
                  <a:srgbClr val="242424"/>
                </a:solidFill>
                <a:latin typeface="+mj-lt"/>
              </a:rPr>
              <a:t>The </a:t>
            </a:r>
            <a:r>
              <a:rPr lang="en-US" b="1" dirty="0">
                <a:solidFill>
                  <a:srgbClr val="242424"/>
                </a:solidFill>
                <a:latin typeface="+mj-lt"/>
              </a:rPr>
              <a:t>default embedding model</a:t>
            </a:r>
            <a:r>
              <a:rPr lang="en-US" dirty="0">
                <a:solidFill>
                  <a:srgbClr val="242424"/>
                </a:solidFill>
                <a:latin typeface="+mj-lt"/>
              </a:rPr>
              <a:t> used in Databricks</a:t>
            </a:r>
          </a:p>
          <a:p>
            <a:pPr marL="285750" indent="-285750">
              <a:lnSpc>
                <a:spcPts val="2400"/>
              </a:lnSpc>
            </a:pPr>
            <a:r>
              <a:rPr lang="en-US" dirty="0">
                <a:solidFill>
                  <a:srgbClr val="242424"/>
                </a:solidFill>
                <a:latin typeface="+mj-lt"/>
              </a:rPr>
              <a:t>1024 dimensions, trained on </a:t>
            </a:r>
            <a:r>
              <a:rPr lang="en-US" b="1" dirty="0">
                <a:solidFill>
                  <a:srgbClr val="242424"/>
                </a:solidFill>
                <a:latin typeface="+mj-lt"/>
              </a:rPr>
              <a:t>multi-domain data</a:t>
            </a:r>
            <a:endParaRPr lang="en-US" dirty="0">
              <a:solidFill>
                <a:srgbClr val="242424"/>
              </a:solidFill>
              <a:latin typeface="+mj-lt"/>
            </a:endParaRPr>
          </a:p>
          <a:p>
            <a:pPr marL="285750" indent="-285750">
              <a:lnSpc>
                <a:spcPts val="2400"/>
              </a:lnSpc>
            </a:pPr>
            <a:r>
              <a:rPr lang="en-US" dirty="0">
                <a:solidFill>
                  <a:srgbClr val="242424"/>
                </a:solidFill>
                <a:latin typeface="+mj-lt"/>
              </a:rPr>
              <a:t>Great for semantic search, RAG, and classification tasks</a:t>
            </a:r>
          </a:p>
          <a:p>
            <a:pPr marL="285750" indent="-285750">
              <a:lnSpc>
                <a:spcPts val="2400"/>
              </a:lnSpc>
            </a:pPr>
            <a:r>
              <a:rPr lang="en-US" dirty="0">
                <a:solidFill>
                  <a:srgbClr val="242424"/>
                </a:solidFill>
                <a:latin typeface="+mj-lt"/>
              </a:rPr>
              <a:t>Fine-tuned version of BAAI’s BGE series</a:t>
            </a:r>
            <a:endParaRPr lang="en-US" dirty="0">
              <a:latin typeface="+mj-lt"/>
            </a:endParaRPr>
          </a:p>
        </p:txBody>
      </p:sp>
      <p:pic>
        <p:nvPicPr>
          <p:cNvPr id="5" name="Picture 4" descr="A close-up of text&#10;&#10;AI-generated content may be incorrect.">
            <a:extLst>
              <a:ext uri="{FF2B5EF4-FFF2-40B4-BE49-F238E27FC236}">
                <a16:creationId xmlns:a16="http://schemas.microsoft.com/office/drawing/2014/main" id="{6BC3F079-7A7A-B9C1-9830-FBFC9BF2C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686" y="4749849"/>
            <a:ext cx="7973440" cy="1363084"/>
          </a:xfrm>
          <a:prstGeom prst="rect">
            <a:avLst/>
          </a:prstGeom>
        </p:spPr>
      </p:pic>
      <p:sp>
        <p:nvSpPr>
          <p:cNvPr id="9" name="Title 6">
            <a:extLst>
              <a:ext uri="{FF2B5EF4-FFF2-40B4-BE49-F238E27FC236}">
                <a16:creationId xmlns:a16="http://schemas.microsoft.com/office/drawing/2014/main" id="{9E1B153B-183A-53E4-7833-0C4531FBCBC1}"/>
              </a:ext>
            </a:extLst>
          </p:cNvPr>
          <p:cNvSpPr txBox="1">
            <a:spLocks/>
          </p:cNvSpPr>
          <p:nvPr/>
        </p:nvSpPr>
        <p:spPr>
          <a:xfrm>
            <a:off x="838200" y="793001"/>
            <a:ext cx="10515600" cy="469809"/>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50"/>
              </a:lnSpc>
            </a:pPr>
            <a:r>
              <a:rPr lang="en-US" dirty="0">
                <a:solidFill>
                  <a:srgbClr val="FB4E0B"/>
                </a:solidFill>
              </a:rPr>
              <a:t>Types of Embedding Models on Databricks</a:t>
            </a:r>
          </a:p>
        </p:txBody>
      </p:sp>
    </p:spTree>
    <p:extLst>
      <p:ext uri="{BB962C8B-B14F-4D97-AF65-F5344CB8AC3E}">
        <p14:creationId xmlns:p14="http://schemas.microsoft.com/office/powerpoint/2010/main" val="19964229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9FB7B-AC9C-FF50-3F0C-6181AD2756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BBC1F2-8433-6E74-AEB8-CACAFD739477}"/>
              </a:ext>
            </a:extLst>
          </p:cNvPr>
          <p:cNvSpPr>
            <a:spLocks noGrp="1"/>
          </p:cNvSpPr>
          <p:nvPr>
            <p:ph idx="1"/>
          </p:nvPr>
        </p:nvSpPr>
        <p:spPr>
          <a:xfrm>
            <a:off x="838200" y="1825625"/>
            <a:ext cx="10515600" cy="2667547"/>
          </a:xfrm>
        </p:spPr>
        <p:txBody>
          <a:bodyPr/>
          <a:lstStyle/>
          <a:p>
            <a:pPr marL="0" indent="0">
              <a:buNone/>
            </a:pPr>
            <a:r>
              <a:rPr lang="en-US" b="1" dirty="0">
                <a:latin typeface="+mj-lt"/>
              </a:rPr>
              <a:t>2. Open Source Models (Hugging Face)</a:t>
            </a:r>
          </a:p>
          <a:p>
            <a:pPr>
              <a:lnSpc>
                <a:spcPts val="2400"/>
              </a:lnSpc>
              <a:buNone/>
            </a:pPr>
            <a:endParaRPr lang="en-US" dirty="0">
              <a:solidFill>
                <a:srgbClr val="242424"/>
              </a:solidFill>
              <a:latin typeface="+mj-lt"/>
            </a:endParaRPr>
          </a:p>
          <a:p>
            <a:pPr marL="0" indent="0">
              <a:buNone/>
            </a:pPr>
            <a:r>
              <a:rPr lang="en-US" dirty="0">
                <a:latin typeface="+mj-lt"/>
              </a:rPr>
              <a:t>E.g., sentence-transformers/all-MiniLM-L6-v2, </a:t>
            </a:r>
            <a:r>
              <a:rPr lang="en-US" dirty="0" err="1">
                <a:latin typeface="+mj-lt"/>
              </a:rPr>
              <a:t>mteb</a:t>
            </a:r>
            <a:r>
              <a:rPr lang="en-US" dirty="0">
                <a:latin typeface="+mj-lt"/>
              </a:rPr>
              <a:t>/e5-large</a:t>
            </a:r>
          </a:p>
          <a:p>
            <a:r>
              <a:rPr lang="en-US" dirty="0">
                <a:latin typeface="+mj-lt"/>
              </a:rPr>
              <a:t>Can be hosted via Hugging Face on Databricks</a:t>
            </a:r>
          </a:p>
          <a:p>
            <a:r>
              <a:rPr lang="en-US" dirty="0">
                <a:latin typeface="+mj-lt"/>
              </a:rPr>
              <a:t>Lighter, fast, but often lower performance in enterprise domains</a:t>
            </a:r>
          </a:p>
        </p:txBody>
      </p:sp>
      <p:sp>
        <p:nvSpPr>
          <p:cNvPr id="6" name="Title 6">
            <a:extLst>
              <a:ext uri="{FF2B5EF4-FFF2-40B4-BE49-F238E27FC236}">
                <a16:creationId xmlns:a16="http://schemas.microsoft.com/office/drawing/2014/main" id="{1D0773E2-5D40-37F5-CA06-80DF7E6DF9EF}"/>
              </a:ext>
            </a:extLst>
          </p:cNvPr>
          <p:cNvSpPr txBox="1">
            <a:spLocks/>
          </p:cNvSpPr>
          <p:nvPr/>
        </p:nvSpPr>
        <p:spPr>
          <a:xfrm>
            <a:off x="838200" y="793001"/>
            <a:ext cx="10515600" cy="469809"/>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50"/>
              </a:lnSpc>
            </a:pPr>
            <a:r>
              <a:rPr lang="en-US" dirty="0">
                <a:solidFill>
                  <a:srgbClr val="FB4E0B"/>
                </a:solidFill>
              </a:rPr>
              <a:t>Types of Embedding Models on Databricks</a:t>
            </a:r>
          </a:p>
        </p:txBody>
      </p:sp>
    </p:spTree>
    <p:extLst>
      <p:ext uri="{BB962C8B-B14F-4D97-AF65-F5344CB8AC3E}">
        <p14:creationId xmlns:p14="http://schemas.microsoft.com/office/powerpoint/2010/main" val="7498845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02C6C-8F2D-784B-3621-2E4F3D04B0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C91014-FDE0-9D53-A118-3A0638C60578}"/>
              </a:ext>
            </a:extLst>
          </p:cNvPr>
          <p:cNvSpPr>
            <a:spLocks noGrp="1"/>
          </p:cNvSpPr>
          <p:nvPr>
            <p:ph idx="1"/>
          </p:nvPr>
        </p:nvSpPr>
        <p:spPr>
          <a:xfrm>
            <a:off x="838200" y="1825625"/>
            <a:ext cx="10515600" cy="2667547"/>
          </a:xfrm>
        </p:spPr>
        <p:txBody>
          <a:bodyPr/>
          <a:lstStyle/>
          <a:p>
            <a:pPr marL="0" indent="0">
              <a:buNone/>
            </a:pPr>
            <a:r>
              <a:rPr lang="en-US" b="1" dirty="0"/>
              <a:t>3. Proprietary Models (OpenAI)</a:t>
            </a:r>
          </a:p>
          <a:p>
            <a:r>
              <a:rPr lang="en-US" dirty="0"/>
              <a:t>E.g., text-embedding-ada-002</a:t>
            </a:r>
          </a:p>
          <a:p>
            <a:r>
              <a:rPr lang="en-US" dirty="0"/>
              <a:t>Used via external APIs</a:t>
            </a:r>
          </a:p>
          <a:p>
            <a:r>
              <a:rPr lang="en-US" dirty="0"/>
              <a:t>Higher cost and latency</a:t>
            </a:r>
          </a:p>
          <a:p>
            <a:r>
              <a:rPr lang="en-US" dirty="0"/>
              <a:t>May violate data residency or compliance policies</a:t>
            </a:r>
          </a:p>
        </p:txBody>
      </p:sp>
      <p:sp>
        <p:nvSpPr>
          <p:cNvPr id="5" name="Title 6">
            <a:extLst>
              <a:ext uri="{FF2B5EF4-FFF2-40B4-BE49-F238E27FC236}">
                <a16:creationId xmlns:a16="http://schemas.microsoft.com/office/drawing/2014/main" id="{96E17F25-667D-2381-983F-E5F0135F9A72}"/>
              </a:ext>
            </a:extLst>
          </p:cNvPr>
          <p:cNvSpPr txBox="1">
            <a:spLocks/>
          </p:cNvSpPr>
          <p:nvPr/>
        </p:nvSpPr>
        <p:spPr>
          <a:xfrm>
            <a:off x="838199" y="793001"/>
            <a:ext cx="11159359" cy="469809"/>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50"/>
              </a:lnSpc>
            </a:pPr>
            <a:r>
              <a:rPr lang="en-US" dirty="0">
                <a:solidFill>
                  <a:srgbClr val="FB4E0B"/>
                </a:solidFill>
                <a:latin typeface="+mn-lt"/>
              </a:rPr>
              <a:t>Types of Embedding Models on Databricks</a:t>
            </a:r>
          </a:p>
        </p:txBody>
      </p:sp>
    </p:spTree>
    <p:extLst>
      <p:ext uri="{BB962C8B-B14F-4D97-AF65-F5344CB8AC3E}">
        <p14:creationId xmlns:p14="http://schemas.microsoft.com/office/powerpoint/2010/main" val="465417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6C0D-6858-5223-BDDE-14987669F1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1FCDD-AAEF-D07C-A4C5-470BADB93618}"/>
              </a:ext>
            </a:extLst>
          </p:cNvPr>
          <p:cNvSpPr>
            <a:spLocks noGrp="1"/>
          </p:cNvSpPr>
          <p:nvPr>
            <p:ph idx="1"/>
          </p:nvPr>
        </p:nvSpPr>
        <p:spPr>
          <a:xfrm>
            <a:off x="838200" y="1825625"/>
            <a:ext cx="10515600" cy="2667547"/>
          </a:xfrm>
        </p:spPr>
        <p:txBody>
          <a:bodyPr/>
          <a:lstStyle/>
          <a:p>
            <a:pPr marL="0" indent="0">
              <a:buNone/>
            </a:pPr>
            <a:r>
              <a:rPr lang="en-US" b="1" dirty="0">
                <a:latin typeface="+mj-lt"/>
              </a:rPr>
              <a:t>4. Custom Fine-Tuned Models</a:t>
            </a:r>
          </a:p>
          <a:p>
            <a:r>
              <a:rPr lang="en-US" dirty="0">
                <a:latin typeface="+mj-lt"/>
              </a:rPr>
              <a:t>Train on domain-specific corpora (e.g., legal clauses, financial disclosures)</a:t>
            </a:r>
          </a:p>
          <a:p>
            <a:r>
              <a:rPr lang="en-US" dirty="0">
                <a:latin typeface="+mj-lt"/>
              </a:rPr>
              <a:t>Hosted in Model Registry or Model Serving on Databricks</a:t>
            </a:r>
          </a:p>
        </p:txBody>
      </p:sp>
      <p:sp>
        <p:nvSpPr>
          <p:cNvPr id="7" name="Title 6">
            <a:extLst>
              <a:ext uri="{FF2B5EF4-FFF2-40B4-BE49-F238E27FC236}">
                <a16:creationId xmlns:a16="http://schemas.microsoft.com/office/drawing/2014/main" id="{E59B9577-E44D-BE7A-5C23-47DA3BAD66CD}"/>
              </a:ext>
            </a:extLst>
          </p:cNvPr>
          <p:cNvSpPr txBox="1">
            <a:spLocks noGrp="1"/>
          </p:cNvSpPr>
          <p:nvPr>
            <p:ph type="title"/>
          </p:nvPr>
        </p:nvSpPr>
        <p:spPr>
          <a:xfrm>
            <a:off x="838200" y="793001"/>
            <a:ext cx="10515600" cy="469809"/>
          </a:xfrm>
          <a:prstGeom prst="rect">
            <a:avLst/>
          </a:prstGeom>
          <a:noFill/>
        </p:spPr>
        <p:txBody>
          <a:bodyPr wrap="square">
            <a:spAutoFit/>
          </a:bodyPr>
          <a:lstStyle/>
          <a:p>
            <a:pPr algn="l">
              <a:lnSpc>
                <a:spcPts val="2250"/>
              </a:lnSpc>
              <a:buNone/>
            </a:pPr>
            <a:r>
              <a:rPr lang="en-US" i="0" dirty="0">
                <a:solidFill>
                  <a:srgbClr val="FB4E0B"/>
                </a:solidFill>
                <a:effectLst/>
              </a:rPr>
              <a:t>Types of Embedding Models on Databricks</a:t>
            </a:r>
          </a:p>
        </p:txBody>
      </p:sp>
    </p:spTree>
    <p:extLst>
      <p:ext uri="{BB962C8B-B14F-4D97-AF65-F5344CB8AC3E}">
        <p14:creationId xmlns:p14="http://schemas.microsoft.com/office/powerpoint/2010/main" val="3353451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74F7-F183-9CCA-E016-3A2F0C694D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400B52-63E9-EB49-5554-0EDDC01787DD}"/>
              </a:ext>
            </a:extLst>
          </p:cNvPr>
          <p:cNvSpPr>
            <a:spLocks noGrp="1"/>
          </p:cNvSpPr>
          <p:nvPr>
            <p:ph idx="1"/>
          </p:nvPr>
        </p:nvSpPr>
        <p:spPr>
          <a:xfrm>
            <a:off x="437544" y="1350104"/>
            <a:ext cx="4470888" cy="2667547"/>
          </a:xfrm>
        </p:spPr>
        <p:txBody>
          <a:bodyPr>
            <a:noAutofit/>
          </a:bodyPr>
          <a:lstStyle/>
          <a:p>
            <a:pPr marL="0" indent="0">
              <a:buNone/>
            </a:pPr>
            <a:r>
              <a:rPr lang="en-US" sz="1600" b="1" dirty="0">
                <a:latin typeface="+mj-lt"/>
              </a:rPr>
              <a:t>Step-by-Step Process</a:t>
            </a:r>
          </a:p>
          <a:p>
            <a:r>
              <a:rPr lang="en-US" sz="1600" b="1" dirty="0">
                <a:latin typeface="+mj-lt"/>
              </a:rPr>
              <a:t>Extract Documents</a:t>
            </a:r>
            <a:br>
              <a:rPr lang="en-US" sz="1600" dirty="0">
                <a:latin typeface="+mj-lt"/>
              </a:rPr>
            </a:br>
            <a:r>
              <a:rPr lang="en-US" sz="1600" dirty="0">
                <a:latin typeface="+mj-lt"/>
              </a:rPr>
              <a:t>Use loaders (PDF, HTML, CSV, etc.)</a:t>
            </a:r>
          </a:p>
          <a:p>
            <a:r>
              <a:rPr lang="en-US" sz="1600" b="1" dirty="0">
                <a:latin typeface="+mj-lt"/>
              </a:rPr>
              <a:t>2. Chunk Documents</a:t>
            </a:r>
            <a:br>
              <a:rPr lang="en-US" sz="1600" dirty="0">
                <a:latin typeface="+mj-lt"/>
              </a:rPr>
            </a:br>
            <a:r>
              <a:rPr lang="en-US" sz="1600" dirty="0">
                <a:latin typeface="+mj-lt"/>
              </a:rPr>
              <a:t>Semantic or recursive chunking (e.g., 500 tokens with 100 overlap)</a:t>
            </a:r>
          </a:p>
          <a:p>
            <a:r>
              <a:rPr lang="en-US" sz="1600" b="1" dirty="0">
                <a:latin typeface="+mj-lt"/>
              </a:rPr>
              <a:t>3. Embed Chunks</a:t>
            </a:r>
            <a:br>
              <a:rPr lang="en-US" sz="1600" dirty="0">
                <a:latin typeface="+mj-lt"/>
              </a:rPr>
            </a:br>
            <a:r>
              <a:rPr lang="en-US" sz="1600" dirty="0">
                <a:latin typeface="+mj-lt"/>
              </a:rPr>
              <a:t>Generate embeddings for each chunk</a:t>
            </a:r>
          </a:p>
          <a:p>
            <a:r>
              <a:rPr lang="en-US" sz="1600" b="1" dirty="0">
                <a:latin typeface="+mj-lt"/>
              </a:rPr>
              <a:t>4. Store Vectors in Delta Table</a:t>
            </a:r>
            <a:br>
              <a:rPr lang="en-US" sz="1600" dirty="0">
                <a:latin typeface="+mj-lt"/>
              </a:rPr>
            </a:br>
            <a:r>
              <a:rPr lang="en-US" sz="1600" dirty="0">
                <a:latin typeface="+mj-lt"/>
              </a:rPr>
              <a:t>Include raw text, metadata, and the embedding vector</a:t>
            </a:r>
          </a:p>
          <a:p>
            <a:r>
              <a:rPr lang="en-US" sz="1600" b="1" dirty="0">
                <a:latin typeface="+mj-lt"/>
              </a:rPr>
              <a:t>5. Index with Mosaic AI Vector Search</a:t>
            </a:r>
            <a:endParaRPr lang="en-US" sz="1600" dirty="0">
              <a:latin typeface="+mj-lt"/>
            </a:endParaRPr>
          </a:p>
        </p:txBody>
      </p:sp>
      <p:sp>
        <p:nvSpPr>
          <p:cNvPr id="7" name="Title 6">
            <a:extLst>
              <a:ext uri="{FF2B5EF4-FFF2-40B4-BE49-F238E27FC236}">
                <a16:creationId xmlns:a16="http://schemas.microsoft.com/office/drawing/2014/main" id="{E93F135C-4A82-32F6-1793-6D7B2AC3C944}"/>
              </a:ext>
            </a:extLst>
          </p:cNvPr>
          <p:cNvSpPr txBox="1">
            <a:spLocks noGrp="1"/>
          </p:cNvSpPr>
          <p:nvPr>
            <p:ph type="title"/>
          </p:nvPr>
        </p:nvSpPr>
        <p:spPr>
          <a:xfrm>
            <a:off x="838200" y="649180"/>
            <a:ext cx="10515600" cy="757451"/>
          </a:xfrm>
          <a:prstGeom prst="rect">
            <a:avLst/>
          </a:prstGeom>
          <a:noFill/>
        </p:spPr>
        <p:txBody>
          <a:bodyPr wrap="square">
            <a:spAutoFit/>
          </a:bodyPr>
          <a:lstStyle/>
          <a:p>
            <a:pPr>
              <a:lnSpc>
                <a:spcPts val="2250"/>
              </a:lnSpc>
            </a:pPr>
            <a:r>
              <a:rPr lang="en-US" dirty="0">
                <a:solidFill>
                  <a:srgbClr val="FB4E0B"/>
                </a:solidFill>
              </a:rPr>
              <a:t>Vectorizing Data on Databricks</a:t>
            </a:r>
            <a:br>
              <a:rPr lang="en-US" dirty="0">
                <a:solidFill>
                  <a:srgbClr val="FB4E0B"/>
                </a:solidFill>
              </a:rPr>
            </a:br>
            <a:endParaRPr lang="en-US" i="0" dirty="0">
              <a:solidFill>
                <a:srgbClr val="FB4E0B"/>
              </a:solidFill>
              <a:effectLst/>
            </a:endParaRPr>
          </a:p>
        </p:txBody>
      </p:sp>
      <p:pic>
        <p:nvPicPr>
          <p:cNvPr id="4" name="Picture 3" descr="A screenshot of a computer code&#10;&#10;AI-generated content may be incorrect.">
            <a:extLst>
              <a:ext uri="{FF2B5EF4-FFF2-40B4-BE49-F238E27FC236}">
                <a16:creationId xmlns:a16="http://schemas.microsoft.com/office/drawing/2014/main" id="{3090BAF2-A20B-2691-690D-21D916CCA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0901" y="1719436"/>
            <a:ext cx="7333555" cy="3562012"/>
          </a:xfrm>
          <a:prstGeom prst="rect">
            <a:avLst/>
          </a:prstGeom>
        </p:spPr>
      </p:pic>
      <p:sp>
        <p:nvSpPr>
          <p:cNvPr id="5" name="TextBox 4">
            <a:extLst>
              <a:ext uri="{FF2B5EF4-FFF2-40B4-BE49-F238E27FC236}">
                <a16:creationId xmlns:a16="http://schemas.microsoft.com/office/drawing/2014/main" id="{52D93A72-F5EE-5D9D-E803-941E2DBFACA7}"/>
              </a:ext>
            </a:extLst>
          </p:cNvPr>
          <p:cNvSpPr txBox="1"/>
          <p:nvPr/>
        </p:nvSpPr>
        <p:spPr>
          <a:xfrm>
            <a:off x="6674071" y="1350104"/>
            <a:ext cx="3573515" cy="369332"/>
          </a:xfrm>
          <a:prstGeom prst="rect">
            <a:avLst/>
          </a:prstGeom>
          <a:noFill/>
        </p:spPr>
        <p:txBody>
          <a:bodyPr wrap="square">
            <a:spAutoFit/>
          </a:bodyPr>
          <a:lstStyle/>
          <a:p>
            <a:pPr marL="0" indent="0">
              <a:buNone/>
            </a:pPr>
            <a:r>
              <a:rPr lang="en-US" sz="1800" b="1" dirty="0">
                <a:latin typeface="+mj-lt"/>
              </a:rPr>
              <a:t>LangChain Example:</a:t>
            </a:r>
          </a:p>
        </p:txBody>
      </p:sp>
    </p:spTree>
    <p:extLst>
      <p:ext uri="{BB962C8B-B14F-4D97-AF65-F5344CB8AC3E}">
        <p14:creationId xmlns:p14="http://schemas.microsoft.com/office/powerpoint/2010/main" val="5943681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C028E3-D2C5-5CF0-C63E-05FC69318FF8}"/>
              </a:ext>
            </a:extLst>
          </p:cNvPr>
          <p:cNvSpPr>
            <a:spLocks noGrp="1"/>
          </p:cNvSpPr>
          <p:nvPr>
            <p:ph idx="1"/>
          </p:nvPr>
        </p:nvSpPr>
        <p:spPr>
          <a:xfrm>
            <a:off x="1626475" y="390961"/>
            <a:ext cx="10938641" cy="5883713"/>
          </a:xfrm>
        </p:spPr>
        <p:txBody>
          <a:bodyPr/>
          <a:lstStyle/>
          <a:p>
            <a:pPr marL="0" indent="0">
              <a:buNone/>
            </a:pPr>
            <a:r>
              <a:rPr lang="en-US" b="1" dirty="0"/>
              <a:t>Storing Embeddings in Delta Lake</a:t>
            </a:r>
          </a:p>
          <a:p>
            <a:r>
              <a:rPr lang="en-US" dirty="0"/>
              <a:t>Each vector is a list of float values (length = model output dimensions).</a:t>
            </a:r>
          </a:p>
          <a:p>
            <a:pPr marL="0" indent="0">
              <a:buNone/>
            </a:pPr>
            <a:r>
              <a:rPr lang="en-US" b="1" dirty="0"/>
              <a:t>Schema Example:</a:t>
            </a:r>
          </a:p>
          <a:p>
            <a:endParaRPr lang="en-US" dirty="0"/>
          </a:p>
        </p:txBody>
      </p:sp>
      <p:pic>
        <p:nvPicPr>
          <p:cNvPr id="24578" name="Picture 2">
            <a:extLst>
              <a:ext uri="{FF2B5EF4-FFF2-40B4-BE49-F238E27FC236}">
                <a16:creationId xmlns:a16="http://schemas.microsoft.com/office/drawing/2014/main" id="{3F1F13C3-0F8D-6DA0-DA65-D9760CEF4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6475" y="2309483"/>
            <a:ext cx="7427700" cy="36183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6FF01BA-E6FC-F6AD-7298-25BA0C8AF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6475" y="5772596"/>
            <a:ext cx="6363588" cy="657317"/>
          </a:xfrm>
          <a:prstGeom prst="rect">
            <a:avLst/>
          </a:prstGeom>
        </p:spPr>
      </p:pic>
    </p:spTree>
    <p:extLst>
      <p:ext uri="{BB962C8B-B14F-4D97-AF65-F5344CB8AC3E}">
        <p14:creationId xmlns:p14="http://schemas.microsoft.com/office/powerpoint/2010/main" val="11523204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F918-7976-470E-F03D-428DB199DD54}"/>
              </a:ext>
            </a:extLst>
          </p:cNvPr>
          <p:cNvSpPr>
            <a:spLocks noGrp="1"/>
          </p:cNvSpPr>
          <p:nvPr>
            <p:ph type="title"/>
          </p:nvPr>
        </p:nvSpPr>
        <p:spPr/>
        <p:txBody>
          <a:bodyPr/>
          <a:lstStyle/>
          <a:p>
            <a:r>
              <a:rPr lang="en-US" dirty="0">
                <a:solidFill>
                  <a:srgbClr val="FB4E0B"/>
                </a:solidFill>
              </a:rPr>
              <a:t>Best Practices for Embedding Pipelines</a:t>
            </a:r>
            <a:br>
              <a:rPr lang="en-US" dirty="0">
                <a:solidFill>
                  <a:srgbClr val="FB4E0B"/>
                </a:solidFill>
              </a:rPr>
            </a:br>
            <a:endParaRPr lang="en-US" dirty="0">
              <a:solidFill>
                <a:srgbClr val="FB4E0B"/>
              </a:solidFill>
            </a:endParaRPr>
          </a:p>
        </p:txBody>
      </p:sp>
      <p:pic>
        <p:nvPicPr>
          <p:cNvPr id="25602" name="Picture 2">
            <a:extLst>
              <a:ext uri="{FF2B5EF4-FFF2-40B4-BE49-F238E27FC236}">
                <a16:creationId xmlns:a16="http://schemas.microsoft.com/office/drawing/2014/main" id="{AAAF2F07-19C7-5916-F016-688B53B7C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20019"/>
            <a:ext cx="1123961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9008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C3C3-1647-E8A3-8FB9-06AE50F81A00}"/>
              </a:ext>
            </a:extLst>
          </p:cNvPr>
          <p:cNvSpPr>
            <a:spLocks noGrp="1"/>
          </p:cNvSpPr>
          <p:nvPr>
            <p:ph type="title"/>
          </p:nvPr>
        </p:nvSpPr>
        <p:spPr>
          <a:xfrm>
            <a:off x="633248" y="365125"/>
            <a:ext cx="10515600" cy="1325563"/>
          </a:xfrm>
        </p:spPr>
        <p:txBody>
          <a:bodyPr/>
          <a:lstStyle/>
          <a:p>
            <a:r>
              <a:rPr lang="en-US" dirty="0">
                <a:solidFill>
                  <a:srgbClr val="FB4E0B"/>
                </a:solidFill>
              </a:rPr>
              <a:t>Evaluating Embedding Model Quality</a:t>
            </a:r>
          </a:p>
        </p:txBody>
      </p:sp>
      <p:sp>
        <p:nvSpPr>
          <p:cNvPr id="3" name="Content Placeholder 2">
            <a:extLst>
              <a:ext uri="{FF2B5EF4-FFF2-40B4-BE49-F238E27FC236}">
                <a16:creationId xmlns:a16="http://schemas.microsoft.com/office/drawing/2014/main" id="{D411B4AB-A2F2-BBFF-BA2D-08C53D9D4740}"/>
              </a:ext>
            </a:extLst>
          </p:cNvPr>
          <p:cNvSpPr>
            <a:spLocks noGrp="1"/>
          </p:cNvSpPr>
          <p:nvPr>
            <p:ph idx="1"/>
          </p:nvPr>
        </p:nvSpPr>
        <p:spPr>
          <a:xfrm>
            <a:off x="633248" y="1690688"/>
            <a:ext cx="5893676" cy="4186072"/>
          </a:xfrm>
        </p:spPr>
        <p:txBody>
          <a:bodyPr>
            <a:normAutofit/>
          </a:bodyPr>
          <a:lstStyle/>
          <a:p>
            <a:pPr marL="0" indent="0">
              <a:buNone/>
            </a:pPr>
            <a:r>
              <a:rPr lang="en-US" sz="1800" b="1" dirty="0"/>
              <a:t>1. Manual Testing</a:t>
            </a:r>
          </a:p>
          <a:p>
            <a:r>
              <a:rPr lang="en-US" sz="1800" dirty="0"/>
              <a:t>Input: Query</a:t>
            </a:r>
          </a:p>
          <a:p>
            <a:r>
              <a:rPr lang="en-US" sz="1800" dirty="0"/>
              <a:t>Output: Top-5 similar chunks</a:t>
            </a:r>
          </a:p>
          <a:p>
            <a:r>
              <a:rPr lang="en-US" sz="1800" dirty="0"/>
              <a:t>Expected: Chunks should answer query without LLM inference</a:t>
            </a:r>
          </a:p>
          <a:p>
            <a:pPr marL="0" indent="0">
              <a:buNone/>
            </a:pPr>
            <a:r>
              <a:rPr lang="en-US" sz="1800" b="1" dirty="0"/>
              <a:t>2. Embedding Benchmarks</a:t>
            </a:r>
          </a:p>
          <a:p>
            <a:r>
              <a:rPr lang="en-US" sz="1800" dirty="0"/>
              <a:t>Use MTEB, BEIR, or internal Q&amp;A datasets to compare models</a:t>
            </a:r>
          </a:p>
          <a:p>
            <a:pPr marL="0" indent="0">
              <a:buNone/>
            </a:pPr>
            <a:r>
              <a:rPr lang="en-US" sz="1800" b="1" dirty="0"/>
              <a:t>3. LLM-Assisted Feedback Loop</a:t>
            </a:r>
          </a:p>
          <a:p>
            <a:r>
              <a:rPr lang="en-US" sz="1800" dirty="0"/>
              <a:t>RAG + LLM → Measure response quality.</a:t>
            </a:r>
          </a:p>
          <a:p>
            <a:r>
              <a:rPr lang="en-US" sz="1800" dirty="0"/>
              <a:t>Trace poor answers to bad retrieval → Fix embeddings</a:t>
            </a:r>
          </a:p>
          <a:p>
            <a:endParaRPr lang="en-US" sz="1800" dirty="0"/>
          </a:p>
        </p:txBody>
      </p:sp>
      <p:pic>
        <p:nvPicPr>
          <p:cNvPr id="26626" name="Picture 2">
            <a:extLst>
              <a:ext uri="{FF2B5EF4-FFF2-40B4-BE49-F238E27FC236}">
                <a16:creationId xmlns:a16="http://schemas.microsoft.com/office/drawing/2014/main" id="{AA5B1B69-F80E-803D-FFFA-1A17D04EC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151" y="2065475"/>
            <a:ext cx="5782383" cy="2428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31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17C45-C978-2104-15B7-B788DBB10C01}"/>
              </a:ext>
            </a:extLst>
          </p:cNvPr>
          <p:cNvSpPr>
            <a:spLocks noGrp="1"/>
          </p:cNvSpPr>
          <p:nvPr>
            <p:ph type="title"/>
          </p:nvPr>
        </p:nvSpPr>
        <p:spPr/>
        <p:txBody>
          <a:bodyPr/>
          <a:lstStyle/>
          <a:p>
            <a:r>
              <a:rPr lang="en-US" dirty="0">
                <a:solidFill>
                  <a:srgbClr val="FB4E0B"/>
                </a:solidFill>
              </a:rPr>
              <a:t>Databricks Vector Search Fundamentals</a:t>
            </a:r>
          </a:p>
        </p:txBody>
      </p:sp>
      <p:pic>
        <p:nvPicPr>
          <p:cNvPr id="27650" name="Picture 2">
            <a:extLst>
              <a:ext uri="{FF2B5EF4-FFF2-40B4-BE49-F238E27FC236}">
                <a16:creationId xmlns:a16="http://schemas.microsoft.com/office/drawing/2014/main" id="{EC521F0E-B871-A6BE-3059-A5887E1C9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796" y="2039939"/>
            <a:ext cx="8796407" cy="3531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1604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81B2F-02B3-536E-AE17-480021DEE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7386A-7316-45FD-5F8E-9FB712CDABC4}"/>
              </a:ext>
            </a:extLst>
          </p:cNvPr>
          <p:cNvSpPr>
            <a:spLocks noGrp="1"/>
          </p:cNvSpPr>
          <p:nvPr>
            <p:ph type="title"/>
          </p:nvPr>
        </p:nvSpPr>
        <p:spPr/>
        <p:txBody>
          <a:bodyPr/>
          <a:lstStyle/>
          <a:p>
            <a:r>
              <a:rPr lang="en-US" dirty="0">
                <a:solidFill>
                  <a:srgbClr val="FB4E0B"/>
                </a:solidFill>
              </a:rPr>
              <a:t>Databricks Vector Search Fundamentals</a:t>
            </a:r>
          </a:p>
        </p:txBody>
      </p:sp>
      <p:sp>
        <p:nvSpPr>
          <p:cNvPr id="4" name="TextBox 3">
            <a:extLst>
              <a:ext uri="{FF2B5EF4-FFF2-40B4-BE49-F238E27FC236}">
                <a16:creationId xmlns:a16="http://schemas.microsoft.com/office/drawing/2014/main" id="{7B0BC679-6EE2-33E7-B8D4-8622529B1999}"/>
              </a:ext>
            </a:extLst>
          </p:cNvPr>
          <p:cNvSpPr txBox="1"/>
          <p:nvPr/>
        </p:nvSpPr>
        <p:spPr>
          <a:xfrm>
            <a:off x="838200" y="1976799"/>
            <a:ext cx="10515600" cy="3000180"/>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What Is Vector Search?</a:t>
            </a:r>
          </a:p>
          <a:p>
            <a:pPr algn="l">
              <a:lnSpc>
                <a:spcPts val="1800"/>
              </a:lnSpc>
              <a:buNone/>
            </a:pPr>
            <a:endParaRPr lang="en-US" b="1" i="0" dirty="0">
              <a:solidFill>
                <a:srgbClr val="242424"/>
              </a:solidFill>
              <a:effectLst/>
              <a:latin typeface="sohne"/>
            </a:endParaRPr>
          </a:p>
          <a:p>
            <a:pPr algn="l">
              <a:lnSpc>
                <a:spcPts val="2400"/>
              </a:lnSpc>
              <a:buNone/>
            </a:pPr>
            <a:r>
              <a:rPr lang="en-US" b="1" i="0" dirty="0">
                <a:solidFill>
                  <a:srgbClr val="242424"/>
                </a:solidFill>
                <a:effectLst/>
                <a:latin typeface="source-serif-pro"/>
              </a:rPr>
              <a:t>Vector search</a:t>
            </a:r>
            <a:r>
              <a:rPr lang="en-US" b="0" i="0" dirty="0">
                <a:solidFill>
                  <a:srgbClr val="242424"/>
                </a:solidFill>
                <a:effectLst/>
                <a:latin typeface="source-serif-pro"/>
              </a:rPr>
              <a:t> is a way to find information by </a:t>
            </a:r>
            <a:r>
              <a:rPr lang="en-US" b="1" i="0" dirty="0">
                <a:solidFill>
                  <a:srgbClr val="242424"/>
                </a:solidFill>
                <a:effectLst/>
                <a:latin typeface="source-serif-pro"/>
              </a:rPr>
              <a:t>meaning</a:t>
            </a:r>
            <a:r>
              <a:rPr lang="en-US" b="0" i="0" dirty="0">
                <a:solidFill>
                  <a:srgbClr val="242424"/>
                </a:solidFill>
                <a:effectLst/>
                <a:latin typeface="source-serif-pro"/>
              </a:rPr>
              <a:t>, not by exact terms.</a:t>
            </a:r>
          </a:p>
          <a:p>
            <a:pPr algn="l">
              <a:lnSpc>
                <a:spcPts val="2400"/>
              </a:lnSpc>
              <a:buNone/>
            </a:pPr>
            <a:endParaRPr lang="en-US" b="0" i="0" dirty="0">
              <a:solidFill>
                <a:srgbClr val="242424"/>
              </a:solidFill>
              <a:effectLst/>
              <a:latin typeface="source-serif-pro"/>
            </a:endParaRPr>
          </a:p>
          <a:p>
            <a:pPr algn="l">
              <a:lnSpc>
                <a:spcPts val="2400"/>
              </a:lnSpc>
              <a:buNone/>
            </a:pPr>
            <a:r>
              <a:rPr lang="en-US" b="0" i="0" dirty="0">
                <a:solidFill>
                  <a:srgbClr val="242424"/>
                </a:solidFill>
                <a:effectLst/>
                <a:latin typeface="source-serif-pro"/>
              </a:rPr>
              <a:t>A </a:t>
            </a:r>
            <a:r>
              <a:rPr lang="en-US" b="1" i="0" dirty="0">
                <a:solidFill>
                  <a:srgbClr val="242424"/>
                </a:solidFill>
                <a:effectLst/>
                <a:latin typeface="source-serif-pro"/>
              </a:rPr>
              <a:t>text chunk</a:t>
            </a:r>
            <a:r>
              <a:rPr lang="en-US" b="0" i="0" dirty="0">
                <a:solidFill>
                  <a:srgbClr val="242424"/>
                </a:solidFill>
                <a:effectLst/>
                <a:latin typeface="source-serif-pro"/>
              </a:rPr>
              <a:t> (e.g., a paragraph from a policy document) is turned into a vector — a list of floating-point numbers (e.g., 768 or 1024-dimensional).</a:t>
            </a:r>
          </a:p>
          <a:p>
            <a:pPr algn="l">
              <a:lnSpc>
                <a:spcPts val="2400"/>
              </a:lnSpc>
              <a:buNone/>
            </a:pPr>
            <a:endParaRPr lang="en-US" b="0" i="0" dirty="0">
              <a:solidFill>
                <a:srgbClr val="242424"/>
              </a:solidFill>
              <a:effectLst/>
              <a:latin typeface="source-serif-pro"/>
            </a:endParaRPr>
          </a:p>
          <a:p>
            <a:pPr algn="l">
              <a:lnSpc>
                <a:spcPts val="2400"/>
              </a:lnSpc>
              <a:buNone/>
            </a:pPr>
            <a:r>
              <a:rPr lang="en-US" b="0" i="0" dirty="0">
                <a:solidFill>
                  <a:srgbClr val="242424"/>
                </a:solidFill>
                <a:effectLst/>
                <a:latin typeface="source-serif-pro"/>
              </a:rPr>
              <a:t>A </a:t>
            </a:r>
            <a:r>
              <a:rPr lang="en-US" b="1" i="0" dirty="0">
                <a:solidFill>
                  <a:srgbClr val="242424"/>
                </a:solidFill>
                <a:effectLst/>
                <a:latin typeface="source-serif-pro"/>
              </a:rPr>
              <a:t>user’s query</a:t>
            </a:r>
            <a:r>
              <a:rPr lang="en-US" b="0" i="0" dirty="0">
                <a:solidFill>
                  <a:srgbClr val="242424"/>
                </a:solidFill>
                <a:effectLst/>
                <a:latin typeface="source-serif-pro"/>
              </a:rPr>
              <a:t> is also converted into a vector using the same model. The system then compares these vectors to find </a:t>
            </a:r>
            <a:r>
              <a:rPr lang="en-US" b="1" i="0" dirty="0">
                <a:solidFill>
                  <a:srgbClr val="242424"/>
                </a:solidFill>
                <a:effectLst/>
                <a:latin typeface="source-serif-pro"/>
              </a:rPr>
              <a:t>the most similar content</a:t>
            </a:r>
            <a:r>
              <a:rPr lang="en-US" b="0" i="0" dirty="0">
                <a:solidFill>
                  <a:srgbClr val="242424"/>
                </a:solidFill>
                <a:effectLst/>
                <a:latin typeface="source-serif-pro"/>
              </a:rPr>
              <a:t> using metrics like </a:t>
            </a:r>
            <a:r>
              <a:rPr lang="en-US" b="1" i="0" dirty="0">
                <a:solidFill>
                  <a:srgbClr val="242424"/>
                </a:solidFill>
                <a:effectLst/>
                <a:latin typeface="source-serif-pro"/>
              </a:rPr>
              <a:t>cosine similarity</a:t>
            </a:r>
            <a:r>
              <a:rPr lang="en-US" b="0" i="0" dirty="0">
                <a:solidFill>
                  <a:srgbClr val="242424"/>
                </a:solidFill>
                <a:effectLst/>
                <a:latin typeface="source-serif-pro"/>
              </a:rPr>
              <a:t>. This process is </a:t>
            </a:r>
            <a:r>
              <a:rPr lang="en-US" b="1" i="0" dirty="0">
                <a:solidFill>
                  <a:srgbClr val="242424"/>
                </a:solidFill>
                <a:effectLst/>
                <a:latin typeface="source-serif-pro"/>
              </a:rPr>
              <a:t>independent of specific keywords</a:t>
            </a:r>
            <a:r>
              <a:rPr lang="en-US" b="0" i="0" dirty="0">
                <a:solidFill>
                  <a:srgbClr val="242424"/>
                </a:solidFill>
                <a:effectLst/>
                <a:latin typeface="source-serif-pro"/>
              </a:rPr>
              <a:t>, allowing natural language queries to return more intelligent results.</a:t>
            </a:r>
          </a:p>
        </p:txBody>
      </p:sp>
    </p:spTree>
    <p:extLst>
      <p:ext uri="{BB962C8B-B14F-4D97-AF65-F5344CB8AC3E}">
        <p14:creationId xmlns:p14="http://schemas.microsoft.com/office/powerpoint/2010/main" val="29289515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2C11-98EE-CD5C-EE20-F8FED3DDF76E}"/>
              </a:ext>
            </a:extLst>
          </p:cNvPr>
          <p:cNvSpPr>
            <a:spLocks noGrp="1"/>
          </p:cNvSpPr>
          <p:nvPr>
            <p:ph type="title"/>
          </p:nvPr>
        </p:nvSpPr>
        <p:spPr/>
        <p:txBody>
          <a:bodyPr>
            <a:normAutofit/>
          </a:bodyPr>
          <a:lstStyle/>
          <a:p>
            <a:r>
              <a:rPr lang="en-US" dirty="0">
                <a:solidFill>
                  <a:srgbClr val="FB4E0B"/>
                </a:solidFill>
              </a:rPr>
              <a:t>How Does Vector Search Work in Databricks?</a:t>
            </a:r>
            <a:br>
              <a:rPr lang="en-US" dirty="0">
                <a:solidFill>
                  <a:srgbClr val="FB4E0B"/>
                </a:solidFill>
              </a:rPr>
            </a:br>
            <a:endParaRPr lang="en-US" dirty="0">
              <a:solidFill>
                <a:srgbClr val="FB4E0B"/>
              </a:solidFill>
            </a:endParaRPr>
          </a:p>
        </p:txBody>
      </p:sp>
      <p:sp>
        <p:nvSpPr>
          <p:cNvPr id="3" name="Content Placeholder 2">
            <a:extLst>
              <a:ext uri="{FF2B5EF4-FFF2-40B4-BE49-F238E27FC236}">
                <a16:creationId xmlns:a16="http://schemas.microsoft.com/office/drawing/2014/main" id="{71CD0AB9-2EA5-9E7F-0C07-EC49D30BC918}"/>
              </a:ext>
            </a:extLst>
          </p:cNvPr>
          <p:cNvSpPr>
            <a:spLocks noGrp="1"/>
          </p:cNvSpPr>
          <p:nvPr>
            <p:ph idx="1"/>
          </p:nvPr>
        </p:nvSpPr>
        <p:spPr/>
        <p:txBody>
          <a:bodyPr>
            <a:normAutofit lnSpcReduction="10000"/>
          </a:bodyPr>
          <a:lstStyle/>
          <a:p>
            <a:pPr marL="0" indent="0">
              <a:buNone/>
            </a:pPr>
            <a:r>
              <a:rPr lang="en-US" b="1" dirty="0"/>
              <a:t>Mosaic AI Vector Search</a:t>
            </a:r>
          </a:p>
          <a:p>
            <a:r>
              <a:rPr lang="en-US" dirty="0"/>
              <a:t>Databricks provides </a:t>
            </a:r>
            <a:r>
              <a:rPr lang="en-US" b="1" dirty="0"/>
              <a:t>Mosaic AI Vector Search</a:t>
            </a:r>
            <a:r>
              <a:rPr lang="en-US" dirty="0"/>
              <a:t>, a first-party native engine designed to:</a:t>
            </a:r>
          </a:p>
          <a:p>
            <a:r>
              <a:rPr lang="en-US" dirty="0"/>
              <a:t>Index billions of vectors stored in Delta Lake</a:t>
            </a:r>
          </a:p>
          <a:p>
            <a:r>
              <a:rPr lang="en-US" dirty="0"/>
              <a:t>Enable fast, semantic top-K retrieval</a:t>
            </a:r>
          </a:p>
          <a:p>
            <a:r>
              <a:rPr lang="en-US" dirty="0"/>
              <a:t>Support hybrid queries with structured filters</a:t>
            </a:r>
          </a:p>
          <a:p>
            <a:r>
              <a:rPr lang="en-US" dirty="0"/>
              <a:t>Integrate seamlessly with LangChain and </a:t>
            </a:r>
            <a:r>
              <a:rPr lang="en-US" dirty="0" err="1"/>
              <a:t>ChatDatabricks</a:t>
            </a:r>
            <a:endParaRPr lang="en-US" dirty="0"/>
          </a:p>
          <a:p>
            <a:r>
              <a:rPr lang="en-US" dirty="0"/>
              <a:t>Govern and track access using Unity Catalog</a:t>
            </a:r>
          </a:p>
          <a:p>
            <a:r>
              <a:rPr lang="en-US" dirty="0"/>
              <a:t>Support Change Data Feed for real-time updates</a:t>
            </a:r>
          </a:p>
          <a:p>
            <a:endParaRPr lang="en-US" dirty="0"/>
          </a:p>
        </p:txBody>
      </p:sp>
    </p:spTree>
    <p:extLst>
      <p:ext uri="{BB962C8B-B14F-4D97-AF65-F5344CB8AC3E}">
        <p14:creationId xmlns:p14="http://schemas.microsoft.com/office/powerpoint/2010/main" val="27354507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E888D-B240-07CA-2CED-14AFBC1FB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64055-B854-6C36-42C3-88C8C9969F87}"/>
              </a:ext>
            </a:extLst>
          </p:cNvPr>
          <p:cNvSpPr>
            <a:spLocks noGrp="1"/>
          </p:cNvSpPr>
          <p:nvPr>
            <p:ph type="title"/>
          </p:nvPr>
        </p:nvSpPr>
        <p:spPr/>
        <p:txBody>
          <a:bodyPr>
            <a:normAutofit/>
          </a:bodyPr>
          <a:lstStyle/>
          <a:p>
            <a:r>
              <a:rPr lang="en-US" dirty="0">
                <a:solidFill>
                  <a:srgbClr val="FB4E0B"/>
                </a:solidFill>
              </a:rPr>
              <a:t>Step-by-Step: Creating a Vector Search Index</a:t>
            </a:r>
          </a:p>
        </p:txBody>
      </p:sp>
      <p:sp>
        <p:nvSpPr>
          <p:cNvPr id="3" name="Content Placeholder 2">
            <a:extLst>
              <a:ext uri="{FF2B5EF4-FFF2-40B4-BE49-F238E27FC236}">
                <a16:creationId xmlns:a16="http://schemas.microsoft.com/office/drawing/2014/main" id="{B409C381-B6C8-C32D-1033-339D7A48870C}"/>
              </a:ext>
            </a:extLst>
          </p:cNvPr>
          <p:cNvSpPr>
            <a:spLocks noGrp="1"/>
          </p:cNvSpPr>
          <p:nvPr>
            <p:ph idx="1"/>
          </p:nvPr>
        </p:nvSpPr>
        <p:spPr>
          <a:xfrm>
            <a:off x="838200" y="1825625"/>
            <a:ext cx="10515600" cy="980637"/>
          </a:xfrm>
        </p:spPr>
        <p:txBody>
          <a:bodyPr>
            <a:normAutofit/>
          </a:bodyPr>
          <a:lstStyle/>
          <a:p>
            <a:pPr marL="0" indent="0">
              <a:buNone/>
            </a:pPr>
            <a:r>
              <a:rPr lang="en-US" b="1" dirty="0"/>
              <a:t>Step 1: Store Embeddings in a Delta Table</a:t>
            </a:r>
          </a:p>
        </p:txBody>
      </p:sp>
      <p:pic>
        <p:nvPicPr>
          <p:cNvPr id="5" name="Picture 4" descr="A screenshot of a computer code">
            <a:extLst>
              <a:ext uri="{FF2B5EF4-FFF2-40B4-BE49-F238E27FC236}">
                <a16:creationId xmlns:a16="http://schemas.microsoft.com/office/drawing/2014/main" id="{2C321753-1ED2-16ED-770F-F2479D3E9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001" y="2608500"/>
            <a:ext cx="8706792" cy="3908382"/>
          </a:xfrm>
          <a:prstGeom prst="rect">
            <a:avLst/>
          </a:prstGeom>
        </p:spPr>
      </p:pic>
    </p:spTree>
    <p:extLst>
      <p:ext uri="{BB962C8B-B14F-4D97-AF65-F5344CB8AC3E}">
        <p14:creationId xmlns:p14="http://schemas.microsoft.com/office/powerpoint/2010/main" val="20262943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BEF75-B481-447C-B528-34662BF51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7535C-B36D-0BB6-FF38-117296706EDF}"/>
              </a:ext>
            </a:extLst>
          </p:cNvPr>
          <p:cNvSpPr>
            <a:spLocks noGrp="1"/>
          </p:cNvSpPr>
          <p:nvPr>
            <p:ph type="title"/>
          </p:nvPr>
        </p:nvSpPr>
        <p:spPr/>
        <p:txBody>
          <a:bodyPr>
            <a:normAutofit/>
          </a:bodyPr>
          <a:lstStyle/>
          <a:p>
            <a:r>
              <a:rPr lang="en-US" dirty="0">
                <a:solidFill>
                  <a:srgbClr val="FB4E0B"/>
                </a:solidFill>
              </a:rPr>
              <a:t>Step-by-Step: Creating a Vector Search Index</a:t>
            </a:r>
          </a:p>
        </p:txBody>
      </p:sp>
      <p:sp>
        <p:nvSpPr>
          <p:cNvPr id="3" name="Content Placeholder 2">
            <a:extLst>
              <a:ext uri="{FF2B5EF4-FFF2-40B4-BE49-F238E27FC236}">
                <a16:creationId xmlns:a16="http://schemas.microsoft.com/office/drawing/2014/main" id="{658DDB22-7078-282D-322D-78A03BAD12D6}"/>
              </a:ext>
            </a:extLst>
          </p:cNvPr>
          <p:cNvSpPr>
            <a:spLocks noGrp="1"/>
          </p:cNvSpPr>
          <p:nvPr>
            <p:ph idx="1"/>
          </p:nvPr>
        </p:nvSpPr>
        <p:spPr>
          <a:xfrm>
            <a:off x="838200" y="1825625"/>
            <a:ext cx="10515600" cy="980637"/>
          </a:xfrm>
          <a:noFill/>
        </p:spPr>
        <p:txBody>
          <a:bodyPr wrap="square">
            <a:spAutoFit/>
          </a:bodyPr>
          <a:lstStyle/>
          <a:p>
            <a:pPr marL="0">
              <a:lnSpc>
                <a:spcPts val="1800"/>
              </a:lnSpc>
              <a:buNone/>
            </a:pPr>
            <a:r>
              <a:rPr lang="en-US" sz="1800" b="1" dirty="0">
                <a:solidFill>
                  <a:srgbClr val="242424"/>
                </a:solidFill>
                <a:latin typeface="+mj-lt"/>
              </a:rPr>
              <a:t>Step 2: Register Table in Unity Catalog</a:t>
            </a:r>
          </a:p>
        </p:txBody>
      </p:sp>
      <p:pic>
        <p:nvPicPr>
          <p:cNvPr id="6" name="Picture 5" descr="A close-up of a computer screen&#10;&#10;AI-generated content may be incorrect.">
            <a:extLst>
              <a:ext uri="{FF2B5EF4-FFF2-40B4-BE49-F238E27FC236}">
                <a16:creationId xmlns:a16="http://schemas.microsoft.com/office/drawing/2014/main" id="{54EE7156-3913-8706-DE75-A0D86A41D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939" y="2397439"/>
            <a:ext cx="6306430" cy="1009791"/>
          </a:xfrm>
          <a:prstGeom prst="rect">
            <a:avLst/>
          </a:prstGeom>
        </p:spPr>
      </p:pic>
      <p:sp>
        <p:nvSpPr>
          <p:cNvPr id="8" name="TextBox 7">
            <a:extLst>
              <a:ext uri="{FF2B5EF4-FFF2-40B4-BE49-F238E27FC236}">
                <a16:creationId xmlns:a16="http://schemas.microsoft.com/office/drawing/2014/main" id="{0EDC7A60-309B-4A46-A3B3-59E3D598FE74}"/>
              </a:ext>
            </a:extLst>
          </p:cNvPr>
          <p:cNvSpPr txBox="1"/>
          <p:nvPr/>
        </p:nvSpPr>
        <p:spPr>
          <a:xfrm>
            <a:off x="838200" y="3625860"/>
            <a:ext cx="6093372" cy="326371"/>
          </a:xfrm>
          <a:prstGeom prst="rect">
            <a:avLst/>
          </a:prstGeom>
          <a:noFill/>
        </p:spPr>
        <p:txBody>
          <a:bodyPr wrap="square">
            <a:spAutoFit/>
          </a:bodyPr>
          <a:lstStyle>
            <a:defPPr>
              <a:defRPr lang="en-US"/>
            </a:defPPr>
            <a:lvl1pPr>
              <a:lnSpc>
                <a:spcPts val="1800"/>
              </a:lnSpc>
              <a:buNone/>
              <a:defRPr b="1" i="0">
                <a:solidFill>
                  <a:srgbClr val="242424"/>
                </a:solidFill>
                <a:effectLst/>
                <a:latin typeface="sohne"/>
              </a:defRPr>
            </a:lvl1pPr>
          </a:lstStyle>
          <a:p>
            <a:r>
              <a:rPr lang="en-US" dirty="0">
                <a:latin typeface="+mj-lt"/>
              </a:rPr>
              <a:t>Step 3: Enable Change Data Feed</a:t>
            </a:r>
          </a:p>
        </p:txBody>
      </p:sp>
      <p:pic>
        <p:nvPicPr>
          <p:cNvPr id="10" name="Picture 9" descr="A close-up of a computer screen&#10;&#10;AI-generated content may be incorrect.">
            <a:extLst>
              <a:ext uri="{FF2B5EF4-FFF2-40B4-BE49-F238E27FC236}">
                <a16:creationId xmlns:a16="http://schemas.microsoft.com/office/drawing/2014/main" id="{D4185B18-DE50-E8B7-A669-ACF420A48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969792"/>
            <a:ext cx="6408196" cy="911302"/>
          </a:xfrm>
          <a:prstGeom prst="rect">
            <a:avLst/>
          </a:prstGeom>
        </p:spPr>
      </p:pic>
      <p:sp>
        <p:nvSpPr>
          <p:cNvPr id="12" name="TextBox 11">
            <a:extLst>
              <a:ext uri="{FF2B5EF4-FFF2-40B4-BE49-F238E27FC236}">
                <a16:creationId xmlns:a16="http://schemas.microsoft.com/office/drawing/2014/main" id="{FB063C1B-912C-B37B-48ED-6B33E95F2813}"/>
              </a:ext>
            </a:extLst>
          </p:cNvPr>
          <p:cNvSpPr txBox="1"/>
          <p:nvPr/>
        </p:nvSpPr>
        <p:spPr>
          <a:xfrm>
            <a:off x="838200" y="4898655"/>
            <a:ext cx="6093372" cy="326371"/>
          </a:xfrm>
          <a:prstGeom prst="rect">
            <a:avLst/>
          </a:prstGeom>
          <a:noFill/>
        </p:spPr>
        <p:txBody>
          <a:bodyPr wrap="square">
            <a:spAutoFit/>
          </a:bodyPr>
          <a:lstStyle/>
          <a:p>
            <a:pPr algn="l">
              <a:lnSpc>
                <a:spcPts val="1800"/>
              </a:lnSpc>
              <a:buNone/>
            </a:pPr>
            <a:r>
              <a:rPr lang="en-US" b="1" i="0" dirty="0">
                <a:solidFill>
                  <a:srgbClr val="242424"/>
                </a:solidFill>
                <a:effectLst/>
                <a:latin typeface="+mj-lt"/>
              </a:rPr>
              <a:t>Step 4: Create Vector Index</a:t>
            </a:r>
          </a:p>
        </p:txBody>
      </p:sp>
      <p:pic>
        <p:nvPicPr>
          <p:cNvPr id="14" name="Picture 13" descr="A computer code with text&#10;&#10;AI-generated content may be incorrect.">
            <a:extLst>
              <a:ext uri="{FF2B5EF4-FFF2-40B4-BE49-F238E27FC236}">
                <a16:creationId xmlns:a16="http://schemas.microsoft.com/office/drawing/2014/main" id="{7D0E5EE3-4795-CA9F-2946-751C960EA3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9" y="5263978"/>
            <a:ext cx="6306429" cy="1327127"/>
          </a:xfrm>
          <a:prstGeom prst="rect">
            <a:avLst/>
          </a:prstGeom>
        </p:spPr>
      </p:pic>
      <p:sp>
        <p:nvSpPr>
          <p:cNvPr id="16" name="TextBox 15">
            <a:extLst>
              <a:ext uri="{FF2B5EF4-FFF2-40B4-BE49-F238E27FC236}">
                <a16:creationId xmlns:a16="http://schemas.microsoft.com/office/drawing/2014/main" id="{A9CF1C38-490A-21E4-DCD5-7ED44EBED99E}"/>
              </a:ext>
            </a:extLst>
          </p:cNvPr>
          <p:cNvSpPr txBox="1"/>
          <p:nvPr/>
        </p:nvSpPr>
        <p:spPr>
          <a:xfrm>
            <a:off x="7898524" y="4898655"/>
            <a:ext cx="4051738" cy="2062103"/>
          </a:xfrm>
          <a:prstGeom prst="rect">
            <a:avLst/>
          </a:prstGeom>
          <a:noFill/>
        </p:spPr>
        <p:txBody>
          <a:bodyPr wrap="square">
            <a:spAutoFit/>
          </a:bodyPr>
          <a:lstStyle/>
          <a:p>
            <a:r>
              <a:rPr lang="en-US" sz="1600" b="0" i="0" dirty="0">
                <a:solidFill>
                  <a:srgbClr val="242424"/>
                </a:solidFill>
                <a:effectLst/>
                <a:latin typeface="+mj-lt"/>
              </a:rPr>
              <a:t>Now your data is ready for semantic querying using SQL or APIs.</a:t>
            </a:r>
          </a:p>
          <a:p>
            <a:endParaRPr lang="en-US" sz="1600" dirty="0">
              <a:latin typeface="+mj-lt"/>
            </a:endParaRPr>
          </a:p>
          <a:p>
            <a:r>
              <a:rPr lang="en-US" sz="1600" dirty="0">
                <a:latin typeface="+mj-lt"/>
              </a:rPr>
              <a:t>This will:</a:t>
            </a:r>
          </a:p>
          <a:p>
            <a:r>
              <a:rPr lang="en-US" sz="1600" dirty="0">
                <a:latin typeface="+mj-lt"/>
              </a:rPr>
              <a:t>Embed the query, Search the vector index, Return the top 3 most semantically similar chunks</a:t>
            </a:r>
          </a:p>
          <a:p>
            <a:endParaRPr lang="en-US" sz="1600" dirty="0">
              <a:latin typeface="+mj-lt"/>
            </a:endParaRPr>
          </a:p>
        </p:txBody>
      </p:sp>
      <p:cxnSp>
        <p:nvCxnSpPr>
          <p:cNvPr id="18" name="Straight Arrow Connector 17">
            <a:extLst>
              <a:ext uri="{FF2B5EF4-FFF2-40B4-BE49-F238E27FC236}">
                <a16:creationId xmlns:a16="http://schemas.microsoft.com/office/drawing/2014/main" id="{39911F7F-862B-80B6-CB9E-1D6BD398A4CB}"/>
              </a:ext>
            </a:extLst>
          </p:cNvPr>
          <p:cNvCxnSpPr>
            <a:cxnSpLocks/>
            <a:stCxn id="14" idx="3"/>
            <a:endCxn id="16" idx="1"/>
          </p:cNvCxnSpPr>
          <p:nvPr/>
        </p:nvCxnSpPr>
        <p:spPr>
          <a:xfrm>
            <a:off x="7144628" y="5927542"/>
            <a:ext cx="753896" cy="21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620299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699B8-B71C-FAE7-1983-D04E17C14F89}"/>
              </a:ext>
            </a:extLst>
          </p:cNvPr>
          <p:cNvSpPr>
            <a:spLocks noGrp="1"/>
          </p:cNvSpPr>
          <p:nvPr>
            <p:ph idx="1"/>
          </p:nvPr>
        </p:nvSpPr>
        <p:spPr>
          <a:xfrm>
            <a:off x="838200" y="501322"/>
            <a:ext cx="10515600" cy="4351338"/>
          </a:xfrm>
        </p:spPr>
        <p:txBody>
          <a:bodyPr/>
          <a:lstStyle/>
          <a:p>
            <a:pPr marL="0" indent="0">
              <a:buNone/>
            </a:pPr>
            <a:r>
              <a:rPr lang="en-US" dirty="0">
                <a:solidFill>
                  <a:srgbClr val="FB4E0B"/>
                </a:solidFill>
              </a:rPr>
              <a:t>Sample Output:</a:t>
            </a:r>
          </a:p>
          <a:p>
            <a:endParaRPr lang="en-US" dirty="0">
              <a:solidFill>
                <a:srgbClr val="FB4E0B"/>
              </a:solidFill>
            </a:endParaRPr>
          </a:p>
        </p:txBody>
      </p:sp>
      <p:pic>
        <p:nvPicPr>
          <p:cNvPr id="1026" name="Picture 2">
            <a:extLst>
              <a:ext uri="{FF2B5EF4-FFF2-40B4-BE49-F238E27FC236}">
                <a16:creationId xmlns:a16="http://schemas.microsoft.com/office/drawing/2014/main" id="{5805F1C6-D0C0-A26B-553C-AA307EC5B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33" y="1067266"/>
            <a:ext cx="6974796" cy="16839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D5B6AA-2CA2-C848-8E0A-1DFB2C216966}"/>
              </a:ext>
            </a:extLst>
          </p:cNvPr>
          <p:cNvSpPr txBox="1"/>
          <p:nvPr/>
        </p:nvSpPr>
        <p:spPr>
          <a:xfrm>
            <a:off x="930938" y="2711865"/>
            <a:ext cx="6289669" cy="646331"/>
          </a:xfrm>
          <a:prstGeom prst="rect">
            <a:avLst/>
          </a:prstGeom>
          <a:noFill/>
        </p:spPr>
        <p:txBody>
          <a:bodyPr wrap="square">
            <a:spAutoFit/>
          </a:bodyPr>
          <a:lstStyle/>
          <a:p>
            <a:r>
              <a:rPr lang="en-US" b="0" i="0" dirty="0">
                <a:solidFill>
                  <a:srgbClr val="242424"/>
                </a:solidFill>
                <a:effectLst/>
                <a:latin typeface="source-serif-pro"/>
              </a:rPr>
              <a:t>You can add filters to constrain semantic results based on structured metadata.</a:t>
            </a:r>
            <a:endParaRPr lang="en-US" dirty="0"/>
          </a:p>
        </p:txBody>
      </p:sp>
      <p:pic>
        <p:nvPicPr>
          <p:cNvPr id="7" name="Picture 6" descr="A computer screen shot of a computer screen&#10;&#10;AI-generated content may be incorrect.">
            <a:extLst>
              <a:ext uri="{FF2B5EF4-FFF2-40B4-BE49-F238E27FC236}">
                <a16:creationId xmlns:a16="http://schemas.microsoft.com/office/drawing/2014/main" id="{857072E8-EB68-6129-D19F-7DE6B807E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938" y="3317125"/>
            <a:ext cx="6039693" cy="1771897"/>
          </a:xfrm>
          <a:prstGeom prst="rect">
            <a:avLst/>
          </a:prstGeom>
        </p:spPr>
      </p:pic>
      <p:sp>
        <p:nvSpPr>
          <p:cNvPr id="9" name="TextBox 8">
            <a:extLst>
              <a:ext uri="{FF2B5EF4-FFF2-40B4-BE49-F238E27FC236}">
                <a16:creationId xmlns:a16="http://schemas.microsoft.com/office/drawing/2014/main" id="{E9F9A805-DDC3-EEBD-46EF-C9D506B7A51F}"/>
              </a:ext>
            </a:extLst>
          </p:cNvPr>
          <p:cNvSpPr txBox="1"/>
          <p:nvPr/>
        </p:nvSpPr>
        <p:spPr>
          <a:xfrm>
            <a:off x="838200" y="5122265"/>
            <a:ext cx="6093372" cy="646331"/>
          </a:xfrm>
          <a:prstGeom prst="rect">
            <a:avLst/>
          </a:prstGeom>
          <a:noFill/>
        </p:spPr>
        <p:txBody>
          <a:bodyPr wrap="square">
            <a:spAutoFit/>
          </a:bodyPr>
          <a:lstStyle/>
          <a:p>
            <a:r>
              <a:rPr lang="en-US" b="0" i="0" dirty="0">
                <a:solidFill>
                  <a:srgbClr val="242424"/>
                </a:solidFill>
                <a:effectLst/>
                <a:latin typeface="source-serif-pro"/>
              </a:rPr>
              <a:t>This combines </a:t>
            </a:r>
            <a:r>
              <a:rPr lang="en-US" b="1" i="0" dirty="0">
                <a:solidFill>
                  <a:srgbClr val="242424"/>
                </a:solidFill>
                <a:effectLst/>
                <a:latin typeface="source-serif-pro"/>
              </a:rPr>
              <a:t>semantic similarity</a:t>
            </a:r>
            <a:r>
              <a:rPr lang="en-US" b="0" i="0" dirty="0">
                <a:solidFill>
                  <a:srgbClr val="242424"/>
                </a:solidFill>
                <a:effectLst/>
                <a:latin typeface="source-serif-pro"/>
              </a:rPr>
              <a:t> with </a:t>
            </a:r>
            <a:r>
              <a:rPr lang="en-US" b="1" i="0" dirty="0">
                <a:solidFill>
                  <a:srgbClr val="242424"/>
                </a:solidFill>
                <a:effectLst/>
                <a:latin typeface="source-serif-pro"/>
              </a:rPr>
              <a:t>enterprise control</a:t>
            </a:r>
            <a:r>
              <a:rPr lang="en-US" b="0" i="0" dirty="0">
                <a:solidFill>
                  <a:srgbClr val="242424"/>
                </a:solidFill>
                <a:effectLst/>
                <a:latin typeface="source-serif-pro"/>
              </a:rPr>
              <a:t> — a must for domain-specific use cases.</a:t>
            </a:r>
            <a:endParaRPr lang="en-US" dirty="0"/>
          </a:p>
        </p:txBody>
      </p:sp>
    </p:spTree>
    <p:extLst>
      <p:ext uri="{BB962C8B-B14F-4D97-AF65-F5344CB8AC3E}">
        <p14:creationId xmlns:p14="http://schemas.microsoft.com/office/powerpoint/2010/main" val="7840261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code&#10;&#10;AI-generated content may be incorrect.">
            <a:extLst>
              <a:ext uri="{FF2B5EF4-FFF2-40B4-BE49-F238E27FC236}">
                <a16:creationId xmlns:a16="http://schemas.microsoft.com/office/drawing/2014/main" id="{35C95931-F8AD-4BEE-7EC5-920528E543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5792" y="1200456"/>
            <a:ext cx="7597908" cy="5210350"/>
          </a:xfrm>
        </p:spPr>
      </p:pic>
      <p:sp>
        <p:nvSpPr>
          <p:cNvPr id="11" name="TextBox 10">
            <a:extLst>
              <a:ext uri="{FF2B5EF4-FFF2-40B4-BE49-F238E27FC236}">
                <a16:creationId xmlns:a16="http://schemas.microsoft.com/office/drawing/2014/main" id="{F97A1858-543B-5071-2273-EC3D38B1EBC1}"/>
              </a:ext>
            </a:extLst>
          </p:cNvPr>
          <p:cNvSpPr txBox="1"/>
          <p:nvPr/>
        </p:nvSpPr>
        <p:spPr>
          <a:xfrm>
            <a:off x="520262" y="521424"/>
            <a:ext cx="10137227" cy="679032"/>
          </a:xfrm>
          <a:prstGeom prst="rect">
            <a:avLst/>
          </a:prstGeom>
          <a:noFill/>
        </p:spPr>
        <p:txBody>
          <a:bodyPr wrap="square">
            <a:spAutoFit/>
          </a:bodyPr>
          <a:lstStyle/>
          <a:p>
            <a:pPr algn="l">
              <a:lnSpc>
                <a:spcPts val="2250"/>
              </a:lnSpc>
              <a:buNone/>
            </a:pPr>
            <a:r>
              <a:rPr lang="en-US" b="1" i="0" dirty="0">
                <a:solidFill>
                  <a:srgbClr val="242424"/>
                </a:solidFill>
                <a:effectLst/>
                <a:latin typeface="sohne"/>
              </a:rPr>
              <a:t>Integration with LangChain (Python)</a:t>
            </a:r>
          </a:p>
          <a:p>
            <a:pPr algn="l">
              <a:lnSpc>
                <a:spcPts val="2400"/>
              </a:lnSpc>
              <a:buNone/>
            </a:pPr>
            <a:r>
              <a:rPr lang="en-US" b="0" i="0" dirty="0">
                <a:solidFill>
                  <a:srgbClr val="242424"/>
                </a:solidFill>
                <a:effectLst/>
                <a:latin typeface="source-serif-pro"/>
              </a:rPr>
              <a:t>LangChain makes it easy to plug Mosaic Vector Search into your GenAI pipeline.</a:t>
            </a:r>
          </a:p>
        </p:txBody>
      </p:sp>
    </p:spTree>
    <p:extLst>
      <p:ext uri="{BB962C8B-B14F-4D97-AF65-F5344CB8AC3E}">
        <p14:creationId xmlns:p14="http://schemas.microsoft.com/office/powerpoint/2010/main" val="14723344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FAB2D90-93D4-E877-0245-7B5E14E08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781" y="365125"/>
            <a:ext cx="6667500" cy="2952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6C4BD3C-9DE6-8C68-6969-B55C0D090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522" y="3752850"/>
            <a:ext cx="6667500" cy="3105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6EFC78-2A46-81EE-7BC3-0122C722C73F}"/>
              </a:ext>
            </a:extLst>
          </p:cNvPr>
          <p:cNvSpPr txBox="1"/>
          <p:nvPr/>
        </p:nvSpPr>
        <p:spPr>
          <a:xfrm>
            <a:off x="893474" y="3241769"/>
            <a:ext cx="9140105" cy="374461"/>
          </a:xfrm>
          <a:prstGeom prst="rect">
            <a:avLst/>
          </a:prstGeom>
          <a:noFill/>
        </p:spPr>
        <p:txBody>
          <a:bodyPr wrap="square">
            <a:spAutoFit/>
          </a:bodyPr>
          <a:lstStyle/>
          <a:p>
            <a:pPr algn="l">
              <a:lnSpc>
                <a:spcPts val="2250"/>
              </a:lnSpc>
              <a:buNone/>
            </a:pPr>
            <a:r>
              <a:rPr lang="en-US" b="1" i="0" dirty="0">
                <a:solidFill>
                  <a:srgbClr val="242424"/>
                </a:solidFill>
                <a:effectLst/>
                <a:latin typeface="sohne"/>
              </a:rPr>
              <a:t>Governance, Observability &amp; Auditability</a:t>
            </a:r>
            <a:r>
              <a:rPr lang="en-US" b="1" dirty="0">
                <a:solidFill>
                  <a:srgbClr val="242424"/>
                </a:solidFill>
                <a:latin typeface="sohne"/>
              </a:rPr>
              <a:t> - </a:t>
            </a:r>
            <a:r>
              <a:rPr lang="en-US" b="0" i="0" dirty="0">
                <a:solidFill>
                  <a:srgbClr val="242424"/>
                </a:solidFill>
                <a:effectLst/>
                <a:latin typeface="source-serif-pro"/>
              </a:rPr>
              <a:t>Databricks brings </a:t>
            </a:r>
            <a:r>
              <a:rPr lang="en-US" b="1" i="0" dirty="0">
                <a:solidFill>
                  <a:srgbClr val="242424"/>
                </a:solidFill>
                <a:effectLst/>
                <a:latin typeface="source-serif-pro"/>
              </a:rPr>
              <a:t>enterprise trust</a:t>
            </a:r>
            <a:r>
              <a:rPr lang="en-US" b="0" i="0" dirty="0">
                <a:solidFill>
                  <a:srgbClr val="242424"/>
                </a:solidFill>
                <a:effectLst/>
                <a:latin typeface="source-serif-pro"/>
              </a:rPr>
              <a:t> to vector search:</a:t>
            </a:r>
          </a:p>
        </p:txBody>
      </p:sp>
    </p:spTree>
    <p:extLst>
      <p:ext uri="{BB962C8B-B14F-4D97-AF65-F5344CB8AC3E}">
        <p14:creationId xmlns:p14="http://schemas.microsoft.com/office/powerpoint/2010/main" val="6940020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E501D-03FE-5230-BC3F-452DE7B6379F}"/>
              </a:ext>
            </a:extLst>
          </p:cNvPr>
          <p:cNvSpPr>
            <a:spLocks noGrp="1"/>
          </p:cNvSpPr>
          <p:nvPr>
            <p:ph type="title"/>
          </p:nvPr>
        </p:nvSpPr>
        <p:spPr/>
        <p:txBody>
          <a:bodyPr/>
          <a:lstStyle/>
          <a:p>
            <a:r>
              <a:rPr lang="en-US" dirty="0">
                <a:solidFill>
                  <a:srgbClr val="FB4E0B"/>
                </a:solidFill>
              </a:rPr>
              <a:t>Summary</a:t>
            </a:r>
          </a:p>
        </p:txBody>
      </p:sp>
      <p:pic>
        <p:nvPicPr>
          <p:cNvPr id="4098" name="Picture 2">
            <a:extLst>
              <a:ext uri="{FF2B5EF4-FFF2-40B4-BE49-F238E27FC236}">
                <a16:creationId xmlns:a16="http://schemas.microsoft.com/office/drawing/2014/main" id="{B9761282-2766-7985-7B0C-05B9C827A4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5532" y="1825625"/>
            <a:ext cx="846093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543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F3303B-68FF-BA1F-1E88-DA6ED9B106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CBA20B-7EBE-B131-DE5B-F1F81520BFD6}"/>
              </a:ext>
            </a:extLst>
          </p:cNvPr>
          <p:cNvSpPr txBox="1"/>
          <p:nvPr/>
        </p:nvSpPr>
        <p:spPr>
          <a:xfrm>
            <a:off x="359229" y="375247"/>
            <a:ext cx="11059885" cy="4723537"/>
          </a:xfrm>
          <a:prstGeom prst="rect">
            <a:avLst/>
          </a:prstGeom>
          <a:noFill/>
        </p:spPr>
        <p:txBody>
          <a:bodyPr wrap="square">
            <a:spAutoFit/>
          </a:bodyPr>
          <a:lstStyle/>
          <a:p>
            <a:pPr>
              <a:lnSpc>
                <a:spcPct val="115000"/>
              </a:lnSpc>
              <a:spcAft>
                <a:spcPts val="800"/>
              </a:spcAft>
              <a:buNone/>
            </a:pPr>
            <a:r>
              <a:rPr lang="en-IN" sz="2400" b="1" kern="100" dirty="0">
                <a:solidFill>
                  <a:srgbClr val="FB4E0B"/>
                </a:solidFill>
                <a:effectLst/>
                <a:latin typeface="Aptos Display" panose="020B0004020202020204" pitchFamily="34" charset="0"/>
                <a:ea typeface="Aptos" panose="020B0004020202020204" pitchFamily="34" charset="0"/>
                <a:cs typeface="Times New Roman" panose="02020603050405020304" pitchFamily="18" charset="0"/>
              </a:rPr>
              <a:t>Section 3: Application Development</a:t>
            </a:r>
            <a:endParaRPr lang="en-IN" sz="2400" kern="100" dirty="0">
              <a:solidFill>
                <a:srgbClr val="FB4E0B"/>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IN" sz="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13. Create tools needed to extract data for a given data retrieval need</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Data Extraction and Chunking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 process involves splitting documents into manageable chunks, embedding the chunks with a model, and storing them in a vector store.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Chunking Strategies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case-specific strategies include context-aware chunking by sentence or paragraph and fixed-size chunking by token count. Advanced strategies involve windowed summarization and metadata injection.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Challenges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Addressing complex documents, maintaining logical sections, and dealing with multi-modal data (text mixed with images).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Tools and Libraries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Tools like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PyPDF</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low-level extraction, and advanced models from Hugging Face and OpenAI for high-level contextual extraction.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522788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A9BE34-F169-F72C-0C58-3AA4648348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EBDED3-E061-8D75-9ED9-CB0DBA6B1E5D}"/>
              </a:ext>
            </a:extLst>
          </p:cNvPr>
          <p:cNvSpPr txBox="1"/>
          <p:nvPr/>
        </p:nvSpPr>
        <p:spPr>
          <a:xfrm>
            <a:off x="408214" y="393617"/>
            <a:ext cx="11375571" cy="303538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14. Select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/similar tools for use in a Generative AI application.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 tool designed to manage interactions with language models, facilitating complex applications by linking together various components such as prompt templates, memory, and chains.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Vector Databases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Essential for storing high-dimensional vectors for efficient retrieval. Databricks supports integration with Mosaic AI Vector Search, which uses embedding models and vector search endpoints.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Integration with Databricks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 Databricks platform provides tools like Delta Live Tables and Unity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structured and unstructured data management, ensuring seamless integration with AI applications.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80C211F-0B85-0299-D760-FC38E547DA49}"/>
              </a:ext>
            </a:extLst>
          </p:cNvPr>
          <p:cNvSpPr txBox="1"/>
          <p:nvPr/>
        </p:nvSpPr>
        <p:spPr>
          <a:xfrm>
            <a:off x="408214" y="3429000"/>
            <a:ext cx="10885714" cy="303538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15. Identify how prompt formats can change model outputs and results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Prompt Engineering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 format and structure of prompts significantly impact the quality and accuracy of model outputs. Properly formatted prompts reduce hallucinations and improve response relevance.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 Augmentation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Enhancing prompts with additional context from external sources (retrieved via vector databases) helps models generate more accurate and contextually relevant responses.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Impact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of prompt formatting, including augmenting prompts with supplementary information to see better changes in detail and accuracy.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746701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6055C3-4776-58EB-ABAF-0D9AF9ABA2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930020-8197-2E32-DD08-BCCD300907B2}"/>
              </a:ext>
            </a:extLst>
          </p:cNvPr>
          <p:cNvSpPr txBox="1"/>
          <p:nvPr/>
        </p:nvSpPr>
        <p:spPr>
          <a:xfrm>
            <a:off x="457201" y="308072"/>
            <a:ext cx="11266714" cy="602934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16. Qualitatively assess responses to identify common issues such as quality and safety</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Evaluation Metrics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metrics like context precision, relevancy, recall, and answer correctness to assess the performance of RAG applications.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Quality and Safety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Identifying and addressing issues such as hallucinations, bias, and incomplete information is crucial. Techniques include constructing better prompts and using augmented context.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Continuous Learning and Feedback</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Implementing a feedback loop in RAG systems allows for iterative improvements based on user interactions and system performance evaluation.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17. Select chunking strategy based on model &amp; retrieval evaluation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Chunking Strategies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Choose between context-aware chunking (by sentence, paragraph, section) and fixed-size chunking (by tokens).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Learn about the use case of each.</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Impact on Retrieval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 chunking strategy affects the quality of retrieved context and model performance. Smaller chunks are useful for precision, whereas larger chunks capture broader themes.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Iterative Approach</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Experiment with different chunk sizes and strategies. Evaluate based on the specific requirements of the application, considering the maximum context window of the LLM.</a:t>
            </a:r>
            <a:endParaRPr lang="en-IN" dirty="0"/>
          </a:p>
        </p:txBody>
      </p:sp>
    </p:spTree>
    <p:extLst>
      <p:ext uri="{BB962C8B-B14F-4D97-AF65-F5344CB8AC3E}">
        <p14:creationId xmlns:p14="http://schemas.microsoft.com/office/powerpoint/2010/main" val="34685959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A8D36B-F10E-EADA-9E64-F317000499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58A821-A81D-A090-80FC-F8C3C79B88E7}"/>
              </a:ext>
            </a:extLst>
          </p:cNvPr>
          <p:cNvSpPr txBox="1"/>
          <p:nvPr/>
        </p:nvSpPr>
        <p:spPr>
          <a:xfrm>
            <a:off x="457200" y="259069"/>
            <a:ext cx="11136086" cy="602934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18. Augment a prompt with additional context from a user’s input based on key fields, terms, and intents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Prompt Augmentation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Enhance prompts by injecting relevant context retrieved from external sources like vector databases. This improves the relevance and accuracy of the generated responses.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Retrieval Augmented Generation (RAG)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RAG to combine LLMs with external knowledge bases to provide more contextually accurate outputs.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Techniques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specific fields, terms, and user intents to tailor the additional context provided to the model, ensuring that the response is aligned with user needs.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19. Create a prompt that adjusts an LLM’s response from a baseline to a desired output</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Prompt Engineering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Design prompts with clear instructions, context, and desired output format to guide the LLM towards generating the desired response. Include examples and use delimiters to structure the prompt effectively.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Iterative Development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Adjust parameters like temperature to fine-tune the creativity and focus of the responses. Iterative testing and refining of prompts help achieve the desired output quality.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Zero-shot and Few-shot Prompts</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Utilize these techniques to provide the model with examples that help guide its responses, improving accuracy and relevance without extensive training data.</a:t>
            </a:r>
            <a:endParaRPr lang="en-IN" dirty="0"/>
          </a:p>
        </p:txBody>
      </p:sp>
    </p:spTree>
    <p:extLst>
      <p:ext uri="{BB962C8B-B14F-4D97-AF65-F5344CB8AC3E}">
        <p14:creationId xmlns:p14="http://schemas.microsoft.com/office/powerpoint/2010/main" val="33274201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D89D15-DEB9-2B88-C543-0DC84D457865}"/>
              </a:ext>
            </a:extLst>
          </p:cNvPr>
          <p:cNvSpPr txBox="1"/>
          <p:nvPr/>
        </p:nvSpPr>
        <p:spPr>
          <a:xfrm>
            <a:off x="446313" y="281868"/>
            <a:ext cx="11103429" cy="528965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20. Implement LLM guardrails to prevent negative outcomes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Guardrails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Implement guardrails to prevent harmful or inappropriate responses. These can be simple (e.g.,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System Prompt —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instructing the model not to provide certain information) or complex (e.g., using specialized models like Llama Guard).</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Safety Filter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on Foundation Model API (Instead of using System Prompts)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21. Write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metaprompts</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that minimize hallucinations or leaking private data</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Metaprompts</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Design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Focus on clear and precise instructions to minimize hallucinations. Include context that guides the LLM to provide accurate and relevant responses without fabricating information.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Guardrails Implementation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Utilize guardrails like Llama Guard to filter out sensitive or inappropriate content, ensuring responses do not leak private data.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Evaluation Techniques</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Regularly evaluate the prompts and the responses to identify and rectify any hallucinations or data leakage issues.</a:t>
            </a:r>
            <a:endParaRPr lang="en-IN" dirty="0"/>
          </a:p>
        </p:txBody>
      </p:sp>
    </p:spTree>
    <p:extLst>
      <p:ext uri="{BB962C8B-B14F-4D97-AF65-F5344CB8AC3E}">
        <p14:creationId xmlns:p14="http://schemas.microsoft.com/office/powerpoint/2010/main" val="26991278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851C95-29CD-6EAE-7F2D-55CB1CED3F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DD517D-8769-3ADD-D6CF-C14CB7B41FBB}"/>
              </a:ext>
            </a:extLst>
          </p:cNvPr>
          <p:cNvSpPr txBox="1"/>
          <p:nvPr/>
        </p:nvSpPr>
        <p:spPr>
          <a:xfrm>
            <a:off x="468085" y="376976"/>
            <a:ext cx="10384971" cy="560820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22. Build agent prompt templates exposing available functions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Agent-Based Prompts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Design prompts for agents that expose and utilize specific functions or tools. These agents can dynamically interact with the environment and other tools to complete tasks.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Tools and Frameworks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Utilize tools like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AutoGPT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and OpenAI Function Calling to build robust agent-based systems. These frameworks provide a structure for defining and using functions within prompts.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23. Select the best LLM based on the attributes of the application to be developed</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Attributes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Evaluate the attributes of various LLMs, such as their training data, fine-tuning capabilities, and performance metrics, to select the most suitable model for the application.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Task-Specific Models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Choose models that are specifically tuned or capable of performing the required tasks, whether it be text generation, summarization, or classification.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Benchmarking</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Use benchmarks and performance evaluations to compare different models and select the one that offers the best trade-off between accuracy, efficiency, and cost.</a:t>
            </a:r>
            <a:endParaRPr lang="en-IN" dirty="0"/>
          </a:p>
        </p:txBody>
      </p:sp>
    </p:spTree>
    <p:extLst>
      <p:ext uri="{BB962C8B-B14F-4D97-AF65-F5344CB8AC3E}">
        <p14:creationId xmlns:p14="http://schemas.microsoft.com/office/powerpoint/2010/main" val="7595888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0E0368-B232-EFF8-9230-29D8A82B0A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D64780-FA7F-1CC6-326E-5A3AE146557E}"/>
              </a:ext>
            </a:extLst>
          </p:cNvPr>
          <p:cNvSpPr txBox="1"/>
          <p:nvPr/>
        </p:nvSpPr>
        <p:spPr>
          <a:xfrm>
            <a:off x="609600" y="272655"/>
            <a:ext cx="10646229" cy="6312690"/>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24. Select an embedding model context length based on source documents, expected queries, and optimization strategy</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Context Length Considerations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Select embedding models with appropriate context lengths to handle the expected length of source documents and queries. Ensure the chosen model can effectively capture and represent the necessary context and can take the chunk size.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Optimization Strategies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Balance between shorter and longer context lengths based on the specific needs of the application. Longer context lengths might capture more information but can be computationally expensive.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Embedding Model Selection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Use models that provide the best embeddings for both queries and documents, ensuring they operate within the context window limits and provide accurate results.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25. Select a model from a model hub or marketplace for a task based on model metadata/model cards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Metadata</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Review model cards and metadata on Databricks Marketplace to understand the capabilities, limitations, and intended use cases of different models. This information is crucial for selecting the right model for the specific use of model — like “Is it open for public use?”.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Transparency and Accountability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Model cards provide transparency about the training data, performance metrics, and ethical considerations, aiding in making informed decisions about model selection.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113216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95356F-3639-56CB-2778-A49AFC2287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B210BC-A077-6B85-D9CD-3582E9A56A15}"/>
              </a:ext>
            </a:extLst>
          </p:cNvPr>
          <p:cNvSpPr txBox="1"/>
          <p:nvPr/>
        </p:nvSpPr>
        <p:spPr>
          <a:xfrm>
            <a:off x="315687" y="334222"/>
            <a:ext cx="11136085" cy="296799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26. Select the best model for a given task based on common metrics generated in experiments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Utilize common performance metrics; and also specific task-related metrics like BLEU or ROUGE for text tasks to evaluate models.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Experimentation and Benchmarking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Conduct experiments to generate performance data, comparing models based on these metrics to identify the best-performing model for the given task.</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Iterative Improvement</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Use the experimental results to iteratively improve model selection and fine-tuning, ensuring the chosen model consistently meets or exceeds performance expectations.</a:t>
            </a:r>
            <a:endParaRPr lang="en-IN" dirty="0"/>
          </a:p>
        </p:txBody>
      </p:sp>
    </p:spTree>
    <p:extLst>
      <p:ext uri="{BB962C8B-B14F-4D97-AF65-F5344CB8AC3E}">
        <p14:creationId xmlns:p14="http://schemas.microsoft.com/office/powerpoint/2010/main" val="31742261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3ECC-03C1-9AF1-8E0F-E95980FD8EA1}"/>
              </a:ext>
            </a:extLst>
          </p:cNvPr>
          <p:cNvSpPr>
            <a:spLocks noGrp="1"/>
          </p:cNvSpPr>
          <p:nvPr>
            <p:ph type="title"/>
          </p:nvPr>
        </p:nvSpPr>
        <p:spPr/>
        <p:txBody>
          <a:bodyPr>
            <a:normAutofit/>
          </a:bodyPr>
          <a:lstStyle/>
          <a:p>
            <a:r>
              <a:rPr lang="en-US" dirty="0">
                <a:solidFill>
                  <a:srgbClr val="FB4E0B"/>
                </a:solidFill>
              </a:rPr>
              <a:t>Integrating Vector Search into GenAI Pipelines</a:t>
            </a:r>
          </a:p>
        </p:txBody>
      </p:sp>
      <p:sp>
        <p:nvSpPr>
          <p:cNvPr id="3" name="Content Placeholder 2">
            <a:extLst>
              <a:ext uri="{FF2B5EF4-FFF2-40B4-BE49-F238E27FC236}">
                <a16:creationId xmlns:a16="http://schemas.microsoft.com/office/drawing/2014/main" id="{61BA1756-3B9B-82DF-F603-1E28A50D2391}"/>
              </a:ext>
            </a:extLst>
          </p:cNvPr>
          <p:cNvSpPr>
            <a:spLocks noGrp="1"/>
          </p:cNvSpPr>
          <p:nvPr>
            <p:ph idx="1"/>
          </p:nvPr>
        </p:nvSpPr>
        <p:spPr/>
        <p:txBody>
          <a:bodyPr/>
          <a:lstStyle/>
          <a:p>
            <a:pPr marL="0" indent="0">
              <a:buNone/>
            </a:pPr>
            <a:r>
              <a:rPr lang="en-US" b="1" dirty="0"/>
              <a:t>Why Integration Matters</a:t>
            </a:r>
          </a:p>
          <a:p>
            <a:pPr marL="0" indent="0">
              <a:buNone/>
            </a:pPr>
            <a:r>
              <a:rPr lang="en-US" dirty="0"/>
              <a:t>Embedding data and creating a vector index is only part of the story. A </a:t>
            </a:r>
            <a:r>
              <a:rPr lang="en-US" b="1" dirty="0"/>
              <a:t>complete GenAI pipeline</a:t>
            </a:r>
            <a:r>
              <a:rPr lang="en-US" dirty="0"/>
              <a:t> is one where:</a:t>
            </a:r>
          </a:p>
          <a:p>
            <a:r>
              <a:rPr lang="en-US" dirty="0"/>
              <a:t>A user asks a natural language question</a:t>
            </a:r>
          </a:p>
          <a:p>
            <a:r>
              <a:rPr lang="en-US" dirty="0"/>
              <a:t>Relevant context is retrieved from vector search</a:t>
            </a:r>
          </a:p>
          <a:p>
            <a:r>
              <a:rPr lang="en-US" dirty="0"/>
              <a:t>The prompt is dynamically assembled</a:t>
            </a:r>
          </a:p>
          <a:p>
            <a:r>
              <a:rPr lang="en-US" dirty="0"/>
              <a:t>A large language model generates a grounded, contextual answer</a:t>
            </a:r>
          </a:p>
          <a:p>
            <a:r>
              <a:rPr lang="en-US" dirty="0"/>
              <a:t>The result is explainable, secure, and production-ready</a:t>
            </a:r>
          </a:p>
          <a:p>
            <a:endParaRPr lang="en-US" dirty="0"/>
          </a:p>
        </p:txBody>
      </p:sp>
    </p:spTree>
    <p:extLst>
      <p:ext uri="{BB962C8B-B14F-4D97-AF65-F5344CB8AC3E}">
        <p14:creationId xmlns:p14="http://schemas.microsoft.com/office/powerpoint/2010/main" val="839101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56841-7AA5-394F-9CC8-63CF7BE3583E}"/>
              </a:ext>
            </a:extLst>
          </p:cNvPr>
          <p:cNvSpPr>
            <a:spLocks noGrp="1"/>
          </p:cNvSpPr>
          <p:nvPr>
            <p:ph type="title"/>
          </p:nvPr>
        </p:nvSpPr>
        <p:spPr/>
        <p:txBody>
          <a:bodyPr/>
          <a:lstStyle/>
          <a:p>
            <a:r>
              <a:rPr lang="en-US" dirty="0">
                <a:solidFill>
                  <a:srgbClr val="FB4E0B"/>
                </a:solidFill>
              </a:rPr>
              <a:t>RAG Architecture Recap</a:t>
            </a:r>
          </a:p>
        </p:txBody>
      </p:sp>
      <p:pic>
        <p:nvPicPr>
          <p:cNvPr id="5" name="Content Placeholder 4" descr="A screenshot of a computer program">
            <a:extLst>
              <a:ext uri="{FF2B5EF4-FFF2-40B4-BE49-F238E27FC236}">
                <a16:creationId xmlns:a16="http://schemas.microsoft.com/office/drawing/2014/main" id="{0C482933-A741-3318-F895-2DEFAEC625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687" y="1998216"/>
            <a:ext cx="5055813" cy="2861567"/>
          </a:xfrm>
        </p:spPr>
      </p:pic>
      <p:sp>
        <p:nvSpPr>
          <p:cNvPr id="7" name="TextBox 6">
            <a:extLst>
              <a:ext uri="{FF2B5EF4-FFF2-40B4-BE49-F238E27FC236}">
                <a16:creationId xmlns:a16="http://schemas.microsoft.com/office/drawing/2014/main" id="{530D59AA-61C7-2064-74C5-63E4A14B0150}"/>
              </a:ext>
            </a:extLst>
          </p:cNvPr>
          <p:cNvSpPr txBox="1"/>
          <p:nvPr/>
        </p:nvSpPr>
        <p:spPr>
          <a:xfrm>
            <a:off x="7066893" y="1506022"/>
            <a:ext cx="3606362" cy="369332"/>
          </a:xfrm>
          <a:prstGeom prst="rect">
            <a:avLst/>
          </a:prstGeom>
          <a:noFill/>
        </p:spPr>
        <p:txBody>
          <a:bodyPr wrap="square">
            <a:spAutoFit/>
          </a:bodyPr>
          <a:lstStyle/>
          <a:p>
            <a:r>
              <a:rPr lang="en-US" b="0" i="0" dirty="0">
                <a:solidFill>
                  <a:srgbClr val="242424"/>
                </a:solidFill>
                <a:effectLst/>
                <a:latin typeface="source-serif-pro"/>
              </a:rPr>
              <a:t>Each layer has a specific function:</a:t>
            </a:r>
            <a:endParaRPr lang="en-US" dirty="0"/>
          </a:p>
        </p:txBody>
      </p:sp>
      <p:pic>
        <p:nvPicPr>
          <p:cNvPr id="5122" name="Picture 2">
            <a:extLst>
              <a:ext uri="{FF2B5EF4-FFF2-40B4-BE49-F238E27FC236}">
                <a16:creationId xmlns:a16="http://schemas.microsoft.com/office/drawing/2014/main" id="{6A256668-7E16-8671-5480-A9F9EF69D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0" y="2363804"/>
            <a:ext cx="6667500" cy="208597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BF9FD65B-201E-9B7D-8AFD-CFE8A137AC0E}"/>
              </a:ext>
            </a:extLst>
          </p:cNvPr>
          <p:cNvCxnSpPr/>
          <p:nvPr/>
        </p:nvCxnSpPr>
        <p:spPr>
          <a:xfrm>
            <a:off x="4650828" y="3231931"/>
            <a:ext cx="87367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751579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DF7A-8732-51DD-BF39-957A548E53FD}"/>
              </a:ext>
            </a:extLst>
          </p:cNvPr>
          <p:cNvSpPr>
            <a:spLocks noGrp="1"/>
          </p:cNvSpPr>
          <p:nvPr>
            <p:ph type="title"/>
          </p:nvPr>
        </p:nvSpPr>
        <p:spPr>
          <a:xfrm>
            <a:off x="174171" y="491385"/>
            <a:ext cx="10515600" cy="1325563"/>
          </a:xfrm>
          <a:noFill/>
        </p:spPr>
        <p:txBody>
          <a:bodyPr wrap="square">
            <a:spAutoFit/>
          </a:bodyPr>
          <a:lstStyle/>
          <a:p>
            <a:pPr>
              <a:lnSpc>
                <a:spcPts val="1800"/>
              </a:lnSpc>
            </a:pPr>
            <a:r>
              <a:rPr lang="en-US" sz="1800" b="1" dirty="0">
                <a:solidFill>
                  <a:srgbClr val="242424"/>
                </a:solidFill>
                <a:latin typeface="sohne"/>
                <a:ea typeface="+mn-ea"/>
                <a:cs typeface="+mn-cs"/>
              </a:rPr>
              <a:t>1. Vector Search Setup (Recap)</a:t>
            </a:r>
          </a:p>
        </p:txBody>
      </p:sp>
      <p:sp>
        <p:nvSpPr>
          <p:cNvPr id="3" name="Content Placeholder 2">
            <a:extLst>
              <a:ext uri="{FF2B5EF4-FFF2-40B4-BE49-F238E27FC236}">
                <a16:creationId xmlns:a16="http://schemas.microsoft.com/office/drawing/2014/main" id="{E9974670-505A-2E2A-A09B-A80AD3C71945}"/>
              </a:ext>
            </a:extLst>
          </p:cNvPr>
          <p:cNvSpPr>
            <a:spLocks noGrp="1"/>
          </p:cNvSpPr>
          <p:nvPr>
            <p:ph idx="1"/>
          </p:nvPr>
        </p:nvSpPr>
        <p:spPr>
          <a:xfrm>
            <a:off x="838200" y="1392073"/>
            <a:ext cx="10515600" cy="2036927"/>
          </a:xfrm>
        </p:spPr>
        <p:txBody>
          <a:bodyPr/>
          <a:lstStyle/>
          <a:p>
            <a:pPr marL="0" indent="0">
              <a:buNone/>
            </a:pPr>
            <a:r>
              <a:rPr lang="en-US" sz="1500" dirty="0"/>
              <a:t>Assume we already have:</a:t>
            </a:r>
          </a:p>
          <a:p>
            <a:r>
              <a:rPr lang="en-US" sz="1500" dirty="0"/>
              <a:t>A Delta table with:</a:t>
            </a:r>
          </a:p>
          <a:p>
            <a:r>
              <a:rPr lang="en-US" sz="1500" dirty="0"/>
              <a:t>text, vector, </a:t>
            </a:r>
            <a:r>
              <a:rPr lang="en-US" sz="1500" dirty="0" err="1"/>
              <a:t>doc_title</a:t>
            </a:r>
            <a:r>
              <a:rPr lang="en-US" sz="1500" dirty="0"/>
              <a:t>, tags</a:t>
            </a:r>
          </a:p>
          <a:p>
            <a:r>
              <a:rPr lang="en-US" sz="1500" dirty="0"/>
              <a:t>An index created via:</a:t>
            </a:r>
          </a:p>
          <a:p>
            <a:endParaRPr lang="en-US" dirty="0"/>
          </a:p>
        </p:txBody>
      </p:sp>
      <p:pic>
        <p:nvPicPr>
          <p:cNvPr id="5" name="Picture 4" descr="A screen shot of a computer code">
            <a:extLst>
              <a:ext uri="{FF2B5EF4-FFF2-40B4-BE49-F238E27FC236}">
                <a16:creationId xmlns:a16="http://schemas.microsoft.com/office/drawing/2014/main" id="{35A4A261-AFE8-C9A0-96DD-401E61AAC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0824" y="1211862"/>
            <a:ext cx="5544004" cy="1653257"/>
          </a:xfrm>
          <a:prstGeom prst="rect">
            <a:avLst/>
          </a:prstGeom>
        </p:spPr>
      </p:pic>
      <p:cxnSp>
        <p:nvCxnSpPr>
          <p:cNvPr id="7" name="Straight Arrow Connector 6">
            <a:extLst>
              <a:ext uri="{FF2B5EF4-FFF2-40B4-BE49-F238E27FC236}">
                <a16:creationId xmlns:a16="http://schemas.microsoft.com/office/drawing/2014/main" id="{EF029890-B643-4209-8AB0-A7F8D98DB8DF}"/>
              </a:ext>
            </a:extLst>
          </p:cNvPr>
          <p:cNvCxnSpPr>
            <a:cxnSpLocks/>
          </p:cNvCxnSpPr>
          <p:nvPr/>
        </p:nvCxnSpPr>
        <p:spPr>
          <a:xfrm>
            <a:off x="3884886" y="2112843"/>
            <a:ext cx="834290"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7FABEDCB-2D4D-E4A3-5DBD-692D31BC92B6}"/>
              </a:ext>
            </a:extLst>
          </p:cNvPr>
          <p:cNvSpPr txBox="1"/>
          <p:nvPr/>
        </p:nvSpPr>
        <p:spPr>
          <a:xfrm>
            <a:off x="174171" y="3039249"/>
            <a:ext cx="6093372" cy="614912"/>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2. Setting Up LangChain Components</a:t>
            </a:r>
          </a:p>
          <a:p>
            <a:pPr algn="l">
              <a:lnSpc>
                <a:spcPts val="2400"/>
              </a:lnSpc>
              <a:buNone/>
            </a:pPr>
            <a:r>
              <a:rPr lang="en-US" b="0" i="0" dirty="0">
                <a:solidFill>
                  <a:srgbClr val="242424"/>
                </a:solidFill>
                <a:effectLst/>
                <a:latin typeface="source-serif-pro"/>
              </a:rPr>
              <a:t>Install requirements in Databricks (if not already available):</a:t>
            </a:r>
          </a:p>
        </p:txBody>
      </p:sp>
      <p:pic>
        <p:nvPicPr>
          <p:cNvPr id="11" name="Picture 10">
            <a:extLst>
              <a:ext uri="{FF2B5EF4-FFF2-40B4-BE49-F238E27FC236}">
                <a16:creationId xmlns:a16="http://schemas.microsoft.com/office/drawing/2014/main" id="{0A821BBF-3433-E1E3-94C9-9B0DF7914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711856"/>
            <a:ext cx="7170683" cy="795548"/>
          </a:xfrm>
          <a:prstGeom prst="rect">
            <a:avLst/>
          </a:prstGeom>
        </p:spPr>
      </p:pic>
      <p:sp>
        <p:nvSpPr>
          <p:cNvPr id="13" name="TextBox 12">
            <a:extLst>
              <a:ext uri="{FF2B5EF4-FFF2-40B4-BE49-F238E27FC236}">
                <a16:creationId xmlns:a16="http://schemas.microsoft.com/office/drawing/2014/main" id="{8F6806FC-466E-DFF4-7371-7262D11D9764}"/>
              </a:ext>
            </a:extLst>
          </p:cNvPr>
          <p:cNvSpPr txBox="1"/>
          <p:nvPr/>
        </p:nvSpPr>
        <p:spPr>
          <a:xfrm>
            <a:off x="174171" y="4734685"/>
            <a:ext cx="6093372" cy="326371"/>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a) Load the Vector Index as a Retriever</a:t>
            </a:r>
          </a:p>
        </p:txBody>
      </p:sp>
      <p:pic>
        <p:nvPicPr>
          <p:cNvPr id="15" name="Picture 14">
            <a:extLst>
              <a:ext uri="{FF2B5EF4-FFF2-40B4-BE49-F238E27FC236}">
                <a16:creationId xmlns:a16="http://schemas.microsoft.com/office/drawing/2014/main" id="{9E16CEFD-F74B-3BE5-0DD0-204BD8953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358" y="5357233"/>
            <a:ext cx="6093372" cy="657756"/>
          </a:xfrm>
          <a:prstGeom prst="rect">
            <a:avLst/>
          </a:prstGeom>
        </p:spPr>
      </p:pic>
      <p:sp>
        <p:nvSpPr>
          <p:cNvPr id="17" name="TextBox 16">
            <a:extLst>
              <a:ext uri="{FF2B5EF4-FFF2-40B4-BE49-F238E27FC236}">
                <a16:creationId xmlns:a16="http://schemas.microsoft.com/office/drawing/2014/main" id="{8D912FBA-092D-7D7A-4DFF-7209EEF5B0A2}"/>
              </a:ext>
            </a:extLst>
          </p:cNvPr>
          <p:cNvSpPr txBox="1"/>
          <p:nvPr/>
        </p:nvSpPr>
        <p:spPr>
          <a:xfrm>
            <a:off x="7459400" y="4734685"/>
            <a:ext cx="4558429" cy="326371"/>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b) Load the LLM from Databricks Serving</a:t>
            </a:r>
          </a:p>
        </p:txBody>
      </p:sp>
      <p:pic>
        <p:nvPicPr>
          <p:cNvPr id="19" name="Picture 18" descr="A close-up of text&#10;&#10;AI-generated content may be incorrect.">
            <a:extLst>
              <a:ext uri="{FF2B5EF4-FFF2-40B4-BE49-F238E27FC236}">
                <a16:creationId xmlns:a16="http://schemas.microsoft.com/office/drawing/2014/main" id="{48EEE312-9600-6576-616A-A13394841D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5869" y="5288337"/>
            <a:ext cx="5486131" cy="795548"/>
          </a:xfrm>
          <a:prstGeom prst="rect">
            <a:avLst/>
          </a:prstGeom>
        </p:spPr>
      </p:pic>
    </p:spTree>
    <p:extLst>
      <p:ext uri="{BB962C8B-B14F-4D97-AF65-F5344CB8AC3E}">
        <p14:creationId xmlns:p14="http://schemas.microsoft.com/office/powerpoint/2010/main" val="30531965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AEB25-D08F-E7CF-7FC5-3C5995311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18799-661C-1A15-1E79-BE3B9D18613D}"/>
              </a:ext>
            </a:extLst>
          </p:cNvPr>
          <p:cNvSpPr>
            <a:spLocks noGrp="1"/>
          </p:cNvSpPr>
          <p:nvPr>
            <p:ph type="title"/>
          </p:nvPr>
        </p:nvSpPr>
        <p:spPr>
          <a:xfrm>
            <a:off x="174171" y="471482"/>
            <a:ext cx="10515600" cy="326371"/>
          </a:xfrm>
          <a:noFill/>
        </p:spPr>
        <p:txBody>
          <a:bodyPr wrap="square">
            <a:spAutoFit/>
          </a:bodyPr>
          <a:lstStyle/>
          <a:p>
            <a:pPr>
              <a:lnSpc>
                <a:spcPts val="1800"/>
              </a:lnSpc>
            </a:pPr>
            <a:r>
              <a:rPr lang="en-US" sz="1800" b="1" dirty="0">
                <a:solidFill>
                  <a:srgbClr val="242424"/>
                </a:solidFill>
                <a:latin typeface="sohne"/>
                <a:ea typeface="+mn-ea"/>
                <a:cs typeface="+mn-cs"/>
              </a:rPr>
              <a:t>3. Designing the Prompt Template</a:t>
            </a:r>
          </a:p>
        </p:txBody>
      </p:sp>
      <p:sp>
        <p:nvSpPr>
          <p:cNvPr id="3" name="Content Placeholder 2">
            <a:extLst>
              <a:ext uri="{FF2B5EF4-FFF2-40B4-BE49-F238E27FC236}">
                <a16:creationId xmlns:a16="http://schemas.microsoft.com/office/drawing/2014/main" id="{C667682B-9B5E-4CB5-B81E-D764C88D5116}"/>
              </a:ext>
            </a:extLst>
          </p:cNvPr>
          <p:cNvSpPr>
            <a:spLocks noGrp="1"/>
          </p:cNvSpPr>
          <p:nvPr>
            <p:ph idx="1"/>
          </p:nvPr>
        </p:nvSpPr>
        <p:spPr>
          <a:xfrm>
            <a:off x="497060" y="1499574"/>
            <a:ext cx="10515600" cy="1929426"/>
          </a:xfrm>
        </p:spPr>
        <p:txBody>
          <a:bodyPr>
            <a:normAutofit/>
          </a:bodyPr>
          <a:lstStyle/>
          <a:p>
            <a:pPr marL="0" indent="0">
              <a:buNone/>
            </a:pPr>
            <a:r>
              <a:rPr lang="en-US" sz="1500" dirty="0"/>
              <a:t>Prompt templates help guide LLM behavior and structure. </a:t>
            </a:r>
          </a:p>
          <a:p>
            <a:pPr marL="0" indent="0">
              <a:buNone/>
            </a:pPr>
            <a:r>
              <a:rPr lang="en-US" sz="1500" dirty="0"/>
              <a:t>A strong RAG prompt combines:</a:t>
            </a:r>
          </a:p>
          <a:p>
            <a:r>
              <a:rPr lang="en-US" sz="1500" dirty="0"/>
              <a:t>User question</a:t>
            </a:r>
          </a:p>
          <a:p>
            <a:r>
              <a:rPr lang="en-US" sz="1500" dirty="0"/>
              <a:t>Retrieved context</a:t>
            </a:r>
          </a:p>
          <a:p>
            <a:r>
              <a:rPr lang="en-US" sz="1500" dirty="0"/>
              <a:t>Instructions (e.g., tone, format)</a:t>
            </a:r>
          </a:p>
          <a:p>
            <a:endParaRPr lang="en-US" dirty="0"/>
          </a:p>
        </p:txBody>
      </p:sp>
      <p:cxnSp>
        <p:nvCxnSpPr>
          <p:cNvPr id="7" name="Straight Arrow Connector 6">
            <a:extLst>
              <a:ext uri="{FF2B5EF4-FFF2-40B4-BE49-F238E27FC236}">
                <a16:creationId xmlns:a16="http://schemas.microsoft.com/office/drawing/2014/main" id="{06877BB2-F039-20CC-417E-37DFE2DE57A5}"/>
              </a:ext>
            </a:extLst>
          </p:cNvPr>
          <p:cNvCxnSpPr>
            <a:cxnSpLocks/>
          </p:cNvCxnSpPr>
          <p:nvPr/>
        </p:nvCxnSpPr>
        <p:spPr>
          <a:xfrm>
            <a:off x="4477407" y="2499620"/>
            <a:ext cx="1094714"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CCA1E089-27B3-9B64-D36F-5EDD10C19080}"/>
              </a:ext>
            </a:extLst>
          </p:cNvPr>
          <p:cNvSpPr txBox="1"/>
          <p:nvPr/>
        </p:nvSpPr>
        <p:spPr>
          <a:xfrm>
            <a:off x="174171" y="3276469"/>
            <a:ext cx="6093372" cy="617220"/>
          </a:xfrm>
          <a:prstGeom prst="rect">
            <a:avLst/>
          </a:prstGeom>
          <a:noFill/>
        </p:spPr>
        <p:txBody>
          <a:bodyPr wrap="square">
            <a:spAutoFit/>
          </a:bodyPr>
          <a:lstStyle/>
          <a:p>
            <a:pPr algn="l">
              <a:lnSpc>
                <a:spcPts val="1800"/>
              </a:lnSpc>
              <a:buNone/>
            </a:pPr>
            <a:r>
              <a:rPr lang="en-US" b="1" dirty="0">
                <a:solidFill>
                  <a:srgbClr val="242424"/>
                </a:solidFill>
                <a:latin typeface="sohne"/>
              </a:rPr>
              <a:t>4</a:t>
            </a:r>
            <a:r>
              <a:rPr lang="en-US" b="1" i="0" dirty="0">
                <a:solidFill>
                  <a:srgbClr val="242424"/>
                </a:solidFill>
                <a:effectLst/>
                <a:latin typeface="sohne"/>
              </a:rPr>
              <a:t>. Assembling the Chain</a:t>
            </a:r>
          </a:p>
          <a:p>
            <a:pPr>
              <a:lnSpc>
                <a:spcPts val="2400"/>
              </a:lnSpc>
            </a:pPr>
            <a:r>
              <a:rPr lang="en-US" dirty="0"/>
              <a:t>Use </a:t>
            </a:r>
            <a:r>
              <a:rPr lang="en-US" dirty="0" err="1"/>
              <a:t>RetrievalQA</a:t>
            </a:r>
            <a:r>
              <a:rPr lang="en-US" dirty="0"/>
              <a:t> to stitch together retrieval + prompt + LLM:</a:t>
            </a:r>
            <a:r>
              <a:rPr lang="en-US" b="0" i="0" dirty="0">
                <a:solidFill>
                  <a:srgbClr val="242424"/>
                </a:solidFill>
                <a:effectLst/>
                <a:latin typeface="source-serif-pro"/>
              </a:rPr>
              <a:t>:</a:t>
            </a:r>
          </a:p>
        </p:txBody>
      </p:sp>
      <p:pic>
        <p:nvPicPr>
          <p:cNvPr id="6" name="Picture 5" descr="A screenshot of a computer program">
            <a:extLst>
              <a:ext uri="{FF2B5EF4-FFF2-40B4-BE49-F238E27FC236}">
                <a16:creationId xmlns:a16="http://schemas.microsoft.com/office/drawing/2014/main" id="{BCA253C0-65D6-58CE-C4D6-37957DD53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121" y="932539"/>
            <a:ext cx="6458851" cy="3134162"/>
          </a:xfrm>
          <a:prstGeom prst="rect">
            <a:avLst/>
          </a:prstGeom>
        </p:spPr>
      </p:pic>
      <p:pic>
        <p:nvPicPr>
          <p:cNvPr id="12" name="Picture 11" descr="A computer code with text">
            <a:extLst>
              <a:ext uri="{FF2B5EF4-FFF2-40B4-BE49-F238E27FC236}">
                <a16:creationId xmlns:a16="http://schemas.microsoft.com/office/drawing/2014/main" id="{C2E3EFD0-808F-D2E6-9C4A-80D757D6E3BB}"/>
              </a:ext>
            </a:extLst>
          </p:cNvPr>
          <p:cNvPicPr>
            <a:picLocks noChangeAspect="1"/>
          </p:cNvPicPr>
          <p:nvPr/>
        </p:nvPicPr>
        <p:blipFill>
          <a:blip r:embed="rId4">
            <a:extLst>
              <a:ext uri="{28A0092B-C50C-407E-A947-70E740481C1C}">
                <a14:useLocalDpi xmlns:a14="http://schemas.microsoft.com/office/drawing/2010/main" val="0"/>
              </a:ext>
            </a:extLst>
          </a:blip>
          <a:srcRect b="63970"/>
          <a:stretch>
            <a:fillRect/>
          </a:stretch>
        </p:blipFill>
        <p:spPr>
          <a:xfrm>
            <a:off x="363964" y="3842012"/>
            <a:ext cx="5068007" cy="696766"/>
          </a:xfrm>
          <a:prstGeom prst="rect">
            <a:avLst/>
          </a:prstGeom>
        </p:spPr>
      </p:pic>
      <p:sp>
        <p:nvSpPr>
          <p:cNvPr id="5" name="TextBox 4">
            <a:extLst>
              <a:ext uri="{FF2B5EF4-FFF2-40B4-BE49-F238E27FC236}">
                <a16:creationId xmlns:a16="http://schemas.microsoft.com/office/drawing/2014/main" id="{D010320D-BA23-47C6-5B80-89D932B12060}"/>
              </a:ext>
            </a:extLst>
          </p:cNvPr>
          <p:cNvSpPr txBox="1"/>
          <p:nvPr/>
        </p:nvSpPr>
        <p:spPr>
          <a:xfrm>
            <a:off x="7256079" y="483126"/>
            <a:ext cx="2770790" cy="369332"/>
          </a:xfrm>
          <a:prstGeom prst="rect">
            <a:avLst/>
          </a:prstGeom>
          <a:noFill/>
        </p:spPr>
        <p:txBody>
          <a:bodyPr wrap="square">
            <a:spAutoFit/>
          </a:bodyPr>
          <a:lstStyle/>
          <a:p>
            <a:pPr marL="0" indent="0">
              <a:buNone/>
            </a:pPr>
            <a:r>
              <a:rPr lang="en-US" sz="1800" dirty="0"/>
              <a:t>Example Template:</a:t>
            </a:r>
          </a:p>
        </p:txBody>
      </p:sp>
      <p:sp>
        <p:nvSpPr>
          <p:cNvPr id="11" name="TextBox 10">
            <a:extLst>
              <a:ext uri="{FF2B5EF4-FFF2-40B4-BE49-F238E27FC236}">
                <a16:creationId xmlns:a16="http://schemas.microsoft.com/office/drawing/2014/main" id="{8E3EF93F-87EA-88D0-E2FD-5F5A29995DAD}"/>
              </a:ext>
            </a:extLst>
          </p:cNvPr>
          <p:cNvSpPr txBox="1"/>
          <p:nvPr/>
        </p:nvSpPr>
        <p:spPr>
          <a:xfrm>
            <a:off x="5431971" y="4198213"/>
            <a:ext cx="4782207" cy="461665"/>
          </a:xfrm>
          <a:prstGeom prst="rect">
            <a:avLst/>
          </a:prstGeom>
          <a:noFill/>
        </p:spPr>
        <p:txBody>
          <a:bodyPr wrap="square">
            <a:spAutoFit/>
          </a:bodyPr>
          <a:lstStyle/>
          <a:p>
            <a:pPr algn="l"/>
            <a:r>
              <a:rPr lang="en-US" sz="1200" b="0" i="0" dirty="0">
                <a:effectLst/>
                <a:latin typeface="+mj-lt"/>
              </a:rPr>
              <a:t>Creates an instance of </a:t>
            </a:r>
            <a:r>
              <a:rPr lang="en-US" sz="1200" b="0" i="0" dirty="0" err="1">
                <a:effectLst/>
                <a:latin typeface="+mj-lt"/>
              </a:rPr>
              <a:t>RetrievalQA</a:t>
            </a:r>
            <a:r>
              <a:rPr lang="en-US" sz="1200" b="0" i="0" dirty="0">
                <a:effectLst/>
                <a:latin typeface="+mj-lt"/>
              </a:rPr>
              <a:t> using the </a:t>
            </a:r>
            <a:r>
              <a:rPr lang="en-US" sz="1200" b="0" i="0" dirty="0" err="1">
                <a:effectLst/>
                <a:latin typeface="+mj-lt"/>
              </a:rPr>
              <a:t>from_chain_type</a:t>
            </a:r>
            <a:r>
              <a:rPr lang="en-US" sz="1200" b="0" i="0" dirty="0">
                <a:effectLst/>
                <a:latin typeface="+mj-lt"/>
              </a:rPr>
              <a:t> factory method. This lets you specify the type of retrieval and QA logic you want.</a:t>
            </a:r>
          </a:p>
        </p:txBody>
      </p:sp>
      <p:cxnSp>
        <p:nvCxnSpPr>
          <p:cNvPr id="13" name="Straight Arrow Connector 12">
            <a:extLst>
              <a:ext uri="{FF2B5EF4-FFF2-40B4-BE49-F238E27FC236}">
                <a16:creationId xmlns:a16="http://schemas.microsoft.com/office/drawing/2014/main" id="{C1E4B016-0AEE-A469-ADAD-FDFB7E9931F1}"/>
              </a:ext>
            </a:extLst>
          </p:cNvPr>
          <p:cNvCxnSpPr>
            <a:cxnSpLocks/>
          </p:cNvCxnSpPr>
          <p:nvPr/>
        </p:nvCxnSpPr>
        <p:spPr>
          <a:xfrm>
            <a:off x="3607161" y="4447054"/>
            <a:ext cx="1824810"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5" name="Table 14">
            <a:extLst>
              <a:ext uri="{FF2B5EF4-FFF2-40B4-BE49-F238E27FC236}">
                <a16:creationId xmlns:a16="http://schemas.microsoft.com/office/drawing/2014/main" id="{82F76D8F-CB73-997B-0D5D-1CC7FB4CD6F1}"/>
              </a:ext>
            </a:extLst>
          </p:cNvPr>
          <p:cNvGraphicFramePr>
            <a:graphicFrameLocks noGrp="1"/>
          </p:cNvGraphicFramePr>
          <p:nvPr>
            <p:extLst>
              <p:ext uri="{D42A27DB-BD31-4B8C-83A1-F6EECF244321}">
                <p14:modId xmlns:p14="http://schemas.microsoft.com/office/powerpoint/2010/main" val="3846861204"/>
              </p:ext>
            </p:extLst>
          </p:nvPr>
        </p:nvGraphicFramePr>
        <p:xfrm>
          <a:off x="5574611" y="4888325"/>
          <a:ext cx="5115160" cy="1706880"/>
        </p:xfrm>
        <a:graphic>
          <a:graphicData uri="http://schemas.openxmlformats.org/drawingml/2006/table">
            <a:tbl>
              <a:tblPr>
                <a:tableStyleId>{616DA210-FB5B-4158-B5E0-FEB733F419BA}</a:tableStyleId>
              </a:tblPr>
              <a:tblGrid>
                <a:gridCol w="2049940">
                  <a:extLst>
                    <a:ext uri="{9D8B030D-6E8A-4147-A177-3AD203B41FA5}">
                      <a16:colId xmlns:a16="http://schemas.microsoft.com/office/drawing/2014/main" val="3301812060"/>
                    </a:ext>
                  </a:extLst>
                </a:gridCol>
                <a:gridCol w="3065220">
                  <a:extLst>
                    <a:ext uri="{9D8B030D-6E8A-4147-A177-3AD203B41FA5}">
                      <a16:colId xmlns:a16="http://schemas.microsoft.com/office/drawing/2014/main" val="2107095553"/>
                    </a:ext>
                  </a:extLst>
                </a:gridCol>
              </a:tblGrid>
              <a:tr h="0">
                <a:tc>
                  <a:txBody>
                    <a:bodyPr/>
                    <a:lstStyle/>
                    <a:p>
                      <a:pPr algn="l" fontAlgn="t" latinLnBrk="0">
                        <a:buNone/>
                      </a:pPr>
                      <a:r>
                        <a:rPr lang="en-US" sz="1200" b="1">
                          <a:effectLst/>
                        </a:rPr>
                        <a:t>Parameter</a:t>
                      </a:r>
                    </a:p>
                  </a:txBody>
                  <a:tcPr marL="76200" marR="76200" marT="76200" marB="76200"/>
                </a:tc>
                <a:tc>
                  <a:txBody>
                    <a:bodyPr/>
                    <a:lstStyle/>
                    <a:p>
                      <a:pPr algn="l" fontAlgn="t" latinLnBrk="0">
                        <a:buNone/>
                      </a:pPr>
                      <a:r>
                        <a:rPr lang="en-US" sz="1200" b="1" dirty="0">
                          <a:effectLst/>
                        </a:rPr>
                        <a:t>Description</a:t>
                      </a:r>
                    </a:p>
                  </a:txBody>
                  <a:tcPr marL="76200" marR="76200" marT="76200" marB="76200"/>
                </a:tc>
                <a:extLst>
                  <a:ext uri="{0D108BD9-81ED-4DB2-BD59-A6C34878D82A}">
                    <a16:rowId xmlns:a16="http://schemas.microsoft.com/office/drawing/2014/main" val="3898880039"/>
                  </a:ext>
                </a:extLst>
              </a:tr>
              <a:tr h="0">
                <a:tc>
                  <a:txBody>
                    <a:bodyPr/>
                    <a:lstStyle/>
                    <a:p>
                      <a:pPr fontAlgn="base" latinLnBrk="0">
                        <a:buNone/>
                      </a:pPr>
                      <a:r>
                        <a:rPr lang="en-US" sz="1200">
                          <a:effectLst/>
                        </a:rPr>
                        <a:t>llm=llm</a:t>
                      </a:r>
                    </a:p>
                  </a:txBody>
                  <a:tcPr marL="76200" marR="76200" anchor="ctr"/>
                </a:tc>
                <a:tc>
                  <a:txBody>
                    <a:bodyPr/>
                    <a:lstStyle/>
                    <a:p>
                      <a:pPr fontAlgn="base" latinLnBrk="0">
                        <a:buNone/>
                      </a:pPr>
                      <a:r>
                        <a:rPr lang="en-US" sz="1200" dirty="0">
                          <a:effectLst/>
                        </a:rPr>
                        <a:t>Language model for answering questions ​</a:t>
                      </a:r>
                    </a:p>
                  </a:txBody>
                  <a:tcPr marL="76200" marR="76200" anchor="ctr"/>
                </a:tc>
                <a:extLst>
                  <a:ext uri="{0D108BD9-81ED-4DB2-BD59-A6C34878D82A}">
                    <a16:rowId xmlns:a16="http://schemas.microsoft.com/office/drawing/2014/main" val="3366232516"/>
                  </a:ext>
                </a:extLst>
              </a:tr>
              <a:tr h="0">
                <a:tc>
                  <a:txBody>
                    <a:bodyPr/>
                    <a:lstStyle/>
                    <a:p>
                      <a:pPr fontAlgn="base" latinLnBrk="0">
                        <a:buNone/>
                      </a:pPr>
                      <a:r>
                        <a:rPr lang="en-US" sz="1200">
                          <a:effectLst/>
                        </a:rPr>
                        <a:t>retriever=retriever</a:t>
                      </a:r>
                    </a:p>
                  </a:txBody>
                  <a:tcPr marL="76200" marR="76200" anchor="ctr"/>
                </a:tc>
                <a:tc>
                  <a:txBody>
                    <a:bodyPr/>
                    <a:lstStyle/>
                    <a:p>
                      <a:pPr fontAlgn="base" latinLnBrk="0">
                        <a:buNone/>
                      </a:pPr>
                      <a:r>
                        <a:rPr lang="en-US" sz="1200">
                          <a:effectLst/>
                        </a:rPr>
                        <a:t>Fetches relevant context documents ​</a:t>
                      </a:r>
                    </a:p>
                  </a:txBody>
                  <a:tcPr marL="76200" marR="76200" anchor="ctr"/>
                </a:tc>
                <a:extLst>
                  <a:ext uri="{0D108BD9-81ED-4DB2-BD59-A6C34878D82A}">
                    <a16:rowId xmlns:a16="http://schemas.microsoft.com/office/drawing/2014/main" val="3762621806"/>
                  </a:ext>
                </a:extLst>
              </a:tr>
              <a:tr h="0">
                <a:tc>
                  <a:txBody>
                    <a:bodyPr/>
                    <a:lstStyle/>
                    <a:p>
                      <a:pPr fontAlgn="base" latinLnBrk="0">
                        <a:buNone/>
                      </a:pPr>
                      <a:r>
                        <a:rPr lang="en-US" sz="1200">
                          <a:effectLst/>
                        </a:rPr>
                        <a:t>chain_type="stuff"</a:t>
                      </a:r>
                    </a:p>
                  </a:txBody>
                  <a:tcPr marL="76200" marR="76200" anchor="ctr"/>
                </a:tc>
                <a:tc>
                  <a:txBody>
                    <a:bodyPr/>
                    <a:lstStyle/>
                    <a:p>
                      <a:pPr fontAlgn="base" latinLnBrk="0">
                        <a:buNone/>
                      </a:pPr>
                      <a:r>
                        <a:rPr lang="en-US" sz="1200">
                          <a:effectLst/>
                        </a:rPr>
                        <a:t>Loads all context as one chunk for LLM</a:t>
                      </a:r>
                    </a:p>
                  </a:txBody>
                  <a:tcPr marL="76200" marR="76200" anchor="ctr"/>
                </a:tc>
                <a:extLst>
                  <a:ext uri="{0D108BD9-81ED-4DB2-BD59-A6C34878D82A}">
                    <a16:rowId xmlns:a16="http://schemas.microsoft.com/office/drawing/2014/main" val="3653239811"/>
                  </a:ext>
                </a:extLst>
              </a:tr>
              <a:tr h="0">
                <a:tc>
                  <a:txBody>
                    <a:bodyPr/>
                    <a:lstStyle/>
                    <a:p>
                      <a:pPr fontAlgn="base" latinLnBrk="0">
                        <a:buNone/>
                      </a:pPr>
                      <a:r>
                        <a:rPr lang="en-US" sz="1200">
                          <a:effectLst/>
                        </a:rPr>
                        <a:t>chain_type_kwargs</a:t>
                      </a:r>
                    </a:p>
                  </a:txBody>
                  <a:tcPr marL="76200" marR="76200" anchor="ctr"/>
                </a:tc>
                <a:tc>
                  <a:txBody>
                    <a:bodyPr/>
                    <a:lstStyle/>
                    <a:p>
                      <a:pPr fontAlgn="base" latinLnBrk="0">
                        <a:buNone/>
                      </a:pPr>
                      <a:r>
                        <a:rPr lang="en-US" sz="1200">
                          <a:effectLst/>
                        </a:rPr>
                        <a:t>Defines prompt used for LLM ​</a:t>
                      </a:r>
                    </a:p>
                  </a:txBody>
                  <a:tcPr marL="76200" marR="76200" anchor="ctr"/>
                </a:tc>
                <a:extLst>
                  <a:ext uri="{0D108BD9-81ED-4DB2-BD59-A6C34878D82A}">
                    <a16:rowId xmlns:a16="http://schemas.microsoft.com/office/drawing/2014/main" val="432355013"/>
                  </a:ext>
                </a:extLst>
              </a:tr>
              <a:tr h="0">
                <a:tc>
                  <a:txBody>
                    <a:bodyPr/>
                    <a:lstStyle/>
                    <a:p>
                      <a:pPr fontAlgn="base" latinLnBrk="0">
                        <a:buNone/>
                      </a:pPr>
                      <a:r>
                        <a:rPr lang="en-US" sz="1200">
                          <a:effectLst/>
                        </a:rPr>
                        <a:t>return_source_documents</a:t>
                      </a:r>
                    </a:p>
                  </a:txBody>
                  <a:tcPr marL="76200" marR="76200" anchor="ctr"/>
                </a:tc>
                <a:tc>
                  <a:txBody>
                    <a:bodyPr/>
                    <a:lstStyle/>
                    <a:p>
                      <a:pPr fontAlgn="base" latinLnBrk="0">
                        <a:buNone/>
                      </a:pPr>
                      <a:r>
                        <a:rPr lang="en-US" sz="1200" dirty="0">
                          <a:effectLst/>
                        </a:rPr>
                        <a:t>Returns answer + supporting source docs </a:t>
                      </a:r>
                    </a:p>
                  </a:txBody>
                  <a:tcPr marL="76200" marR="76200" anchor="ctr"/>
                </a:tc>
                <a:extLst>
                  <a:ext uri="{0D108BD9-81ED-4DB2-BD59-A6C34878D82A}">
                    <a16:rowId xmlns:a16="http://schemas.microsoft.com/office/drawing/2014/main" val="3496947293"/>
                  </a:ext>
                </a:extLst>
              </a:tr>
            </a:tbl>
          </a:graphicData>
        </a:graphic>
      </p:graphicFrame>
      <p:pic>
        <p:nvPicPr>
          <p:cNvPr id="16" name="Picture 15" descr="A computer code with text">
            <a:extLst>
              <a:ext uri="{FF2B5EF4-FFF2-40B4-BE49-F238E27FC236}">
                <a16:creationId xmlns:a16="http://schemas.microsoft.com/office/drawing/2014/main" id="{086A1B40-08E1-C2DD-DC09-F886699A4020}"/>
              </a:ext>
            </a:extLst>
          </p:cNvPr>
          <p:cNvPicPr>
            <a:picLocks noChangeAspect="1"/>
          </p:cNvPicPr>
          <p:nvPr/>
        </p:nvPicPr>
        <p:blipFill>
          <a:blip r:embed="rId4">
            <a:duotone>
              <a:prstClr val="black"/>
              <a:schemeClr val="bg1">
                <a:tint val="45000"/>
                <a:satMod val="400000"/>
              </a:schemeClr>
            </a:duotone>
            <a:extLst>
              <a:ext uri="{28A0092B-C50C-407E-A947-70E740481C1C}">
                <a14:useLocalDpi xmlns:a14="http://schemas.microsoft.com/office/drawing/2010/main" val="0"/>
              </a:ext>
            </a:extLst>
          </a:blip>
          <a:srcRect t="36123"/>
          <a:stretch>
            <a:fillRect/>
          </a:stretch>
        </p:blipFill>
        <p:spPr>
          <a:xfrm>
            <a:off x="339143" y="5000420"/>
            <a:ext cx="5068007" cy="1235297"/>
          </a:xfrm>
          <a:prstGeom prst="rect">
            <a:avLst/>
          </a:prstGeom>
        </p:spPr>
      </p:pic>
    </p:spTree>
    <p:extLst>
      <p:ext uri="{BB962C8B-B14F-4D97-AF65-F5344CB8AC3E}">
        <p14:creationId xmlns:p14="http://schemas.microsoft.com/office/powerpoint/2010/main" val="9316407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close-up of text&#10;&#10;AI-generated content may be incorrect.">
            <a:extLst>
              <a:ext uri="{FF2B5EF4-FFF2-40B4-BE49-F238E27FC236}">
                <a16:creationId xmlns:a16="http://schemas.microsoft.com/office/drawing/2014/main" id="{2B8275BF-E2EE-722C-98B0-0F3E03C723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91597"/>
            <a:ext cx="10229194" cy="2042597"/>
          </a:xfrm>
        </p:spPr>
      </p:pic>
      <p:sp>
        <p:nvSpPr>
          <p:cNvPr id="7" name="Title 6">
            <a:extLst>
              <a:ext uri="{FF2B5EF4-FFF2-40B4-BE49-F238E27FC236}">
                <a16:creationId xmlns:a16="http://schemas.microsoft.com/office/drawing/2014/main" id="{82AE7E76-A0B9-4D6D-5BAD-340BBE105F47}"/>
              </a:ext>
            </a:extLst>
          </p:cNvPr>
          <p:cNvSpPr>
            <a:spLocks noGrp="1"/>
          </p:cNvSpPr>
          <p:nvPr>
            <p:ph type="title"/>
          </p:nvPr>
        </p:nvSpPr>
        <p:spPr/>
        <p:txBody>
          <a:bodyPr/>
          <a:lstStyle/>
          <a:p>
            <a:r>
              <a:rPr lang="en-US" dirty="0">
                <a:solidFill>
                  <a:srgbClr val="FB4E0B"/>
                </a:solidFill>
              </a:rPr>
              <a:t>Run the pipeline:</a:t>
            </a:r>
            <a:br>
              <a:rPr lang="en-US" dirty="0">
                <a:solidFill>
                  <a:srgbClr val="FB4E0B"/>
                </a:solidFill>
              </a:rPr>
            </a:br>
            <a:endParaRPr lang="en-US" dirty="0">
              <a:solidFill>
                <a:srgbClr val="FB4E0B"/>
              </a:solidFill>
            </a:endParaRPr>
          </a:p>
        </p:txBody>
      </p:sp>
      <p:sp>
        <p:nvSpPr>
          <p:cNvPr id="11" name="TextBox 10">
            <a:extLst>
              <a:ext uri="{FF2B5EF4-FFF2-40B4-BE49-F238E27FC236}">
                <a16:creationId xmlns:a16="http://schemas.microsoft.com/office/drawing/2014/main" id="{4D2BF637-1522-F982-97FA-B41E0C6D4ED6}"/>
              </a:ext>
            </a:extLst>
          </p:cNvPr>
          <p:cNvSpPr txBox="1"/>
          <p:nvPr/>
        </p:nvSpPr>
        <p:spPr>
          <a:xfrm>
            <a:off x="1012935" y="3265814"/>
            <a:ext cx="7973410" cy="326371"/>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5. Validating and Testing Your Pipeline - Functional Tests:</a:t>
            </a:r>
          </a:p>
        </p:txBody>
      </p:sp>
      <p:pic>
        <p:nvPicPr>
          <p:cNvPr id="6146" name="Picture 2">
            <a:extLst>
              <a:ext uri="{FF2B5EF4-FFF2-40B4-BE49-F238E27FC236}">
                <a16:creationId xmlns:a16="http://schemas.microsoft.com/office/drawing/2014/main" id="{8705D411-A517-2B01-FE6E-45291C15F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935" y="3860666"/>
            <a:ext cx="666750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4908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EF1D6D-F12B-C1D1-13BB-649B1D9897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A9F22B-663A-75F8-AD10-8EB144EF766F}"/>
              </a:ext>
            </a:extLst>
          </p:cNvPr>
          <p:cNvSpPr>
            <a:spLocks noGrp="1"/>
          </p:cNvSpPr>
          <p:nvPr>
            <p:ph idx="1"/>
          </p:nvPr>
        </p:nvSpPr>
        <p:spPr>
          <a:xfrm>
            <a:off x="350033" y="156633"/>
            <a:ext cx="10515600" cy="4557257"/>
          </a:xfrm>
        </p:spPr>
        <p:txBody>
          <a:bodyPr>
            <a:normAutofit/>
          </a:bodyPr>
          <a:lstStyle/>
          <a:p>
            <a:pPr marL="0" indent="0">
              <a:buNone/>
            </a:pPr>
            <a:r>
              <a:rPr lang="en-US" sz="1600" b="1" dirty="0">
                <a:latin typeface="+mj-lt"/>
              </a:rPr>
              <a:t>6. Real-World Use Case: Insurance Copilot</a:t>
            </a:r>
          </a:p>
          <a:p>
            <a:pPr marL="0" indent="0">
              <a:buNone/>
            </a:pPr>
            <a:r>
              <a:rPr lang="en-US" sz="1600" b="1" dirty="0">
                <a:latin typeface="+mj-lt"/>
              </a:rPr>
              <a:t>Scenario</a:t>
            </a:r>
            <a:r>
              <a:rPr lang="en-US" sz="1600" dirty="0">
                <a:latin typeface="+mj-lt"/>
              </a:rPr>
              <a:t>: You’re building a GenAI-powered assistant for customer service agents to answer complex policy questions.</a:t>
            </a:r>
          </a:p>
          <a:p>
            <a:pPr marL="0" indent="0">
              <a:buNone/>
            </a:pPr>
            <a:r>
              <a:rPr lang="en-US" sz="1600" b="1" dirty="0">
                <a:latin typeface="+mj-lt"/>
              </a:rPr>
              <a:t>Data</a:t>
            </a:r>
            <a:r>
              <a:rPr lang="en-US" sz="1600" dirty="0">
                <a:latin typeface="+mj-lt"/>
              </a:rPr>
              <a:t>: 300 insurance policy documents, chunked and indexed in vector search.</a:t>
            </a:r>
          </a:p>
          <a:p>
            <a:pPr marL="0" indent="0">
              <a:buNone/>
            </a:pPr>
            <a:r>
              <a:rPr lang="en-US" sz="1600" b="1" dirty="0">
                <a:latin typeface="+mj-lt"/>
              </a:rPr>
              <a:t>Goal</a:t>
            </a:r>
            <a:r>
              <a:rPr lang="en-US" sz="1600" dirty="0">
                <a:latin typeface="+mj-lt"/>
              </a:rPr>
              <a:t>: Answer queries such as:</a:t>
            </a:r>
          </a:p>
          <a:p>
            <a:r>
              <a:rPr lang="en-US" sz="1600" dirty="0">
                <a:latin typeface="+mj-lt"/>
              </a:rPr>
              <a:t>“Does this policy cover maternity leave?”</a:t>
            </a:r>
          </a:p>
          <a:p>
            <a:r>
              <a:rPr lang="en-US" sz="1600" dirty="0">
                <a:latin typeface="+mj-lt"/>
              </a:rPr>
              <a:t>“What is the waiting period for cancer treatment coverage?”</a:t>
            </a:r>
          </a:p>
          <a:p>
            <a:pPr marL="0" indent="0">
              <a:buNone/>
            </a:pPr>
            <a:r>
              <a:rPr lang="en-US" sz="1600" b="1" dirty="0">
                <a:latin typeface="+mj-lt"/>
              </a:rPr>
              <a:t>Solution</a:t>
            </a:r>
            <a:r>
              <a:rPr lang="en-US" sz="1600" dirty="0">
                <a:latin typeface="+mj-lt"/>
              </a:rPr>
              <a:t>:</a:t>
            </a:r>
          </a:p>
          <a:p>
            <a:r>
              <a:rPr lang="en-US" sz="1600" dirty="0">
                <a:latin typeface="+mj-lt"/>
              </a:rPr>
              <a:t>Chunks are retrieved with Mosaic AI Vector Search</a:t>
            </a:r>
          </a:p>
          <a:p>
            <a:r>
              <a:rPr lang="en-US" sz="1600" dirty="0">
                <a:latin typeface="+mj-lt"/>
              </a:rPr>
              <a:t>Prompt is crafted to ensure tone and factual constraints</a:t>
            </a:r>
          </a:p>
          <a:p>
            <a:r>
              <a:rPr lang="en-US" sz="1600" dirty="0">
                <a:latin typeface="+mj-lt"/>
              </a:rPr>
              <a:t>Chat Databricks provides real-time answers within &lt;2 seconds</a:t>
            </a:r>
          </a:p>
          <a:p>
            <a:pPr marL="0" indent="0">
              <a:buNone/>
            </a:pPr>
            <a:r>
              <a:rPr lang="en-US" sz="1600" b="1" dirty="0">
                <a:latin typeface="+mj-lt"/>
              </a:rPr>
              <a:t>Outcome</a:t>
            </a:r>
            <a:r>
              <a:rPr lang="en-US" sz="1600" dirty="0">
                <a:latin typeface="+mj-lt"/>
              </a:rPr>
              <a:t>: Reduced handling time by 35%, improved first-call resolution accuracy.</a:t>
            </a:r>
          </a:p>
          <a:p>
            <a:endParaRPr lang="en-US" sz="1600" dirty="0">
              <a:latin typeface="+mj-lt"/>
            </a:endParaRPr>
          </a:p>
        </p:txBody>
      </p:sp>
      <p:sp>
        <p:nvSpPr>
          <p:cNvPr id="8" name="TextBox 7">
            <a:extLst>
              <a:ext uri="{FF2B5EF4-FFF2-40B4-BE49-F238E27FC236}">
                <a16:creationId xmlns:a16="http://schemas.microsoft.com/office/drawing/2014/main" id="{FD3EEC39-384D-5226-D6B0-01E875E1F7A8}"/>
              </a:ext>
            </a:extLst>
          </p:cNvPr>
          <p:cNvSpPr txBox="1"/>
          <p:nvPr/>
        </p:nvSpPr>
        <p:spPr>
          <a:xfrm>
            <a:off x="555734" y="5054269"/>
            <a:ext cx="6093372" cy="326371"/>
          </a:xfrm>
          <a:prstGeom prst="rect">
            <a:avLst/>
          </a:prstGeom>
          <a:noFill/>
        </p:spPr>
        <p:txBody>
          <a:bodyPr wrap="square">
            <a:spAutoFit/>
          </a:bodyPr>
          <a:lstStyle/>
          <a:p>
            <a:pPr algn="l">
              <a:lnSpc>
                <a:spcPts val="1800"/>
              </a:lnSpc>
              <a:buNone/>
            </a:pPr>
            <a:r>
              <a:rPr lang="en-US" sz="1600" b="1" i="0" dirty="0">
                <a:solidFill>
                  <a:srgbClr val="242424"/>
                </a:solidFill>
                <a:effectLst/>
                <a:latin typeface="+mj-lt"/>
              </a:rPr>
              <a:t>7. Governance and Observability</a:t>
            </a:r>
          </a:p>
        </p:txBody>
      </p:sp>
      <p:pic>
        <p:nvPicPr>
          <p:cNvPr id="7170" name="Picture 2">
            <a:extLst>
              <a:ext uri="{FF2B5EF4-FFF2-40B4-BE49-F238E27FC236}">
                <a16:creationId xmlns:a16="http://schemas.microsoft.com/office/drawing/2014/main" id="{B01C1272-893D-5C04-D403-DA818204CF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133" y="4218590"/>
            <a:ext cx="6667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0710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41FD-7F2D-A508-2784-0B61AC9C98F4}"/>
              </a:ext>
            </a:extLst>
          </p:cNvPr>
          <p:cNvSpPr>
            <a:spLocks noGrp="1"/>
          </p:cNvSpPr>
          <p:nvPr>
            <p:ph type="title"/>
          </p:nvPr>
        </p:nvSpPr>
        <p:spPr/>
        <p:txBody>
          <a:bodyPr/>
          <a:lstStyle/>
          <a:p>
            <a:r>
              <a:rPr lang="en-US" dirty="0">
                <a:solidFill>
                  <a:srgbClr val="FB4E0B"/>
                </a:solidFill>
              </a:rPr>
              <a:t>Summary</a:t>
            </a:r>
            <a:br>
              <a:rPr lang="en-US" dirty="0">
                <a:solidFill>
                  <a:srgbClr val="FB4E0B"/>
                </a:solidFill>
              </a:rPr>
            </a:br>
            <a:endParaRPr lang="en-US" dirty="0">
              <a:solidFill>
                <a:srgbClr val="FB4E0B"/>
              </a:solidFill>
            </a:endParaRPr>
          </a:p>
        </p:txBody>
      </p:sp>
      <p:pic>
        <p:nvPicPr>
          <p:cNvPr id="8194" name="Picture 2">
            <a:extLst>
              <a:ext uri="{FF2B5EF4-FFF2-40B4-BE49-F238E27FC236}">
                <a16:creationId xmlns:a16="http://schemas.microsoft.com/office/drawing/2014/main" id="{33C94664-80B7-C07A-9D2E-35FE5039D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07" y="1314778"/>
            <a:ext cx="7725241" cy="3730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5044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5DA3FA17-9B02-0270-BA8A-ECCA3A590A8C}"/>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03F6BF48-F3A1-545E-7FAF-3E4D61D8A9AC}"/>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F43B8188-99D3-DB77-BBB7-D6BBB04ECF8F}"/>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2F5DA0B4-20B9-E4D0-B8CC-0F4BD691879E}"/>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688E6D28-CC9E-5BBC-D7F8-4FB70D396F8D}"/>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BFC94465-772B-E86C-8645-5180A35AA7C2}"/>
              </a:ext>
            </a:extLst>
          </p:cNvPr>
          <p:cNvSpPr/>
          <p:nvPr/>
        </p:nvSpPr>
        <p:spPr>
          <a:xfrm>
            <a:off x="4897275" y="2791048"/>
            <a:ext cx="6745375" cy="1200329"/>
          </a:xfrm>
          <a:prstGeom prst="rect">
            <a:avLst/>
          </a:prstGeom>
        </p:spPr>
        <p:txBody>
          <a:bodyPr wrap="square">
            <a:spAutoFit/>
          </a:bodyPr>
          <a:lstStyle/>
          <a:p>
            <a:pPr lvl="0" defTabSz="457166">
              <a:defRPr/>
            </a:pPr>
            <a:r>
              <a:rPr lang="en-US" sz="3600" dirty="0">
                <a:solidFill>
                  <a:srgbClr val="FFFFFF"/>
                </a:solidFill>
              </a:rPr>
              <a:t>Section 4: Assembling and Deploying Applications</a:t>
            </a:r>
          </a:p>
        </p:txBody>
      </p:sp>
    </p:spTree>
    <p:extLst>
      <p:ext uri="{BB962C8B-B14F-4D97-AF65-F5344CB8AC3E}">
        <p14:creationId xmlns:p14="http://schemas.microsoft.com/office/powerpoint/2010/main" val="12626860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2EBA9-CF5B-9804-0279-5F12FDF24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C7C2A9-CDFD-7C8B-66FD-C23C22013FDF}"/>
              </a:ext>
            </a:extLst>
          </p:cNvPr>
          <p:cNvSpPr txBox="1"/>
          <p:nvPr/>
        </p:nvSpPr>
        <p:spPr>
          <a:xfrm>
            <a:off x="783770" y="328331"/>
            <a:ext cx="7979229" cy="1343638"/>
          </a:xfrm>
          <a:prstGeom prst="rect">
            <a:avLst/>
          </a:prstGeom>
          <a:noFill/>
        </p:spPr>
        <p:txBody>
          <a:bodyPr wrap="square">
            <a:spAutoFit/>
          </a:bodyPr>
          <a:lstStyle/>
          <a:p>
            <a:pPr>
              <a:lnSpc>
                <a:spcPct val="115000"/>
              </a:lnSpc>
              <a:spcAft>
                <a:spcPts val="800"/>
              </a:spcAft>
              <a:buNone/>
            </a:pPr>
            <a:r>
              <a:rPr lang="en-IN" sz="2400" b="1" kern="100" dirty="0">
                <a:solidFill>
                  <a:srgbClr val="FB4E0B"/>
                </a:solidFill>
                <a:effectLst/>
                <a:latin typeface="Aptos Display" panose="020B0004020202020204" pitchFamily="34" charset="0"/>
                <a:ea typeface="Aptos" panose="020B0004020202020204" pitchFamily="34" charset="0"/>
                <a:cs typeface="Times New Roman" panose="02020603050405020304" pitchFamily="18" charset="0"/>
              </a:rPr>
              <a:t>Section 4: Assembling and Deploying Applications</a:t>
            </a:r>
            <a:endParaRPr lang="en-IN" sz="2400" kern="100" dirty="0">
              <a:solidFill>
                <a:srgbClr val="FB4E0B"/>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System Lifecycle:</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Press enter or click to view image in full size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D641574-530F-E6AF-C381-76A45588AFF0}"/>
              </a:ext>
            </a:extLst>
          </p:cNvPr>
          <p:cNvPicPr>
            <a:picLocks noChangeAspect="1"/>
          </p:cNvPicPr>
          <p:nvPr/>
        </p:nvPicPr>
        <p:blipFill>
          <a:blip r:embed="rId2"/>
          <a:stretch>
            <a:fillRect/>
          </a:stretch>
        </p:blipFill>
        <p:spPr>
          <a:xfrm>
            <a:off x="783770" y="1671969"/>
            <a:ext cx="10156373" cy="4700024"/>
          </a:xfrm>
          <a:prstGeom prst="rect">
            <a:avLst/>
          </a:prstGeom>
        </p:spPr>
      </p:pic>
      <p:sp>
        <p:nvSpPr>
          <p:cNvPr id="5" name="TextBox 4">
            <a:extLst>
              <a:ext uri="{FF2B5EF4-FFF2-40B4-BE49-F238E27FC236}">
                <a16:creationId xmlns:a16="http://schemas.microsoft.com/office/drawing/2014/main" id="{7EF12675-6514-79DA-25B7-085BC14C0FB4}"/>
              </a:ext>
            </a:extLst>
          </p:cNvPr>
          <p:cNvSpPr txBox="1"/>
          <p:nvPr/>
        </p:nvSpPr>
        <p:spPr>
          <a:xfrm>
            <a:off x="3046686" y="2551837"/>
            <a:ext cx="6093372" cy="1754326"/>
          </a:xfrm>
          <a:prstGeom prst="rect">
            <a:avLst/>
          </a:prstGeom>
          <a:noFill/>
        </p:spPr>
        <p:txBody>
          <a:bodyPr wrap="square">
            <a:spAutoFit/>
          </a:bodyPr>
          <a:lstStyle/>
          <a:p>
            <a:r>
              <a:rPr lang="en-US" sz="1800" b="0" i="0" u="none" strike="noStrike" baseline="0" dirty="0">
                <a:solidFill>
                  <a:srgbClr val="000000"/>
                </a:solidFill>
                <a:latin typeface="Calibri" panose="020F0502020204030204" pitchFamily="34" charset="0"/>
              </a:rPr>
              <a:t>Band-wise Eligibility	Duration (In hours)	 Date	 Start Time (IST)	 End Time (IST)	Nomination Form	</a:t>
            </a:r>
          </a:p>
          <a:p>
            <a:r>
              <a:rPr lang="en-US" sz="1800" b="0" i="0" u="none" strike="noStrike" baseline="0" dirty="0">
                <a:solidFill>
                  <a:srgbClr val="000000"/>
                </a:solidFill>
                <a:latin typeface="Calibri" panose="020F0502020204030204" pitchFamily="34" charset="0"/>
              </a:rPr>
              <a:t>Band A and B	3 hrs.	11-Nov-25	3:00:00 PM	7:00:00 PM	</a:t>
            </a:r>
            <a:r>
              <a:rPr lang="en-US" sz="1200" b="0" i="0" u="sng" strike="noStrike" baseline="0" dirty="0">
                <a:solidFill>
                  <a:srgbClr val="0000FF"/>
                </a:solidFill>
                <a:latin typeface="Calibri" panose="020F0502020204030204" pitchFamily="34" charset="0"/>
                <a:hlinkClick r:id="rId3"/>
              </a:rPr>
              <a:t>https://forms.office.com/r/GBfkWAG69p</a:t>
            </a:r>
            <a:r>
              <a:rPr lang="en-US" sz="1800" b="0" i="0" u="none" strike="noStrike" baseline="0" dirty="0">
                <a:solidFill>
                  <a:srgbClr val="000000"/>
                </a:solidFill>
                <a:latin typeface="Calibri" panose="020F0502020204030204" pitchFamily="34" charset="0"/>
                <a:hlinkClick r:id="rId3"/>
              </a:rPr>
              <a:t>	</a:t>
            </a:r>
          </a:p>
          <a:p>
            <a:r>
              <a:rPr lang="en-US" sz="1800" b="0" i="0" u="none" strike="noStrike" baseline="0" dirty="0">
                <a:solidFill>
                  <a:srgbClr val="000000"/>
                </a:solidFill>
                <a:latin typeface="Calibri" panose="020F0502020204030204" pitchFamily="34" charset="0"/>
              </a:rPr>
              <a:t>Band A and B	3 hrs.	13-Nov-25	3:00:00 PM	7:00:00 PM		</a:t>
            </a:r>
          </a:p>
        </p:txBody>
      </p:sp>
    </p:spTree>
    <p:extLst>
      <p:ext uri="{BB962C8B-B14F-4D97-AF65-F5344CB8AC3E}">
        <p14:creationId xmlns:p14="http://schemas.microsoft.com/office/powerpoint/2010/main" val="3825459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3A28-D902-5CB5-6EFE-5708680794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35939A-F5B2-8FBA-B23B-4DE4ADA64642}"/>
              </a:ext>
            </a:extLst>
          </p:cNvPr>
          <p:cNvSpPr txBox="1"/>
          <p:nvPr/>
        </p:nvSpPr>
        <p:spPr>
          <a:xfrm>
            <a:off x="277586" y="497195"/>
            <a:ext cx="11636828" cy="5153783"/>
          </a:xfrm>
          <a:prstGeom prst="rect">
            <a:avLst/>
          </a:prstGeom>
          <a:noFill/>
        </p:spPr>
        <p:txBody>
          <a:bodyPr wrap="square">
            <a:spAutoFit/>
          </a:bodyPr>
          <a:lstStyle/>
          <a:p>
            <a:pPr>
              <a:lnSpc>
                <a:spcPct val="115000"/>
              </a:lnSpc>
              <a:spcAft>
                <a:spcPts val="800"/>
              </a:spcAft>
              <a:buNone/>
            </a:pPr>
            <a:r>
              <a:rPr lang="en-IN" sz="2400" b="1" kern="100" dirty="0">
                <a:effectLst/>
                <a:latin typeface="+mj-lt"/>
                <a:ea typeface="Aptos" panose="020B0004020202020204" pitchFamily="34" charset="0"/>
                <a:cs typeface="Times New Roman" panose="02020603050405020304" pitchFamily="18" charset="0"/>
              </a:rPr>
              <a:t>Key Points:</a:t>
            </a:r>
            <a:endParaRPr lang="en-IN" sz="2400" kern="100" dirty="0">
              <a:effectLst/>
              <a:latin typeface="+mj-lt"/>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err="1">
                <a:effectLst/>
                <a:latin typeface="+mj-lt"/>
                <a:ea typeface="Aptos" panose="020B0004020202020204" pitchFamily="34" charset="0"/>
                <a:cs typeface="Times New Roman" panose="02020603050405020304" pitchFamily="18" charset="0"/>
              </a:rPr>
              <a:t>Pyfunc</a:t>
            </a:r>
            <a:r>
              <a:rPr lang="en-IN" sz="2400" b="1" kern="100" dirty="0">
                <a:effectLst/>
                <a:latin typeface="+mj-lt"/>
                <a:ea typeface="Aptos" panose="020B0004020202020204" pitchFamily="34" charset="0"/>
                <a:cs typeface="Times New Roman" panose="02020603050405020304" pitchFamily="18" charset="0"/>
              </a:rPr>
              <a:t> Model</a:t>
            </a:r>
            <a:r>
              <a:rPr lang="en-IN" sz="2400" kern="100" dirty="0">
                <a:effectLst/>
                <a:latin typeface="+mj-lt"/>
                <a:ea typeface="Aptos" panose="020B0004020202020204" pitchFamily="34" charset="0"/>
                <a:cs typeface="Times New Roman" panose="02020603050405020304" pitchFamily="18" charset="0"/>
              </a:rPr>
              <a:t>: </a:t>
            </a:r>
            <a:r>
              <a:rPr lang="en-IN" sz="2400" kern="100" dirty="0" err="1">
                <a:effectLst/>
                <a:latin typeface="+mj-lt"/>
                <a:ea typeface="Aptos" panose="020B0004020202020204" pitchFamily="34" charset="0"/>
                <a:cs typeface="Times New Roman" panose="02020603050405020304" pitchFamily="18" charset="0"/>
              </a:rPr>
              <a:t>MLflow’s</a:t>
            </a:r>
            <a:r>
              <a:rPr lang="en-IN" sz="2400" kern="100" dirty="0">
                <a:effectLst/>
                <a:latin typeface="+mj-lt"/>
                <a:ea typeface="Aptos" panose="020B0004020202020204" pitchFamily="34" charset="0"/>
                <a:cs typeface="Times New Roman" panose="02020603050405020304" pitchFamily="18" charset="0"/>
              </a:rPr>
              <a:t> </a:t>
            </a:r>
            <a:r>
              <a:rPr lang="en-IN" sz="2400" kern="100" dirty="0" err="1">
                <a:effectLst/>
                <a:latin typeface="+mj-lt"/>
                <a:ea typeface="Aptos" panose="020B0004020202020204" pitchFamily="34" charset="0"/>
                <a:cs typeface="Times New Roman" panose="02020603050405020304" pitchFamily="18" charset="0"/>
              </a:rPr>
              <a:t>pyfunc</a:t>
            </a:r>
            <a:r>
              <a:rPr lang="en-IN" sz="2400" kern="100" dirty="0">
                <a:effectLst/>
                <a:latin typeface="+mj-lt"/>
                <a:ea typeface="Aptos" panose="020B0004020202020204" pitchFamily="34" charset="0"/>
                <a:cs typeface="Times New Roman" panose="02020603050405020304" pitchFamily="18" charset="0"/>
              </a:rPr>
              <a:t> </a:t>
            </a:r>
            <a:r>
              <a:rPr lang="en-IN" sz="2400" kern="100" dirty="0" err="1">
                <a:effectLst/>
                <a:latin typeface="+mj-lt"/>
                <a:ea typeface="Aptos" panose="020B0004020202020204" pitchFamily="34" charset="0"/>
                <a:cs typeface="Times New Roman" panose="02020603050405020304" pitchFamily="18" charset="0"/>
              </a:rPr>
              <a:t>flavor</a:t>
            </a:r>
            <a:r>
              <a:rPr lang="en-IN" sz="2400" kern="100" dirty="0">
                <a:effectLst/>
                <a:latin typeface="+mj-lt"/>
                <a:ea typeface="Aptos" panose="020B0004020202020204" pitchFamily="34" charset="0"/>
                <a:cs typeface="Times New Roman" panose="02020603050405020304" pitchFamily="18" charset="0"/>
              </a:rPr>
              <a:t> is a versatile model interface for </a:t>
            </a:r>
            <a:r>
              <a:rPr lang="en-IN" sz="2400" kern="100" dirty="0" err="1">
                <a:effectLst/>
                <a:latin typeface="+mj-lt"/>
                <a:ea typeface="Aptos" panose="020B0004020202020204" pitchFamily="34" charset="0"/>
                <a:cs typeface="Times New Roman" panose="02020603050405020304" pitchFamily="18" charset="0"/>
              </a:rPr>
              <a:t>MLflow</a:t>
            </a:r>
            <a:r>
              <a:rPr lang="en-IN" sz="2400" kern="100" dirty="0">
                <a:effectLst/>
                <a:latin typeface="+mj-lt"/>
                <a:ea typeface="Aptos" panose="020B0004020202020204" pitchFamily="34" charset="0"/>
                <a:cs typeface="Times New Roman" panose="02020603050405020304" pitchFamily="18" charset="0"/>
              </a:rPr>
              <a:t> Python models. It allows models to be loaded as </a:t>
            </a:r>
            <a:r>
              <a:rPr lang="en-IN" sz="2400" kern="100" dirty="0">
                <a:effectLst/>
                <a:highlight>
                  <a:srgbClr val="FFFF00"/>
                </a:highlight>
                <a:latin typeface="+mj-lt"/>
                <a:ea typeface="Aptos" panose="020B0004020202020204" pitchFamily="34" charset="0"/>
                <a:cs typeface="Times New Roman" panose="02020603050405020304" pitchFamily="18" charset="0"/>
              </a:rPr>
              <a:t>Python functions for deployment</a:t>
            </a:r>
            <a:r>
              <a:rPr lang="en-IN" sz="2400" kern="100" dirty="0">
                <a:effectLst/>
                <a:latin typeface="+mj-lt"/>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n-IN" sz="2400" b="1" kern="100" dirty="0">
                <a:effectLst/>
                <a:latin typeface="+mj-lt"/>
                <a:ea typeface="Aptos" panose="020B0004020202020204" pitchFamily="34" charset="0"/>
                <a:cs typeface="Times New Roman" panose="02020603050405020304" pitchFamily="18" charset="0"/>
              </a:rPr>
              <a:t>Pre- and Post-Processing</a:t>
            </a:r>
            <a:r>
              <a:rPr lang="en-IN" sz="2400" kern="100" dirty="0">
                <a:effectLst/>
                <a:latin typeface="+mj-lt"/>
                <a:ea typeface="Aptos" panose="020B0004020202020204" pitchFamily="34" charset="0"/>
                <a:cs typeface="Times New Roman" panose="02020603050405020304" pitchFamily="18" charset="0"/>
              </a:rPr>
              <a:t>: These are critical for preparing input </a:t>
            </a:r>
            <a:r>
              <a:rPr lang="en-IN" sz="2400" kern="100" dirty="0">
                <a:effectLst/>
                <a:highlight>
                  <a:srgbClr val="FFFF00"/>
                </a:highlight>
                <a:latin typeface="+mj-lt"/>
                <a:ea typeface="Aptos" panose="020B0004020202020204" pitchFamily="34" charset="0"/>
                <a:cs typeface="Times New Roman" panose="02020603050405020304" pitchFamily="18" charset="0"/>
              </a:rPr>
              <a:t>data before it is fed into the model (pre-processing)</a:t>
            </a:r>
            <a:r>
              <a:rPr lang="en-IN" sz="2400" kern="100" dirty="0">
                <a:effectLst/>
                <a:latin typeface="+mj-lt"/>
                <a:ea typeface="Aptos" panose="020B0004020202020204" pitchFamily="34" charset="0"/>
                <a:cs typeface="Times New Roman" panose="02020603050405020304" pitchFamily="18" charset="0"/>
              </a:rPr>
              <a:t> and for </a:t>
            </a:r>
            <a:r>
              <a:rPr lang="en-IN" sz="2400" kern="100" dirty="0">
                <a:effectLst/>
                <a:highlight>
                  <a:srgbClr val="FFFF00"/>
                </a:highlight>
                <a:latin typeface="+mj-lt"/>
                <a:ea typeface="Aptos" panose="020B0004020202020204" pitchFamily="34" charset="0"/>
                <a:cs typeface="Times New Roman" panose="02020603050405020304" pitchFamily="18" charset="0"/>
              </a:rPr>
              <a:t>handling the model’s output </a:t>
            </a:r>
            <a:r>
              <a:rPr lang="en-IN" sz="2400" kern="100" dirty="0">
                <a:effectLst/>
                <a:latin typeface="+mj-lt"/>
                <a:ea typeface="Aptos" panose="020B0004020202020204" pitchFamily="34" charset="0"/>
                <a:cs typeface="Times New Roman" panose="02020603050405020304" pitchFamily="18" charset="0"/>
              </a:rPr>
              <a:t>before it is presented to the end-user or downstream applications (</a:t>
            </a:r>
            <a:r>
              <a:rPr lang="en-IN" sz="2400" kern="100" dirty="0">
                <a:effectLst/>
                <a:highlight>
                  <a:srgbClr val="FFFF00"/>
                </a:highlight>
                <a:latin typeface="+mj-lt"/>
                <a:ea typeface="Aptos" panose="020B0004020202020204" pitchFamily="34" charset="0"/>
                <a:cs typeface="Times New Roman" panose="02020603050405020304" pitchFamily="18" charset="0"/>
              </a:rPr>
              <a:t>post-processing</a:t>
            </a:r>
            <a:r>
              <a:rPr lang="en-IN" sz="2400" kern="100" dirty="0">
                <a:effectLst/>
                <a:latin typeface="+mj-lt"/>
                <a:ea typeface="Aptos" panose="020B0004020202020204" pitchFamily="34" charset="0"/>
                <a:cs typeface="Times New Roman" panose="02020603050405020304" pitchFamily="18" charset="0"/>
              </a:rPr>
              <a:t>). Techniques can include data normalization, feature extraction, and output formatting.</a:t>
            </a:r>
          </a:p>
          <a:p>
            <a:pPr marL="342900" indent="-342900">
              <a:lnSpc>
                <a:spcPct val="115000"/>
              </a:lnSpc>
              <a:spcAft>
                <a:spcPts val="800"/>
              </a:spcAft>
              <a:buSzPts val="1000"/>
              <a:buFont typeface="Symbol" panose="05050102010706020507" pitchFamily="18" charset="2"/>
              <a:buChar char=""/>
              <a:tabLst>
                <a:tab pos="457200" algn="l"/>
              </a:tabLst>
            </a:pPr>
            <a:r>
              <a:rPr lang="en-IN" sz="2400" b="1" kern="100" dirty="0">
                <a:latin typeface="+mj-lt"/>
                <a:ea typeface="Aptos" panose="020B0004020202020204" pitchFamily="34" charset="0"/>
                <a:cs typeface="Times New Roman" panose="02020603050405020304" pitchFamily="18" charset="0"/>
              </a:rPr>
              <a:t>Implementation</a:t>
            </a:r>
            <a:r>
              <a:rPr lang="en-IN" sz="2400" kern="100" dirty="0">
                <a:latin typeface="+mj-lt"/>
                <a:ea typeface="Aptos" panose="020B0004020202020204" pitchFamily="34" charset="0"/>
                <a:cs typeface="Times New Roman" panose="02020603050405020304" pitchFamily="18" charset="0"/>
              </a:rPr>
              <a:t>: Utilize the </a:t>
            </a:r>
            <a:r>
              <a:rPr lang="en-IN" sz="2400" kern="100" dirty="0" err="1">
                <a:highlight>
                  <a:srgbClr val="FFFF00"/>
                </a:highlight>
                <a:latin typeface="+mj-lt"/>
                <a:ea typeface="Aptos" panose="020B0004020202020204" pitchFamily="34" charset="0"/>
                <a:cs typeface="Times New Roman" panose="02020603050405020304" pitchFamily="18" charset="0"/>
              </a:rPr>
              <a:t>mlflow.pyfunc</a:t>
            </a:r>
            <a:r>
              <a:rPr lang="en-IN" sz="2400" kern="100" dirty="0">
                <a:highlight>
                  <a:srgbClr val="FFFF00"/>
                </a:highlight>
                <a:latin typeface="+mj-lt"/>
                <a:ea typeface="Aptos" panose="020B0004020202020204" pitchFamily="34" charset="0"/>
                <a:cs typeface="Times New Roman" panose="02020603050405020304" pitchFamily="18" charset="0"/>
              </a:rPr>
              <a:t> to log, save, and load models </a:t>
            </a:r>
            <a:r>
              <a:rPr lang="en-IN" sz="2400" kern="100" dirty="0">
                <a:latin typeface="+mj-lt"/>
                <a:ea typeface="Aptos" panose="020B0004020202020204" pitchFamily="34" charset="0"/>
                <a:cs typeface="Times New Roman" panose="02020603050405020304" pitchFamily="18" charset="0"/>
              </a:rPr>
              <a:t>with necessary pre- and post-processing steps. This ensures the model can handle real-world data inputs and outputs effectively.</a:t>
            </a:r>
          </a:p>
          <a:p>
            <a:pPr lvl="0">
              <a:lnSpc>
                <a:spcPct val="115000"/>
              </a:lnSpc>
              <a:spcAft>
                <a:spcPts val="800"/>
              </a:spcAft>
              <a:buSzPts val="1000"/>
              <a:tabLst>
                <a:tab pos="457200" algn="l"/>
              </a:tabLst>
            </a:pPr>
            <a:endParaRPr lang="en-IN" sz="2400" kern="100" dirty="0">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639186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414A8F-9BD8-D16C-F97B-23BEF37E244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0F61DC3-F010-55BE-2787-0733B7CC3D4A}"/>
              </a:ext>
            </a:extLst>
          </p:cNvPr>
          <p:cNvSpPr txBox="1"/>
          <p:nvPr/>
        </p:nvSpPr>
        <p:spPr>
          <a:xfrm>
            <a:off x="277586" y="497195"/>
            <a:ext cx="11636828" cy="261424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27. Code a chain using a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pyfunc</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model with pre- and post-processing</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Pyfunc</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Model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pyfunc</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flavor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is a versatile model interface for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Python models. It allows models to be loaded as Python functions for deployment.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Pre- and Post-Processing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These are critical for preparing input data before it is fed into the model (pre-processing) and for handling the model’s output before it is presented to the end-user or downstream applications (post-processing). Techniques can include data normalization, feature extraction, and output formatting.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55C856-78A4-DCE6-8874-CE44A1943C86}"/>
              </a:ext>
            </a:extLst>
          </p:cNvPr>
          <p:cNvSpPr txBox="1"/>
          <p:nvPr/>
        </p:nvSpPr>
        <p:spPr>
          <a:xfrm>
            <a:off x="277586" y="3111437"/>
            <a:ext cx="10983686" cy="713722"/>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Implementation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Utilize the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mlflow.pyfunc</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 log, save, and load models with necessary pre- and post-processing steps. This ensures the model can handle real-world data inputs and outputs effectively.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282100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DDE9FD-D25E-ACF4-B1DA-0767650A0C3E}"/>
              </a:ext>
            </a:extLst>
          </p:cNvPr>
          <p:cNvSpPr txBox="1"/>
          <p:nvPr/>
        </p:nvSpPr>
        <p:spPr>
          <a:xfrm>
            <a:off x="411406" y="561954"/>
            <a:ext cx="10983686" cy="5357044"/>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28. Control access to resources from model serving endpoints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Access Control for endpoints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Databricks Features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Leverage Databricks’ built-in security features such as role-based access control (RBAC), Unity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data governance, and secure API endpoints to manage access to models and data securely.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Best Practices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Regularly review and update access permissions, monitor access logs for suspicious activities, and implement least privilege principles to minimize the risk of unauthorized access.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29. Code a simple chain according to requirements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Define the steps required for your application, configure each step with the necessary parameters and models, and use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 manage the execution flow. Ensure that each step performs the required transformations and passes data correctly to the next step.</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Chains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Chains are sequences of automated steps that process input data and generate output. They can be used to orchestrate complex workflows involving multiple models and data transformations.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35937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39079C-1CA7-0658-260D-92D44D37ED89}"/>
              </a:ext>
            </a:extLst>
          </p:cNvPr>
          <p:cNvSpPr txBox="1"/>
          <p:nvPr/>
        </p:nvSpPr>
        <p:spPr>
          <a:xfrm>
            <a:off x="446314" y="292465"/>
            <a:ext cx="10972800" cy="646331"/>
          </a:xfrm>
          <a:prstGeom prst="rect">
            <a:avLst/>
          </a:prstGeom>
          <a:noFill/>
        </p:spPr>
        <p:txBody>
          <a:bodyPr wrap="square">
            <a:spAutoFit/>
          </a:bodyPr>
          <a:lstStyle/>
          <a:p>
            <a:pPr marL="285750" indent="-285750">
              <a:buFont typeface="Arial" panose="020B0604020202020204" pitchFamily="34" charset="0"/>
              <a:buChar char="•"/>
            </a:pPr>
            <a:r>
              <a:rPr lang="en-IN" sz="1800" b="1"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A popular framework for building chains in generative AI applications. It allows developers to define and link multiple steps, including data retrieval, transformation, and model inference, in a structured manner.</a:t>
            </a:r>
            <a:endParaRPr lang="en-IN" dirty="0"/>
          </a:p>
        </p:txBody>
      </p:sp>
      <p:sp>
        <p:nvSpPr>
          <p:cNvPr id="5" name="TextBox 4">
            <a:extLst>
              <a:ext uri="{FF2B5EF4-FFF2-40B4-BE49-F238E27FC236}">
                <a16:creationId xmlns:a16="http://schemas.microsoft.com/office/drawing/2014/main" id="{C128DA1E-ACAD-0BFD-EAC2-EF72FDCBB693}"/>
              </a:ext>
            </a:extLst>
          </p:cNvPr>
          <p:cNvSpPr txBox="1"/>
          <p:nvPr/>
        </p:nvSpPr>
        <p:spPr>
          <a:xfrm>
            <a:off x="446314" y="938796"/>
            <a:ext cx="8556171" cy="5594545"/>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30. Code a simple chain using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langchain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from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langchain.chains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import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LLMChain</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from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langchain.prompts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import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PromptTemplate</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from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langchain.llms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import OpenAI</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Initialize the OpenAI LLM (Language Model)</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OpenAI(</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openai_api_key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your_openai_api_key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Define the prompt template</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prompt_template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PromptTemplate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input_variables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template="Summarize the following text: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Create the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LLMChain</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llm_chain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prompt=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prompt_template</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1049313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C8684B-FA71-776A-4C13-42CAADD3E4B6}"/>
              </a:ext>
            </a:extLst>
          </p:cNvPr>
          <p:cNvSpPr txBox="1"/>
          <p:nvPr/>
        </p:nvSpPr>
        <p:spPr>
          <a:xfrm>
            <a:off x="348344" y="433646"/>
            <a:ext cx="11168742" cy="5156283"/>
          </a:xfrm>
          <a:prstGeom prst="rect">
            <a:avLst/>
          </a:prstGeom>
          <a:noFill/>
        </p:spPr>
        <p:txBody>
          <a:bodyPr wrap="square">
            <a:spAutoFit/>
          </a:bodyPr>
          <a:lstStyle/>
          <a:p>
            <a:pPr>
              <a:lnSpc>
                <a:spcPct val="115000"/>
              </a:lnSpc>
              <a:spcAft>
                <a:spcPts val="800"/>
              </a:spcAft>
              <a:buNone/>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Example input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"Is it true? That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is a framework for building applications powered by language models. It allows developers to create advanced chains of prompts, use different language models, and deploy them efficiently."</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Run the chain with input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output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llm_chain.run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input_text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Display the output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print("Summary:", output)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Framework</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simplifies the creation of chains by providing a structured approach to link different components and steps in a generative AI pipeline.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Components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The main components of a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chain include prompts, models, retrievers, and tools. Each component can be customized and combined to create complex workflows.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Example Workflow</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A typical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LangChain</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workflow might involve retrieving relevant documents using a retriever, processing the text with a language model, and post-processing the output to generate the final response. This structured approach ensures that each step is well-defined and can be easily modified or extended.</a:t>
            </a:r>
            <a:endParaRPr lang="en-IN" dirty="0"/>
          </a:p>
        </p:txBody>
      </p:sp>
    </p:spTree>
    <p:extLst>
      <p:ext uri="{BB962C8B-B14F-4D97-AF65-F5344CB8AC3E}">
        <p14:creationId xmlns:p14="http://schemas.microsoft.com/office/powerpoint/2010/main" val="1847327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10683A-8651-A04B-0E57-066F9FB2D4A3}"/>
              </a:ext>
            </a:extLst>
          </p:cNvPr>
          <p:cNvSpPr txBox="1"/>
          <p:nvPr/>
        </p:nvSpPr>
        <p:spPr>
          <a:xfrm>
            <a:off x="337457" y="290680"/>
            <a:ext cx="11103429" cy="3563540"/>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31. Choose the basic elements needed to create a RAG application: model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flavor</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embedding model, retriever, dependencies, input examples, model signature</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Basic Elements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Key components of a Retrieval-Augmented Generation or RAG application like embedding model, retriever, vector store.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a:t>
            </a: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Flavor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Choose the appropriate model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flavor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based on the task. Common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flavors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include transformer models for text generation and embedding models for semantic search.</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Dependencies and Model Signature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Ensure all dependencies are listed and included in the deployment environment. The model signature defines the input and output formats, ensuring compatibility with downstream applications.</a:t>
            </a:r>
            <a:endParaRPr lang="en-IN" dirty="0"/>
          </a:p>
        </p:txBody>
      </p:sp>
      <p:sp>
        <p:nvSpPr>
          <p:cNvPr id="5" name="TextBox 4">
            <a:extLst>
              <a:ext uri="{FF2B5EF4-FFF2-40B4-BE49-F238E27FC236}">
                <a16:creationId xmlns:a16="http://schemas.microsoft.com/office/drawing/2014/main" id="{26A5A4B6-21EB-963C-CFFC-5C6C143673C1}"/>
              </a:ext>
            </a:extLst>
          </p:cNvPr>
          <p:cNvSpPr txBox="1"/>
          <p:nvPr/>
        </p:nvSpPr>
        <p:spPr>
          <a:xfrm>
            <a:off x="337457" y="3849365"/>
            <a:ext cx="8556172" cy="2463751"/>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32. Register the model to Unity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using </a:t>
            </a:r>
            <a:r>
              <a:rPr lang="en-IN" sz="1800" b="1" kern="100" dirty="0" err="1">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MLflow</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Catalog.schema.model_name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Register and Load Models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dirty="0">
                <a:effectLst/>
                <a:latin typeface="Aptos Display" panose="020B0004020202020204" pitchFamily="34" charset="0"/>
                <a:ea typeface="Aptos" panose="020B0004020202020204" pitchFamily="34" charset="0"/>
                <a:cs typeface="Times New Roman" panose="02020603050405020304" pitchFamily="18" charset="0"/>
              </a:rPr>
              <a:t>from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import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MlflowClient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Define model name in the Model Registry</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model_name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 f"{</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catalog_name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schema_name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}.summarizer"</a:t>
            </a:r>
            <a:endParaRPr lang="en-IN" dirty="0"/>
          </a:p>
        </p:txBody>
      </p:sp>
    </p:spTree>
    <p:extLst>
      <p:ext uri="{BB962C8B-B14F-4D97-AF65-F5344CB8AC3E}">
        <p14:creationId xmlns:p14="http://schemas.microsoft.com/office/powerpoint/2010/main" val="7910310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FD3F2C-9677-293A-6779-A0B7903312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5EA91E-8D60-09FA-0C85-E0998C9E9180}"/>
              </a:ext>
            </a:extLst>
          </p:cNvPr>
          <p:cNvSpPr txBox="1"/>
          <p:nvPr/>
        </p:nvSpPr>
        <p:spPr>
          <a:xfrm>
            <a:off x="522515" y="254948"/>
            <a:ext cx="6096000" cy="1754326"/>
          </a:xfrm>
          <a:prstGeom prst="rect">
            <a:avLst/>
          </a:prstGeom>
          <a:noFill/>
        </p:spPr>
        <p:txBody>
          <a:bodyPr wrap="square">
            <a:spAutoFit/>
          </a:bodyPr>
          <a:lstStyle/>
          <a:p>
            <a:pPr>
              <a:buNone/>
            </a:pPr>
            <a:r>
              <a:rPr lang="en-IN" sz="1800" dirty="0">
                <a:effectLst/>
                <a:latin typeface="Aptos Display" panose="020B0004020202020204" pitchFamily="34" charset="0"/>
                <a:ea typeface="Aptos" panose="020B0004020202020204" pitchFamily="34" charset="0"/>
                <a:cs typeface="Times New Roman" panose="02020603050405020304" pitchFamily="18" charset="0"/>
              </a:rPr>
              <a:t># Point to Unity-</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registry and log/push artifact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mlflow.set_registry_uri</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("registry-uc")</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mlflow.register_model</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model_uri</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model_uri</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name=</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model_name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endParaRPr lang="en-IN" dirty="0"/>
          </a:p>
        </p:txBody>
      </p:sp>
      <p:sp>
        <p:nvSpPr>
          <p:cNvPr id="5" name="TextBox 4">
            <a:extLst>
              <a:ext uri="{FF2B5EF4-FFF2-40B4-BE49-F238E27FC236}">
                <a16:creationId xmlns:a16="http://schemas.microsoft.com/office/drawing/2014/main" id="{88491F6F-CF51-8BCE-19D3-48A9CD84F702}"/>
              </a:ext>
            </a:extLst>
          </p:cNvPr>
          <p:cNvSpPr txBox="1"/>
          <p:nvPr/>
        </p:nvSpPr>
        <p:spPr>
          <a:xfrm>
            <a:off x="522515" y="1867756"/>
            <a:ext cx="7271656" cy="4929042"/>
          </a:xfrm>
          <a:prstGeom prst="rect">
            <a:avLst/>
          </a:prstGeom>
          <a:noFill/>
        </p:spPr>
        <p:txBody>
          <a:bodyPr wrap="square">
            <a:spAutoFit/>
          </a:bodyPr>
          <a:lstStyle/>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Sequence result — PANDAS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latest_model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mlflow.pyfunc.load_model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model_uri</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f"models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model_name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current_model_version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prod_data_sample_pdf</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prod_data_df.limit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(2).</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toPandas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b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summaries_sample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latest_model.predict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prod_data_sample_pdf</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["document"])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Parallelize it for speed using SPARK_UDF</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prod_model_udf</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mlflow.pyfunc.spark_udf</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spark,</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model_uri</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f"models</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model_name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}@champion",</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env_manager</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="local",</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result_type</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="string",</a:t>
            </a:r>
            <a:br>
              <a:rPr lang="en-IN" sz="1800" dirty="0">
                <a:effectLst/>
                <a:latin typeface="Aptos Display" panose="020B0004020202020204" pitchFamily="34" charset="0"/>
                <a:ea typeface="Aptos" panose="020B0004020202020204" pitchFamily="34" charset="0"/>
                <a:cs typeface="Times New Roman" panose="02020603050405020304" pitchFamily="18" charset="0"/>
              </a:rPr>
            </a:br>
            <a:r>
              <a:rPr lang="en-IN" sz="1800" dirty="0">
                <a:effectLst/>
                <a:latin typeface="Aptos Display" panose="020B0004020202020204" pitchFamily="34" charset="0"/>
                <a:ea typeface="Aptos" panose="020B000402020202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40407557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A6CC84-CA50-3E05-D68A-CB81554FA8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E474A5-3AD9-3709-97F7-62A966580E6D}"/>
              </a:ext>
            </a:extLst>
          </p:cNvPr>
          <p:cNvSpPr txBox="1"/>
          <p:nvPr/>
        </p:nvSpPr>
        <p:spPr>
          <a:xfrm>
            <a:off x="511628" y="225399"/>
            <a:ext cx="10842172" cy="790473"/>
          </a:xfrm>
          <a:prstGeom prst="rect">
            <a:avLst/>
          </a:prstGeom>
          <a:noFill/>
        </p:spPr>
        <p:txBody>
          <a:bodyPr wrap="square">
            <a:spAutoFit/>
          </a:bodyPr>
          <a:lstStyle/>
          <a:p>
            <a:pPr>
              <a:lnSpc>
                <a:spcPct val="115000"/>
              </a:lnSpc>
              <a:spcAft>
                <a:spcPts val="800"/>
              </a:spcAft>
              <a:buNone/>
            </a:pP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batch_inference_results_df</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prod_data_df.withColumn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generated_summary</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prod_model_udf</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("document"))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dirty="0">
                <a:effectLst/>
                <a:latin typeface="Aptos Display" panose="020B0004020202020204" pitchFamily="34" charset="0"/>
                <a:ea typeface="Aptos" panose="020B0004020202020204" pitchFamily="34" charset="0"/>
                <a:cs typeface="Times New Roman" panose="02020603050405020304" pitchFamily="18" charset="0"/>
              </a:rPr>
              <a:t>If a multi-node cluster, spark will send document partitions to corresponding many nodes.</a:t>
            </a:r>
            <a:endParaRPr lang="en-IN" dirty="0"/>
          </a:p>
        </p:txBody>
      </p:sp>
      <p:sp>
        <p:nvSpPr>
          <p:cNvPr id="5" name="TextBox 4">
            <a:extLst>
              <a:ext uri="{FF2B5EF4-FFF2-40B4-BE49-F238E27FC236}">
                <a16:creationId xmlns:a16="http://schemas.microsoft.com/office/drawing/2014/main" id="{3387A98E-1B42-D15E-C12A-01BF4D6B123A}"/>
              </a:ext>
            </a:extLst>
          </p:cNvPr>
          <p:cNvSpPr txBox="1"/>
          <p:nvPr/>
        </p:nvSpPr>
        <p:spPr>
          <a:xfrm>
            <a:off x="511627" y="983214"/>
            <a:ext cx="10842171" cy="3328091"/>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 Materialize the batch as soon it’s done</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batch_inference_results_df.write.mode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("append").</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saveAsTable</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("TABLE_NAME")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 Integration</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Model Registry, integrated with Unity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offers a centralized model store for managing the lifecycle of machine learning models. It supports versioning, staging, and deploying models while maintaining full lineage and metadata tracking.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Registration Process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To register a model, log the model using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mlflow.log_model</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and then register it to Unity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This process ensures that all versions of the model are tracked and can be managed via the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UI or API.</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dirty="0">
                <a:effectLst/>
                <a:latin typeface="Aptos Display" panose="020B0004020202020204" pitchFamily="34" charset="0"/>
                <a:ea typeface="Aptos" panose="020B0004020202020204" pitchFamily="34" charset="0"/>
                <a:cs typeface="Times New Roman" panose="02020603050405020304" pitchFamily="18" charset="0"/>
              </a:rPr>
              <a:t>Security and Access Control using Unity </a:t>
            </a:r>
            <a:r>
              <a:rPr lang="en-IN" sz="1800" dirty="0" err="1">
                <a:effectLst/>
                <a:latin typeface="Aptos Display" panose="020B0004020202020204" pitchFamily="34" charset="0"/>
                <a:ea typeface="Aptos" panose="020B0004020202020204" pitchFamily="34" charset="0"/>
                <a:cs typeface="Times New Roman" panose="02020603050405020304" pitchFamily="18" charset="0"/>
              </a:rPr>
              <a:t>Catalog</a:t>
            </a:r>
            <a:endParaRPr lang="en-IN" dirty="0"/>
          </a:p>
        </p:txBody>
      </p:sp>
      <p:sp>
        <p:nvSpPr>
          <p:cNvPr id="7" name="TextBox 6">
            <a:extLst>
              <a:ext uri="{FF2B5EF4-FFF2-40B4-BE49-F238E27FC236}">
                <a16:creationId xmlns:a16="http://schemas.microsoft.com/office/drawing/2014/main" id="{541EE9C2-00F4-89E3-1226-753EBE884C27}"/>
              </a:ext>
            </a:extLst>
          </p:cNvPr>
          <p:cNvSpPr txBox="1"/>
          <p:nvPr/>
        </p:nvSpPr>
        <p:spPr>
          <a:xfrm>
            <a:off x="511624" y="4224217"/>
            <a:ext cx="10842171" cy="2228302"/>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33. Sequence the steps needed to deploy an endpoint for a basic RAG application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RAG Application Components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 typical RAG application involves setting up a retriever, an embedding model, a vector store, and a generator. Each component plays a crucial role in the end-to-end workflow</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dirty="0">
                <a:effectLst/>
                <a:latin typeface="Aptos Display" panose="020B0004020202020204" pitchFamily="34" charset="0"/>
                <a:ea typeface="Aptos" panose="020B0004020202020204" pitchFamily="34" charset="0"/>
                <a:cs typeface="Times New Roman" panose="02020603050405020304" pitchFamily="18" charset="0"/>
              </a:rPr>
              <a:t>Learn about the overall RAG Deployment Steps on Databricks including </a:t>
            </a:r>
            <a:r>
              <a:rPr lang="en-IN" sz="1800" b="1" dirty="0">
                <a:effectLst/>
                <a:latin typeface="Aptos Display" panose="020B0004020202020204" pitchFamily="34" charset="0"/>
                <a:ea typeface="Aptos" panose="020B0004020202020204" pitchFamily="34" charset="0"/>
                <a:cs typeface="Times New Roman" panose="02020603050405020304" pitchFamily="18" charset="0"/>
              </a:rPr>
              <a:t>Retrieval Component, Embedding Model, Vector Search Index, Foundation Model, Create and Deploy Model Serving Endpoint </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for real-time querying.</a:t>
            </a:r>
            <a:endParaRPr lang="en-IN" dirty="0"/>
          </a:p>
        </p:txBody>
      </p:sp>
    </p:spTree>
    <p:extLst>
      <p:ext uri="{BB962C8B-B14F-4D97-AF65-F5344CB8AC3E}">
        <p14:creationId xmlns:p14="http://schemas.microsoft.com/office/powerpoint/2010/main" val="41772661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CD57E-D93C-D21D-31B7-80D827D357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8831C4-0D4F-B236-EB14-1BE83340B1C1}"/>
              </a:ext>
            </a:extLst>
          </p:cNvPr>
          <p:cNvSpPr txBox="1"/>
          <p:nvPr/>
        </p:nvSpPr>
        <p:spPr>
          <a:xfrm>
            <a:off x="261257" y="235420"/>
            <a:ext cx="10896600" cy="567559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34. Create and query a Vector Search index</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Vector Search Setup</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Create a vector search index by syncing it with a Delta table that stores embeddings. This index allows for real-time approximate nearest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neighbor</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searches.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Use the provided REST API or Python SDK to query the vector search index. Queries can be made using vector representations to find similar documents or data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Mosaic AI Vector Search supports automatic syncing, self-managed embeddings, and CRUD operations. It integrates with Unity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Catalog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for governance and access control.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35. Identify how to serve an LLM application that leverages Foundation Model APIs</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Foundation Model APIs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Foundation models like OpenAI’s GPT are served via Databricks Model Serving. These APIs provide a standardized way to deploy and query large language models without much effort by user.</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Serving Process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Model Deployment,</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Query Handling, Integration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with </a:t>
            </a:r>
            <a:r>
              <a:rPr lang="en-IN" sz="1800" kern="100" dirty="0" err="1">
                <a:effectLst/>
                <a:latin typeface="Aptos Display" panose="020B0004020202020204" pitchFamily="34" charset="0"/>
                <a:ea typeface="Aptos" panose="020B0004020202020204" pitchFamily="34" charset="0"/>
                <a:cs typeface="Times New Roman" panose="02020603050405020304" pitchFamily="18" charset="0"/>
              </a:rPr>
              <a:t>MLflow</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and </a:t>
            </a: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Resource Management </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to ensure that appropriate compute resources (CPU/GPU) are allocated for serving the models, and use Databricks’ auto-scaling features to handle variable loads efficiently.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642905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07702-4083-63B7-99AB-305EA46721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587B03-AFB4-D0DD-DA82-085DF71162D8}"/>
              </a:ext>
            </a:extLst>
          </p:cNvPr>
          <p:cNvSpPr txBox="1"/>
          <p:nvPr/>
        </p:nvSpPr>
        <p:spPr>
          <a:xfrm>
            <a:off x="457199" y="288660"/>
            <a:ext cx="10330543" cy="2690993"/>
          </a:xfrm>
          <a:prstGeom prst="rect">
            <a:avLst/>
          </a:prstGeom>
          <a:noFill/>
        </p:spPr>
        <p:txBody>
          <a:bodyPr wrap="square">
            <a:spAutoFit/>
          </a:bodyPr>
          <a:lstStyle/>
          <a:p>
            <a:pPr>
              <a:lnSpc>
                <a:spcPct val="115000"/>
              </a:lnSpc>
              <a:spcAft>
                <a:spcPts val="800"/>
              </a:spcAft>
              <a:buNone/>
            </a:pPr>
            <a:r>
              <a:rPr lang="en-IN" sz="1800" b="1" kern="100" dirty="0">
                <a:solidFill>
                  <a:schemeClr val="accent1"/>
                </a:solidFill>
                <a:effectLst/>
                <a:latin typeface="Aptos Display" panose="020B0004020202020204" pitchFamily="34" charset="0"/>
                <a:ea typeface="Aptos" panose="020B0004020202020204" pitchFamily="34" charset="0"/>
                <a:cs typeface="Times New Roman" panose="02020603050405020304" pitchFamily="18" charset="0"/>
              </a:rPr>
              <a:t>36. Identify resources needed to serve features for a RAG application</a:t>
            </a:r>
            <a:endParaRPr lang="en-IN" sz="18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Key Points: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Compute Resources</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Like above. Use Databricks’ scalable compute options to allocate necessary CPU/GPU resources based on the application load and performance requirements.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Display" panose="020B0004020202020204" pitchFamily="34" charset="0"/>
                <a:ea typeface="Aptos" panose="020B0004020202020204" pitchFamily="34" charset="0"/>
                <a:cs typeface="Times New Roman" panose="02020603050405020304" pitchFamily="18" charset="0"/>
              </a:rPr>
              <a:t>Storage and Indexing</a:t>
            </a:r>
            <a:r>
              <a:rPr lang="en-IN" sz="1800" kern="100" dirty="0">
                <a:effectLst/>
                <a:latin typeface="Aptos Display" panose="020B0004020202020204" pitchFamily="34" charset="0"/>
                <a:ea typeface="Aptos" panose="020B0004020202020204" pitchFamily="34" charset="0"/>
                <a:cs typeface="Times New Roman" panose="02020603050405020304" pitchFamily="18" charset="0"/>
              </a:rPr>
              <a:t>: Utilize Delta tables for storing raw and processed text, embeddings, and vector indexes. Ensure these are properly managed and synced for efficient retrieval.</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800" b="1" dirty="0">
                <a:effectLst/>
                <a:latin typeface="Aptos Display" panose="020B0004020202020204" pitchFamily="34" charset="0"/>
                <a:ea typeface="Aptos" panose="020B0004020202020204" pitchFamily="34" charset="0"/>
                <a:cs typeface="Times New Roman" panose="02020603050405020304" pitchFamily="18" charset="0"/>
              </a:rPr>
              <a:t>Monitoring and Logging</a:t>
            </a:r>
            <a:r>
              <a:rPr lang="en-IN" sz="1800" dirty="0">
                <a:effectLst/>
                <a:latin typeface="Aptos Display" panose="020B0004020202020204" pitchFamily="34" charset="0"/>
                <a:ea typeface="Aptos" panose="020B0004020202020204" pitchFamily="34" charset="0"/>
                <a:cs typeface="Times New Roman" panose="02020603050405020304" pitchFamily="18" charset="0"/>
              </a:rPr>
              <a:t>: Implement inference logging to track model performance and diagnose issues.</a:t>
            </a:r>
            <a:endParaRPr lang="en-IN" dirty="0"/>
          </a:p>
        </p:txBody>
      </p:sp>
    </p:spTree>
    <p:extLst>
      <p:ext uri="{BB962C8B-B14F-4D97-AF65-F5344CB8AC3E}">
        <p14:creationId xmlns:p14="http://schemas.microsoft.com/office/powerpoint/2010/main" val="39778972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FF62F-972F-918E-A3C7-0957A99EE21B}"/>
              </a:ext>
            </a:extLst>
          </p:cNvPr>
          <p:cNvSpPr>
            <a:spLocks noGrp="1"/>
          </p:cNvSpPr>
          <p:nvPr>
            <p:ph type="title"/>
          </p:nvPr>
        </p:nvSpPr>
        <p:spPr/>
        <p:txBody>
          <a:bodyPr>
            <a:normAutofit fontScale="90000"/>
          </a:bodyPr>
          <a:lstStyle/>
          <a:p>
            <a:r>
              <a:rPr lang="en-US" b="1" dirty="0"/>
              <a:t>Assembling a RAG Application on Databricks</a:t>
            </a:r>
            <a:br>
              <a:rPr lang="en-US" b="1" dirty="0"/>
            </a:br>
            <a:r>
              <a:rPr lang="en-US" sz="2200" i="1" dirty="0"/>
              <a:t>LangChain + </a:t>
            </a:r>
            <a:r>
              <a:rPr lang="en-US" sz="2200" i="1" dirty="0" err="1"/>
              <a:t>ChatDatabricks</a:t>
            </a:r>
            <a:r>
              <a:rPr lang="en-US" sz="2200" i="1" dirty="0"/>
              <a:t> + Mosaic Vector Search = A Production-Ready RAG Pipeline</a:t>
            </a:r>
            <a:endParaRPr lang="en-US" dirty="0"/>
          </a:p>
        </p:txBody>
      </p:sp>
      <p:pic>
        <p:nvPicPr>
          <p:cNvPr id="9218" name="Picture 2">
            <a:extLst>
              <a:ext uri="{FF2B5EF4-FFF2-40B4-BE49-F238E27FC236}">
                <a16:creationId xmlns:a16="http://schemas.microsoft.com/office/drawing/2014/main" id="{8633CD31-A5BD-82F7-EB78-24C1932C8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38287"/>
            <a:ext cx="8424414" cy="47778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587D682-F78C-B214-F495-505DFCD846AF}"/>
              </a:ext>
            </a:extLst>
          </p:cNvPr>
          <p:cNvSpPr txBox="1"/>
          <p:nvPr/>
        </p:nvSpPr>
        <p:spPr>
          <a:xfrm>
            <a:off x="454200" y="5689061"/>
            <a:ext cx="4385814" cy="999633"/>
          </a:xfrm>
          <a:prstGeom prst="rect">
            <a:avLst/>
          </a:prstGeom>
          <a:noFill/>
        </p:spPr>
        <p:txBody>
          <a:bodyPr wrap="square">
            <a:spAutoFit/>
          </a:bodyPr>
          <a:lstStyle/>
          <a:p>
            <a:pPr marL="285750" indent="-285750" algn="l">
              <a:lnSpc>
                <a:spcPts val="2400"/>
              </a:lnSpc>
              <a:buFont typeface="Arial" panose="020B0604020202020204" pitchFamily="34" charset="0"/>
              <a:buChar char="•"/>
            </a:pPr>
            <a:r>
              <a:rPr lang="en-US" b="1" i="0" dirty="0">
                <a:solidFill>
                  <a:srgbClr val="242424"/>
                </a:solidFill>
                <a:effectLst/>
                <a:latin typeface="source-serif-pro"/>
              </a:rPr>
              <a:t>LangChain</a:t>
            </a:r>
            <a:r>
              <a:rPr lang="en-US" b="0" i="0" dirty="0">
                <a:solidFill>
                  <a:srgbClr val="242424"/>
                </a:solidFill>
                <a:effectLst/>
                <a:latin typeface="source-serif-pro"/>
              </a:rPr>
              <a:t> for orchestration</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Mosaic AI Vector Search</a:t>
            </a:r>
            <a:r>
              <a:rPr lang="en-US" b="0" i="0" dirty="0">
                <a:solidFill>
                  <a:srgbClr val="242424"/>
                </a:solidFill>
                <a:effectLst/>
                <a:latin typeface="source-serif-pro"/>
              </a:rPr>
              <a:t> for retrieval</a:t>
            </a:r>
          </a:p>
          <a:p>
            <a:pPr marL="285750" indent="-285750" algn="l">
              <a:lnSpc>
                <a:spcPts val="2400"/>
              </a:lnSpc>
              <a:buFont typeface="Arial" panose="020B0604020202020204" pitchFamily="34" charset="0"/>
              <a:buChar char="•"/>
            </a:pPr>
            <a:r>
              <a:rPr lang="en-US" b="1" i="0" dirty="0" err="1">
                <a:solidFill>
                  <a:srgbClr val="242424"/>
                </a:solidFill>
                <a:effectLst/>
                <a:latin typeface="source-serif-pro"/>
              </a:rPr>
              <a:t>ChatDatabricks</a:t>
            </a:r>
            <a:r>
              <a:rPr lang="en-US" b="0" i="0" dirty="0">
                <a:solidFill>
                  <a:srgbClr val="242424"/>
                </a:solidFill>
                <a:effectLst/>
                <a:latin typeface="source-serif-pro"/>
              </a:rPr>
              <a:t> for response generation</a:t>
            </a:r>
          </a:p>
        </p:txBody>
      </p:sp>
      <p:sp>
        <p:nvSpPr>
          <p:cNvPr id="4" name="TextBox 3">
            <a:extLst>
              <a:ext uri="{FF2B5EF4-FFF2-40B4-BE49-F238E27FC236}">
                <a16:creationId xmlns:a16="http://schemas.microsoft.com/office/drawing/2014/main" id="{A65C8350-2E9E-8B69-FEA9-4ACF4C6FBF4E}"/>
              </a:ext>
            </a:extLst>
          </p:cNvPr>
          <p:cNvSpPr txBox="1"/>
          <p:nvPr/>
        </p:nvSpPr>
        <p:spPr>
          <a:xfrm>
            <a:off x="9412013" y="1610381"/>
            <a:ext cx="2650107" cy="5078313"/>
          </a:xfrm>
          <a:prstGeom prst="rect">
            <a:avLst/>
          </a:prstGeom>
          <a:noFill/>
        </p:spPr>
        <p:txBody>
          <a:bodyPr wrap="square">
            <a:spAutoFit/>
          </a:bodyPr>
          <a:lstStyle/>
          <a:p>
            <a:r>
              <a:rPr lang="en-US" b="1" i="0" dirty="0">
                <a:effectLst/>
                <a:latin typeface="fkGroteskNeue"/>
              </a:rPr>
              <a:t>Pinecone</a:t>
            </a:r>
            <a:r>
              <a:rPr lang="en-US" b="0" i="0" dirty="0">
                <a:effectLst/>
                <a:latin typeface="fkGroteskNeue"/>
              </a:rPr>
              <a:t> is a fully managed vector database designed to </a:t>
            </a:r>
            <a:r>
              <a:rPr lang="en-US" b="1" i="0" dirty="0">
                <a:effectLst/>
                <a:latin typeface="fkGroteskNeue"/>
              </a:rPr>
              <a:t>efficiently store, index, and search high-dimensional vector embeddings produced by AI models</a:t>
            </a:r>
            <a:r>
              <a:rPr lang="en-US" b="0" i="0" dirty="0">
                <a:effectLst/>
                <a:latin typeface="fkGroteskNeue"/>
              </a:rPr>
              <a:t>, such as those from text, images, or user data. </a:t>
            </a:r>
          </a:p>
          <a:p>
            <a:r>
              <a:rPr lang="en-US" b="0" i="0" dirty="0">
                <a:effectLst/>
                <a:latin typeface="fkGroteskNeue"/>
              </a:rPr>
              <a:t>This is ideal for use cases like semantic search, recommendation systems, and similarity matching—tasks where traditional databases are slow or inefficient due to the complexity and scale of vector data.</a:t>
            </a:r>
            <a:endParaRPr lang="en-US" dirty="0"/>
          </a:p>
        </p:txBody>
      </p:sp>
    </p:spTree>
    <p:extLst>
      <p:ext uri="{BB962C8B-B14F-4D97-AF65-F5344CB8AC3E}">
        <p14:creationId xmlns:p14="http://schemas.microsoft.com/office/powerpoint/2010/main" val="19041470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76A2B-9759-AA0C-A58D-4AA29FDDBB20}"/>
              </a:ext>
            </a:extLst>
          </p:cNvPr>
          <p:cNvSpPr>
            <a:spLocks noGrp="1"/>
          </p:cNvSpPr>
          <p:nvPr>
            <p:ph type="title"/>
          </p:nvPr>
        </p:nvSpPr>
        <p:spPr>
          <a:xfrm>
            <a:off x="378372" y="128642"/>
            <a:ext cx="11435256" cy="817289"/>
          </a:xfrm>
        </p:spPr>
        <p:txBody>
          <a:bodyPr/>
          <a:lstStyle/>
          <a:p>
            <a:r>
              <a:rPr lang="en-US" b="1" dirty="0"/>
              <a:t>Assembling a RAG Application on Databricks</a:t>
            </a:r>
            <a:endParaRPr lang="en-US" dirty="0"/>
          </a:p>
        </p:txBody>
      </p:sp>
      <p:sp>
        <p:nvSpPr>
          <p:cNvPr id="3" name="Content Placeholder 2">
            <a:extLst>
              <a:ext uri="{FF2B5EF4-FFF2-40B4-BE49-F238E27FC236}">
                <a16:creationId xmlns:a16="http://schemas.microsoft.com/office/drawing/2014/main" id="{71DAC624-21E7-7A19-77A1-8AA17B16444D}"/>
              </a:ext>
            </a:extLst>
          </p:cNvPr>
          <p:cNvSpPr>
            <a:spLocks noGrp="1"/>
          </p:cNvSpPr>
          <p:nvPr>
            <p:ph idx="1"/>
          </p:nvPr>
        </p:nvSpPr>
        <p:spPr>
          <a:xfrm>
            <a:off x="378372" y="945931"/>
            <a:ext cx="10975428" cy="4351338"/>
          </a:xfrm>
        </p:spPr>
        <p:txBody>
          <a:bodyPr>
            <a:noAutofit/>
          </a:bodyPr>
          <a:lstStyle/>
          <a:p>
            <a:pPr marL="0" indent="0">
              <a:buNone/>
            </a:pPr>
            <a:r>
              <a:rPr lang="en-US" sz="1600" b="1" dirty="0"/>
              <a:t>How Pinecone Works</a:t>
            </a:r>
          </a:p>
          <a:p>
            <a:r>
              <a:rPr lang="en-US" sz="1600" b="1" dirty="0"/>
              <a:t>Storing Embeddings: </a:t>
            </a:r>
            <a:r>
              <a:rPr lang="en-US" sz="1600" dirty="0"/>
              <a:t>Pinecone stores numerical vectors (embeddings) that capture semantic information from data such as documents or user profiles.​</a:t>
            </a:r>
          </a:p>
          <a:p>
            <a:r>
              <a:rPr lang="en-US" sz="1600" b="1" dirty="0"/>
              <a:t>Similarity Search: </a:t>
            </a:r>
            <a:r>
              <a:rPr lang="en-US" sz="1600" dirty="0"/>
              <a:t>When a query is made, Pinecone computes its embedding and finds the most similar vectors by searching through the stored database using efficient similarity measures (e.g., cosine similarity).​</a:t>
            </a:r>
          </a:p>
          <a:p>
            <a:r>
              <a:rPr lang="en-US" sz="1600" b="1" dirty="0"/>
              <a:t>Real-Time and Scalable: </a:t>
            </a:r>
            <a:r>
              <a:rPr lang="en-US" sz="1600" dirty="0"/>
              <a:t>Pinecone offers millisecond-level response times even for millions to billions of vectors, making it suitable for real-time applications.​</a:t>
            </a:r>
          </a:p>
          <a:p>
            <a:pPr marL="0" indent="0">
              <a:buNone/>
            </a:pPr>
            <a:r>
              <a:rPr lang="en-US" sz="1600" b="1" dirty="0"/>
              <a:t>Key Features</a:t>
            </a:r>
          </a:p>
          <a:p>
            <a:r>
              <a:rPr lang="en-US" sz="1600" b="1" dirty="0"/>
              <a:t>Fully managed and serverless</a:t>
            </a:r>
            <a:r>
              <a:rPr lang="en-US" sz="1600" dirty="0"/>
              <a:t>, so users do not manage infrastructure.​</a:t>
            </a:r>
          </a:p>
          <a:p>
            <a:r>
              <a:rPr lang="en-US" sz="1600" b="1" dirty="0"/>
              <a:t>Scales horizontally to handle large, high-dimensional datasets</a:t>
            </a:r>
            <a:r>
              <a:rPr lang="en-US" sz="1600" dirty="0"/>
              <a:t>.​</a:t>
            </a:r>
          </a:p>
          <a:p>
            <a:r>
              <a:rPr lang="en-US" sz="1600" b="1" dirty="0"/>
              <a:t>Fast, low-latency </a:t>
            </a:r>
            <a:r>
              <a:rPr lang="en-US" sz="1600" dirty="0"/>
              <a:t>vector similarity search.​</a:t>
            </a:r>
          </a:p>
          <a:p>
            <a:r>
              <a:rPr lang="en-US" sz="1600" b="1" dirty="0"/>
              <a:t>Real-time data ingestion and processing</a:t>
            </a:r>
            <a:r>
              <a:rPr lang="en-US" sz="1600" dirty="0"/>
              <a:t>, always reflecting the latest inserted or updated data.​</a:t>
            </a:r>
          </a:p>
          <a:p>
            <a:r>
              <a:rPr lang="en-US" sz="1600" b="1" dirty="0"/>
              <a:t>Integration with cloud, ML, and data </a:t>
            </a:r>
            <a:r>
              <a:rPr lang="en-US" sz="1600" dirty="0"/>
              <a:t>platforms for easy application development.​</a:t>
            </a:r>
          </a:p>
          <a:p>
            <a:pPr marL="0" indent="0">
              <a:buNone/>
            </a:pPr>
            <a:r>
              <a:rPr lang="en-US" sz="1600" b="1" dirty="0"/>
              <a:t>Use Cases</a:t>
            </a:r>
          </a:p>
          <a:p>
            <a:r>
              <a:rPr lang="en-US" sz="1600" dirty="0"/>
              <a:t>Retrieval-augmented generation (RAG) for AI chatbots and assistants.</a:t>
            </a:r>
          </a:p>
          <a:p>
            <a:r>
              <a:rPr lang="en-US" sz="1600" dirty="0"/>
              <a:t>Semantic search where meaning/context matters more than keywords.</a:t>
            </a:r>
          </a:p>
          <a:p>
            <a:r>
              <a:rPr lang="en-US" sz="1600" dirty="0"/>
              <a:t>Product, content, and user recommendation systems.</a:t>
            </a:r>
          </a:p>
          <a:p>
            <a:r>
              <a:rPr lang="en-US" sz="1600" dirty="0"/>
              <a:t>Any ML workflow needing complex similarity matching in large datasets.</a:t>
            </a:r>
          </a:p>
          <a:p>
            <a:endParaRPr lang="en-US" sz="1600" dirty="0"/>
          </a:p>
        </p:txBody>
      </p:sp>
    </p:spTree>
    <p:extLst>
      <p:ext uri="{BB962C8B-B14F-4D97-AF65-F5344CB8AC3E}">
        <p14:creationId xmlns:p14="http://schemas.microsoft.com/office/powerpoint/2010/main" val="24660453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ED14E-62F5-49D8-1009-E17452C3CC18}"/>
              </a:ext>
            </a:extLst>
          </p:cNvPr>
          <p:cNvSpPr>
            <a:spLocks noGrp="1"/>
          </p:cNvSpPr>
          <p:nvPr>
            <p:ph type="title"/>
          </p:nvPr>
        </p:nvSpPr>
        <p:spPr/>
        <p:txBody>
          <a:bodyPr/>
          <a:lstStyle/>
          <a:p>
            <a:r>
              <a:rPr lang="en-US" b="1" dirty="0"/>
              <a:t>RAG Architecture Recap (Production View)</a:t>
            </a:r>
            <a:br>
              <a:rPr lang="en-US" b="1" dirty="0"/>
            </a:br>
            <a:endParaRPr lang="en-US" dirty="0"/>
          </a:p>
        </p:txBody>
      </p:sp>
      <p:pic>
        <p:nvPicPr>
          <p:cNvPr id="5" name="Picture 4" descr="A screenshot of a computer program">
            <a:extLst>
              <a:ext uri="{FF2B5EF4-FFF2-40B4-BE49-F238E27FC236}">
                <a16:creationId xmlns:a16="http://schemas.microsoft.com/office/drawing/2014/main" id="{E589F882-3865-B3FA-AE0A-1344CF26D2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56943"/>
            <a:ext cx="5042338" cy="3010893"/>
          </a:xfrm>
          <a:prstGeom prst="rect">
            <a:avLst/>
          </a:prstGeom>
        </p:spPr>
      </p:pic>
    </p:spTree>
    <p:extLst>
      <p:ext uri="{BB962C8B-B14F-4D97-AF65-F5344CB8AC3E}">
        <p14:creationId xmlns:p14="http://schemas.microsoft.com/office/powerpoint/2010/main" val="36410746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59E4-CE18-FFC3-3D7A-5FCD7B24FEFC}"/>
              </a:ext>
            </a:extLst>
          </p:cNvPr>
          <p:cNvSpPr>
            <a:spLocks noGrp="1"/>
          </p:cNvSpPr>
          <p:nvPr>
            <p:ph type="title"/>
          </p:nvPr>
        </p:nvSpPr>
        <p:spPr>
          <a:xfrm>
            <a:off x="838200" y="177920"/>
            <a:ext cx="10515600" cy="779463"/>
          </a:xfrm>
        </p:spPr>
        <p:txBody>
          <a:bodyPr/>
          <a:lstStyle/>
          <a:p>
            <a:r>
              <a:rPr lang="en-US" b="1" dirty="0"/>
              <a:t>Application Structure</a:t>
            </a:r>
            <a:endParaRPr lang="en-US" dirty="0"/>
          </a:p>
        </p:txBody>
      </p:sp>
      <p:sp>
        <p:nvSpPr>
          <p:cNvPr id="3" name="Content Placeholder 2">
            <a:extLst>
              <a:ext uri="{FF2B5EF4-FFF2-40B4-BE49-F238E27FC236}">
                <a16:creationId xmlns:a16="http://schemas.microsoft.com/office/drawing/2014/main" id="{9FAF252A-DAEC-FBCD-B8CB-9BEC09A55BF8}"/>
              </a:ext>
            </a:extLst>
          </p:cNvPr>
          <p:cNvSpPr>
            <a:spLocks noGrp="1"/>
          </p:cNvSpPr>
          <p:nvPr>
            <p:ph idx="1"/>
          </p:nvPr>
        </p:nvSpPr>
        <p:spPr>
          <a:xfrm>
            <a:off x="838201" y="1144588"/>
            <a:ext cx="5434852" cy="5241614"/>
          </a:xfrm>
        </p:spPr>
        <p:txBody>
          <a:bodyPr>
            <a:normAutofit/>
          </a:bodyPr>
          <a:lstStyle/>
          <a:p>
            <a:pPr marL="514350" indent="-514350">
              <a:buAutoNum type="arabicPeriod"/>
            </a:pPr>
            <a:r>
              <a:rPr lang="en-US" sz="2400" b="1" dirty="0"/>
              <a:t>Create the Retriever (Mosaic AI Vector Search)</a:t>
            </a:r>
          </a:p>
          <a:p>
            <a:pPr marL="514350" indent="-514350">
              <a:buAutoNum type="arabicPeriod"/>
            </a:pPr>
            <a:endParaRPr lang="en-US" sz="2400" b="1" dirty="0"/>
          </a:p>
          <a:p>
            <a:pPr marL="514350" indent="-514350">
              <a:buAutoNum type="arabicPeriod"/>
            </a:pPr>
            <a:endParaRPr lang="en-US" sz="2400" b="1" dirty="0"/>
          </a:p>
          <a:p>
            <a:pPr marL="514350" indent="-514350">
              <a:buFont typeface="Arial" panose="020B0604020202020204" pitchFamily="34" charset="0"/>
              <a:buAutoNum type="arabicPeriod"/>
            </a:pPr>
            <a:r>
              <a:rPr lang="en-US" sz="2400" b="1" dirty="0">
                <a:solidFill>
                  <a:srgbClr val="242424"/>
                </a:solidFill>
                <a:latin typeface="sohne"/>
              </a:rPr>
              <a:t>Connect to the LLM (</a:t>
            </a:r>
            <a:r>
              <a:rPr lang="en-US" sz="2400" b="1" dirty="0" err="1">
                <a:solidFill>
                  <a:srgbClr val="242424"/>
                </a:solidFill>
                <a:latin typeface="sohne"/>
              </a:rPr>
              <a:t>ChatDatabricks</a:t>
            </a:r>
            <a:r>
              <a:rPr lang="en-US" sz="2400" b="1" dirty="0">
                <a:solidFill>
                  <a:srgbClr val="242424"/>
                </a:solidFill>
                <a:latin typeface="sohne"/>
              </a:rPr>
              <a:t>)</a:t>
            </a:r>
          </a:p>
          <a:p>
            <a:pPr marL="514350" indent="-514350">
              <a:buFont typeface="Arial" panose="020B0604020202020204" pitchFamily="34" charset="0"/>
              <a:buAutoNum type="arabicPeriod"/>
            </a:pPr>
            <a:endParaRPr lang="en-US" sz="2400" b="1" dirty="0">
              <a:solidFill>
                <a:srgbClr val="242424"/>
              </a:solidFill>
              <a:latin typeface="sohne"/>
            </a:endParaRPr>
          </a:p>
          <a:p>
            <a:pPr marL="514350" indent="-514350">
              <a:buFont typeface="Arial" panose="020B0604020202020204" pitchFamily="34" charset="0"/>
              <a:buAutoNum type="arabicPeriod"/>
            </a:pPr>
            <a:endParaRPr lang="en-US" sz="2400" b="1" dirty="0">
              <a:solidFill>
                <a:srgbClr val="242424"/>
              </a:solidFill>
              <a:latin typeface="sohne"/>
            </a:endParaRPr>
          </a:p>
          <a:p>
            <a:pPr marL="514350" indent="-514350">
              <a:buFont typeface="Arial" panose="020B0604020202020204" pitchFamily="34" charset="0"/>
              <a:buAutoNum type="arabicPeriod"/>
            </a:pPr>
            <a:r>
              <a:rPr lang="en-US" sz="2400" b="1" dirty="0"/>
              <a:t>Design a Structured Prompt Template</a:t>
            </a:r>
          </a:p>
          <a:p>
            <a:pPr marL="514350" indent="-514350">
              <a:buFont typeface="Arial" panose="020B0604020202020204" pitchFamily="34" charset="0"/>
              <a:buAutoNum type="arabicPeriod"/>
            </a:pPr>
            <a:endParaRPr lang="en-US" sz="2400" b="1" dirty="0">
              <a:solidFill>
                <a:srgbClr val="242424"/>
              </a:solidFill>
              <a:latin typeface="sohne"/>
            </a:endParaRPr>
          </a:p>
          <a:p>
            <a:pPr marL="514350" indent="-514350">
              <a:buFont typeface="Arial" panose="020B0604020202020204" pitchFamily="34" charset="0"/>
              <a:buAutoNum type="arabicPeriod"/>
            </a:pPr>
            <a:endParaRPr lang="en-US" sz="2400" b="1" dirty="0">
              <a:solidFill>
                <a:srgbClr val="242424"/>
              </a:solidFill>
              <a:latin typeface="sohne"/>
            </a:endParaRPr>
          </a:p>
          <a:p>
            <a:pPr marL="514350" indent="-514350">
              <a:buFont typeface="Arial" panose="020B0604020202020204" pitchFamily="34" charset="0"/>
              <a:buAutoNum type="arabicPeriod"/>
            </a:pPr>
            <a:r>
              <a:rPr lang="en-US" sz="2400" b="1" dirty="0"/>
              <a:t>Assemble the RAG Chain</a:t>
            </a:r>
          </a:p>
          <a:p>
            <a:pPr marL="514350" indent="-514350">
              <a:buAutoNum type="arabicPeriod"/>
            </a:pPr>
            <a:endParaRPr lang="en-US" sz="2400" b="1" dirty="0"/>
          </a:p>
          <a:p>
            <a:endParaRPr lang="en-US" sz="2400" dirty="0"/>
          </a:p>
        </p:txBody>
      </p:sp>
      <p:pic>
        <p:nvPicPr>
          <p:cNvPr id="5" name="Picture 4" descr="A close-up of a computer screen&#10;&#10;AI-generated content may be incorrect.">
            <a:extLst>
              <a:ext uri="{FF2B5EF4-FFF2-40B4-BE49-F238E27FC236}">
                <a16:creationId xmlns:a16="http://schemas.microsoft.com/office/drawing/2014/main" id="{7BEE0E5B-3AB6-F1C5-9CD7-9DC77C801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2182" y="957383"/>
            <a:ext cx="5763429" cy="1181265"/>
          </a:xfrm>
          <a:prstGeom prst="rect">
            <a:avLst/>
          </a:prstGeom>
        </p:spPr>
      </p:pic>
      <p:pic>
        <p:nvPicPr>
          <p:cNvPr id="9" name="Picture 8" descr="A close-up of text&#10;&#10;AI-generated content may be incorrect.">
            <a:extLst>
              <a:ext uri="{FF2B5EF4-FFF2-40B4-BE49-F238E27FC236}">
                <a16:creationId xmlns:a16="http://schemas.microsoft.com/office/drawing/2014/main" id="{123E5E51-90BD-C8D6-8D48-A337AD5D2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2182" y="2569813"/>
            <a:ext cx="5763429" cy="1024725"/>
          </a:xfrm>
          <a:prstGeom prst="rect">
            <a:avLst/>
          </a:prstGeom>
        </p:spPr>
      </p:pic>
      <p:pic>
        <p:nvPicPr>
          <p:cNvPr id="11" name="Picture 10" descr="A screenshot of a computer program">
            <a:extLst>
              <a:ext uri="{FF2B5EF4-FFF2-40B4-BE49-F238E27FC236}">
                <a16:creationId xmlns:a16="http://schemas.microsoft.com/office/drawing/2014/main" id="{23B317D9-E133-9D2B-AA6A-F4869DCFA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2182" y="3755497"/>
            <a:ext cx="4312246" cy="2924583"/>
          </a:xfrm>
          <a:prstGeom prst="rect">
            <a:avLst/>
          </a:prstGeom>
        </p:spPr>
      </p:pic>
    </p:spTree>
    <p:extLst>
      <p:ext uri="{BB962C8B-B14F-4D97-AF65-F5344CB8AC3E}">
        <p14:creationId xmlns:p14="http://schemas.microsoft.com/office/powerpoint/2010/main" val="14421711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BC49-BB21-B26D-8A0C-3EB8A39B12EE}"/>
              </a:ext>
            </a:extLst>
          </p:cNvPr>
          <p:cNvSpPr>
            <a:spLocks noGrp="1"/>
          </p:cNvSpPr>
          <p:nvPr>
            <p:ph type="title"/>
          </p:nvPr>
        </p:nvSpPr>
        <p:spPr/>
        <p:txBody>
          <a:bodyPr/>
          <a:lstStyle/>
          <a:p>
            <a:r>
              <a:rPr lang="en-US" dirty="0"/>
              <a:t>Summary</a:t>
            </a:r>
          </a:p>
        </p:txBody>
      </p:sp>
      <p:pic>
        <p:nvPicPr>
          <p:cNvPr id="10242" name="Picture 2">
            <a:extLst>
              <a:ext uri="{FF2B5EF4-FFF2-40B4-BE49-F238E27FC236}">
                <a16:creationId xmlns:a16="http://schemas.microsoft.com/office/drawing/2014/main" id="{C13793D9-BD48-EBF5-0231-51B343451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36" y="1933575"/>
            <a:ext cx="9150422" cy="4104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138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25E6E1F5-BFB6-60EE-3BBD-4FAB23748D82}"/>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39B8B3E3-128B-91F5-A7BC-F9517D7BACB2}"/>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82F9406C-F770-0D45-290E-9DEC60A657FB}"/>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4EF8688B-FA5A-C500-639A-0C3854D0570E}"/>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772A80F0-9FBC-679F-0348-B3542BDFB68D}"/>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CCFBFB3C-CA11-2F3C-D83B-A522383B0B59}"/>
              </a:ext>
            </a:extLst>
          </p:cNvPr>
          <p:cNvSpPr/>
          <p:nvPr/>
        </p:nvSpPr>
        <p:spPr>
          <a:xfrm>
            <a:off x="4909597" y="3105832"/>
            <a:ext cx="6745375" cy="646331"/>
          </a:xfrm>
          <a:prstGeom prst="rect">
            <a:avLst/>
          </a:prstGeom>
        </p:spPr>
        <p:txBody>
          <a:bodyPr wrap="square">
            <a:spAutoFit/>
          </a:bodyPr>
          <a:lstStyle/>
          <a:p>
            <a:pPr lvl="0" defTabSz="457166">
              <a:defRPr/>
            </a:pPr>
            <a:r>
              <a:rPr lang="en-US" sz="3600" dirty="0">
                <a:solidFill>
                  <a:srgbClr val="FFFFFF"/>
                </a:solidFill>
              </a:rPr>
              <a:t>Section 5: Governance</a:t>
            </a:r>
          </a:p>
        </p:txBody>
      </p:sp>
    </p:spTree>
    <p:extLst>
      <p:ext uri="{BB962C8B-B14F-4D97-AF65-F5344CB8AC3E}">
        <p14:creationId xmlns:p14="http://schemas.microsoft.com/office/powerpoint/2010/main" val="28620425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Footer Placeholder 2">
            <a:extLst>
              <a:ext uri="{FF2B5EF4-FFF2-40B4-BE49-F238E27FC236}">
                <a16:creationId xmlns:a16="http://schemas.microsoft.com/office/drawing/2014/main" id="{52E76F44-3D03-6075-56A8-E4C5C83ED351}"/>
              </a:ext>
            </a:extLst>
          </p:cNvPr>
          <p:cNvSpPr>
            <a:spLocks noGrp="1"/>
          </p:cNvSpPr>
          <p:nvPr>
            <p:ph type="ftr" sz="quarter" idx="11"/>
          </p:nvPr>
        </p:nvSpPr>
        <p:spPr>
          <a:xfrm>
            <a:off x="5016543" y="6394199"/>
            <a:ext cx="5398374" cy="182358"/>
          </a:xfrm>
        </p:spPr>
        <p:txBody>
          <a:bodyPr/>
          <a:lstStyle/>
          <a:p>
            <a:pPr>
              <a:spcAft>
                <a:spcPts val="600"/>
              </a:spcAft>
            </a:pPr>
            <a:r>
              <a:rPr lang="en-US"/>
              <a:t>©2021 Exl Service Holdings, Inc. All rights reserved.</a:t>
            </a:r>
          </a:p>
        </p:txBody>
      </p:sp>
      <p:sp>
        <p:nvSpPr>
          <p:cNvPr id="1035" name="Slide Number Placeholder 3">
            <a:extLst>
              <a:ext uri="{FF2B5EF4-FFF2-40B4-BE49-F238E27FC236}">
                <a16:creationId xmlns:a16="http://schemas.microsoft.com/office/drawing/2014/main" id="{D02FE1AC-F5BE-5355-DACD-1FDED8BE4416}"/>
              </a:ext>
            </a:extLst>
          </p:cNvPr>
          <p:cNvSpPr>
            <a:spLocks noGrp="1"/>
          </p:cNvSpPr>
          <p:nvPr>
            <p:ph type="sldNum" sz="quarter" idx="12"/>
          </p:nvPr>
        </p:nvSpPr>
        <p:spPr>
          <a:xfrm>
            <a:off x="10477638" y="6394199"/>
            <a:ext cx="481556" cy="182358"/>
          </a:xfrm>
        </p:spPr>
        <p:txBody>
          <a:bodyPr/>
          <a:lstStyle/>
          <a:p>
            <a:pPr>
              <a:spcAft>
                <a:spcPts val="600"/>
              </a:spcAft>
            </a:pPr>
            <a:fld id="{CCA08CA8-4222-D24F-ACDB-33341C247B6F}" type="slidenum">
              <a:rPr lang="en-US" smtClean="0"/>
              <a:pPr>
                <a:spcAft>
                  <a:spcPts val="600"/>
                </a:spcAft>
              </a:pPr>
              <a:t>116</a:t>
            </a:fld>
            <a:endParaRPr lang="en-US"/>
          </a:p>
        </p:txBody>
      </p:sp>
      <p:pic>
        <p:nvPicPr>
          <p:cNvPr id="1026" name="Picture 2">
            <a:extLst>
              <a:ext uri="{FF2B5EF4-FFF2-40B4-BE49-F238E27FC236}">
                <a16:creationId xmlns:a16="http://schemas.microsoft.com/office/drawing/2014/main" id="{FE953D81-EFB1-FA76-23A1-9A1F14299E3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33888" y="854190"/>
            <a:ext cx="7300912" cy="4690835"/>
          </a:xfrm>
          <a:prstGeom prst="rect">
            <a:avLst/>
          </a:prstGeom>
          <a:solidFill>
            <a:srgbClr val="FFFFFF"/>
          </a:solidFill>
        </p:spPr>
      </p:pic>
      <p:sp>
        <p:nvSpPr>
          <p:cNvPr id="7" name="TextBox 6">
            <a:extLst>
              <a:ext uri="{FF2B5EF4-FFF2-40B4-BE49-F238E27FC236}">
                <a16:creationId xmlns:a16="http://schemas.microsoft.com/office/drawing/2014/main" id="{06FF068B-DD4E-A534-FEB2-DFE2932E7E72}"/>
              </a:ext>
            </a:extLst>
          </p:cNvPr>
          <p:cNvSpPr txBox="1"/>
          <p:nvPr/>
        </p:nvSpPr>
        <p:spPr>
          <a:xfrm>
            <a:off x="184128" y="854190"/>
            <a:ext cx="3985101" cy="4824206"/>
          </a:xfrm>
          <a:prstGeom prst="rect">
            <a:avLst/>
          </a:prstGeom>
          <a:noFill/>
        </p:spPr>
        <p:txBody>
          <a:bodyPr wrap="square">
            <a:spAutoFit/>
          </a:bodyPr>
          <a:lstStyle/>
          <a:p>
            <a:pPr algn="l">
              <a:lnSpc>
                <a:spcPts val="2250"/>
              </a:lnSpc>
              <a:buNone/>
            </a:pPr>
            <a:r>
              <a:rPr lang="en-US" b="1" i="0" dirty="0">
                <a:solidFill>
                  <a:srgbClr val="156082"/>
                </a:solidFill>
                <a:effectLst/>
                <a:latin typeface="Aptos Display" panose="020B0004020202020204" pitchFamily="34" charset="0"/>
              </a:rPr>
              <a:t>37. </a:t>
            </a:r>
            <a:r>
              <a:rPr lang="en-US" b="1" kern="100" dirty="0">
                <a:solidFill>
                  <a:srgbClr val="156082"/>
                </a:solidFill>
                <a:latin typeface="Aptos Display" panose="020B0004020202020204" pitchFamily="34" charset="0"/>
                <a:cs typeface="Times New Roman" panose="02020603050405020304" pitchFamily="18" charset="0"/>
              </a:rPr>
              <a:t>Use masking techniques as guard rails to meet a performance objective</a:t>
            </a:r>
          </a:p>
          <a:p>
            <a:pPr algn="l">
              <a:lnSpc>
                <a:spcPts val="1800"/>
              </a:lnSpc>
              <a:buNone/>
            </a:pPr>
            <a:endParaRPr lang="en-US" b="1" i="0" dirty="0">
              <a:solidFill>
                <a:srgbClr val="242424"/>
              </a:solidFill>
              <a:effectLst/>
              <a:latin typeface="Aptos Display" panose="020B0004020202020204" pitchFamily="34" charset="0"/>
            </a:endParaRPr>
          </a:p>
          <a:p>
            <a:pPr algn="l">
              <a:lnSpc>
                <a:spcPts val="1800"/>
              </a:lnSpc>
              <a:buNone/>
            </a:pPr>
            <a:r>
              <a:rPr lang="en-US" b="1" i="0" dirty="0">
                <a:solidFill>
                  <a:srgbClr val="242424"/>
                </a:solidFill>
                <a:effectLst/>
                <a:latin typeface="Aptos Display" panose="020B0004020202020204" pitchFamily="34" charset="0"/>
              </a:rPr>
              <a:t>Key Points:</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Masking Techniques</a:t>
            </a:r>
            <a:r>
              <a:rPr lang="en-US" b="0" i="0" dirty="0">
                <a:solidFill>
                  <a:srgbClr val="242424"/>
                </a:solidFill>
                <a:effectLst/>
                <a:latin typeface="Aptos Display" panose="020B0004020202020204" pitchFamily="34" charset="0"/>
              </a:rPr>
              <a:t>: Examples include tokenization, anonymization, and pseudonymization.</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Implementation</a:t>
            </a:r>
            <a:r>
              <a:rPr lang="en-US" b="0" i="0" dirty="0">
                <a:solidFill>
                  <a:srgbClr val="242424"/>
                </a:solidFill>
                <a:effectLst/>
                <a:latin typeface="Aptos Display" panose="020B0004020202020204" pitchFamily="34" charset="0"/>
              </a:rPr>
              <a:t>: Masking can be applied at various stages of data handling, such as input processing, data storage, and during model inference to prevent leakage of private data.</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Balance</a:t>
            </a:r>
            <a:r>
              <a:rPr lang="en-US" b="0" i="0" dirty="0">
                <a:solidFill>
                  <a:srgbClr val="242424"/>
                </a:solidFill>
                <a:effectLst/>
                <a:latin typeface="Aptos Display" panose="020B0004020202020204" pitchFamily="34" charset="0"/>
              </a:rPr>
              <a:t> is crucial for meeting both compliance and performance objectives.</a:t>
            </a:r>
          </a:p>
        </p:txBody>
      </p:sp>
    </p:spTree>
    <p:extLst>
      <p:ext uri="{BB962C8B-B14F-4D97-AF65-F5344CB8AC3E}">
        <p14:creationId xmlns:p14="http://schemas.microsoft.com/office/powerpoint/2010/main" val="258877498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6543-A0F5-7DC6-E279-9D94D78D2205}"/>
            </a:ext>
          </a:extLst>
        </p:cNvPr>
        <p:cNvGrpSpPr/>
        <p:nvPr/>
      </p:nvGrpSpPr>
      <p:grpSpPr>
        <a:xfrm>
          <a:off x="0" y="0"/>
          <a:ext cx="0" cy="0"/>
          <a:chOff x="0" y="0"/>
          <a:chExt cx="0" cy="0"/>
        </a:xfrm>
      </p:grpSpPr>
      <p:sp>
        <p:nvSpPr>
          <p:cNvPr id="1033" name="Footer Placeholder 2">
            <a:extLst>
              <a:ext uri="{FF2B5EF4-FFF2-40B4-BE49-F238E27FC236}">
                <a16:creationId xmlns:a16="http://schemas.microsoft.com/office/drawing/2014/main" id="{9BB53561-C5AE-AC04-5AB4-E8E0DD8E768F}"/>
              </a:ext>
            </a:extLst>
          </p:cNvPr>
          <p:cNvSpPr>
            <a:spLocks noGrp="1"/>
          </p:cNvSpPr>
          <p:nvPr>
            <p:ph type="ftr" sz="quarter" idx="11"/>
          </p:nvPr>
        </p:nvSpPr>
        <p:spPr>
          <a:xfrm>
            <a:off x="5016543" y="6394199"/>
            <a:ext cx="5398374" cy="182358"/>
          </a:xfrm>
        </p:spPr>
        <p:txBody>
          <a:bodyPr/>
          <a:lstStyle/>
          <a:p>
            <a:pPr>
              <a:spcAft>
                <a:spcPts val="600"/>
              </a:spcAft>
            </a:pPr>
            <a:r>
              <a:rPr lang="en-US"/>
              <a:t>©2021 Exl Service Holdings, Inc. All rights reserved.</a:t>
            </a:r>
          </a:p>
        </p:txBody>
      </p:sp>
      <p:sp>
        <p:nvSpPr>
          <p:cNvPr id="1035" name="Slide Number Placeholder 3">
            <a:extLst>
              <a:ext uri="{FF2B5EF4-FFF2-40B4-BE49-F238E27FC236}">
                <a16:creationId xmlns:a16="http://schemas.microsoft.com/office/drawing/2014/main" id="{B9E36462-6F11-8649-A835-735303FE5280}"/>
              </a:ext>
            </a:extLst>
          </p:cNvPr>
          <p:cNvSpPr>
            <a:spLocks noGrp="1"/>
          </p:cNvSpPr>
          <p:nvPr>
            <p:ph type="sldNum" sz="quarter" idx="12"/>
          </p:nvPr>
        </p:nvSpPr>
        <p:spPr>
          <a:xfrm>
            <a:off x="10477638" y="6394199"/>
            <a:ext cx="481556" cy="182358"/>
          </a:xfrm>
        </p:spPr>
        <p:txBody>
          <a:bodyPr/>
          <a:lstStyle/>
          <a:p>
            <a:pPr>
              <a:spcAft>
                <a:spcPts val="600"/>
              </a:spcAft>
            </a:pPr>
            <a:fld id="{CCA08CA8-4222-D24F-ACDB-33341C247B6F}" type="slidenum">
              <a:rPr lang="en-US" smtClean="0"/>
              <a:pPr>
                <a:spcAft>
                  <a:spcPts val="600"/>
                </a:spcAft>
              </a:pPr>
              <a:t>117</a:t>
            </a:fld>
            <a:endParaRPr lang="en-US"/>
          </a:p>
        </p:txBody>
      </p:sp>
      <p:pic>
        <p:nvPicPr>
          <p:cNvPr id="1026" name="Picture 2">
            <a:extLst>
              <a:ext uri="{FF2B5EF4-FFF2-40B4-BE49-F238E27FC236}">
                <a16:creationId xmlns:a16="http://schemas.microsoft.com/office/drawing/2014/main" id="{84E39CD0-0728-2528-0329-4E9A282348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34814" y="0"/>
            <a:ext cx="9522372" cy="5001278"/>
          </a:xfrm>
          <a:prstGeom prst="rect">
            <a:avLst/>
          </a:prstGeom>
          <a:solidFill>
            <a:srgbClr val="FFFFFF"/>
          </a:solidFill>
        </p:spPr>
      </p:pic>
      <p:sp>
        <p:nvSpPr>
          <p:cNvPr id="7" name="TextBox 6">
            <a:extLst>
              <a:ext uri="{FF2B5EF4-FFF2-40B4-BE49-F238E27FC236}">
                <a16:creationId xmlns:a16="http://schemas.microsoft.com/office/drawing/2014/main" id="{CF068740-C5EA-271A-D30D-0E7C5CFCF9B8}"/>
              </a:ext>
            </a:extLst>
          </p:cNvPr>
          <p:cNvSpPr txBox="1"/>
          <p:nvPr/>
        </p:nvSpPr>
        <p:spPr>
          <a:xfrm>
            <a:off x="289231" y="4917403"/>
            <a:ext cx="10567955" cy="1923604"/>
          </a:xfrm>
          <a:prstGeom prst="rect">
            <a:avLst/>
          </a:prstGeom>
          <a:noFill/>
        </p:spPr>
        <p:txBody>
          <a:bodyPr wrap="square">
            <a:spAutoFit/>
          </a:bodyPr>
          <a:lstStyle/>
          <a:p>
            <a:r>
              <a:rPr lang="en-US" sz="1700" dirty="0">
                <a:solidFill>
                  <a:schemeClr val="tx2"/>
                </a:solidFill>
              </a:rPr>
              <a:t>Key Workflow Flows</a:t>
            </a:r>
          </a:p>
          <a:p>
            <a:pPr marL="285750" indent="-285750">
              <a:buFont typeface="Arial" panose="020B0604020202020204" pitchFamily="34" charset="0"/>
              <a:buChar char="•"/>
            </a:pPr>
            <a:r>
              <a:rPr lang="en-US" sz="1700" dirty="0">
                <a:solidFill>
                  <a:schemeClr val="tx2"/>
                </a:solidFill>
              </a:rPr>
              <a:t>Data flows from "Raw Data" (1) → "Data Prep" (2) → "Datasets" (3).</a:t>
            </a:r>
          </a:p>
          <a:p>
            <a:pPr marL="285750" indent="-285750">
              <a:buFont typeface="Arial" panose="020B0604020202020204" pitchFamily="34" charset="0"/>
              <a:buChar char="•"/>
            </a:pPr>
            <a:r>
              <a:rPr lang="en-US" sz="1700" dirty="0">
                <a:solidFill>
                  <a:schemeClr val="tx2"/>
                </a:solidFill>
              </a:rPr>
              <a:t>Features/models are catalogued (4) and referenced for model building (5, 6, 7).</a:t>
            </a:r>
          </a:p>
          <a:p>
            <a:pPr marL="285750" indent="-285750">
              <a:buFont typeface="Arial" panose="020B0604020202020204" pitchFamily="34" charset="0"/>
              <a:buChar char="•"/>
            </a:pPr>
            <a:r>
              <a:rPr lang="en-US" sz="1700" dirty="0">
                <a:solidFill>
                  <a:schemeClr val="tx2"/>
                </a:solidFill>
              </a:rPr>
              <a:t>Trained models and their assets are managed (8), then deployed (9) for serving inference requests.</a:t>
            </a:r>
          </a:p>
          <a:p>
            <a:pPr marL="285750" indent="-285750">
              <a:buFont typeface="Arial" panose="020B0604020202020204" pitchFamily="34" charset="0"/>
              <a:buChar char="•"/>
            </a:pPr>
            <a:r>
              <a:rPr lang="en-US" sz="1700" dirty="0">
                <a:solidFill>
                  <a:schemeClr val="tx2"/>
                </a:solidFill>
              </a:rPr>
              <a:t>Monitoring (10) ensures logging and operational stability.</a:t>
            </a:r>
          </a:p>
          <a:p>
            <a:endParaRPr lang="en-US" sz="1700" dirty="0">
              <a:solidFill>
                <a:schemeClr val="tx2"/>
              </a:solidFill>
            </a:endParaRPr>
          </a:p>
          <a:p>
            <a:r>
              <a:rPr lang="en-US" sz="1700" dirty="0">
                <a:solidFill>
                  <a:schemeClr val="tx2"/>
                </a:solidFill>
              </a:rPr>
              <a:t>The entire system is under the oversight of "Governance," spanning </a:t>
            </a:r>
            <a:r>
              <a:rPr lang="en-US" sz="1700" dirty="0" err="1">
                <a:solidFill>
                  <a:schemeClr val="tx2"/>
                </a:solidFill>
              </a:rPr>
              <a:t>DataOps</a:t>
            </a:r>
            <a:r>
              <a:rPr lang="en-US" sz="1700" dirty="0">
                <a:solidFill>
                  <a:schemeClr val="tx2"/>
                </a:solidFill>
              </a:rPr>
              <a:t>, </a:t>
            </a:r>
            <a:r>
              <a:rPr lang="en-US" sz="1700" dirty="0" err="1">
                <a:solidFill>
                  <a:schemeClr val="tx2"/>
                </a:solidFill>
              </a:rPr>
              <a:t>ModelOps</a:t>
            </a:r>
            <a:r>
              <a:rPr lang="en-US" sz="1700" dirty="0">
                <a:solidFill>
                  <a:schemeClr val="tx2"/>
                </a:solidFill>
              </a:rPr>
              <a:t>, and </a:t>
            </a:r>
            <a:r>
              <a:rPr lang="en-US" sz="1700" dirty="0" err="1">
                <a:solidFill>
                  <a:schemeClr val="tx2"/>
                </a:solidFill>
              </a:rPr>
              <a:t>DevSecOps</a:t>
            </a:r>
            <a:r>
              <a:rPr lang="en-US" sz="1700" dirty="0">
                <a:solidFill>
                  <a:schemeClr val="tx2"/>
                </a:solidFill>
              </a:rPr>
              <a:t> disciplines.</a:t>
            </a:r>
          </a:p>
        </p:txBody>
      </p:sp>
    </p:spTree>
    <p:extLst>
      <p:ext uri="{BB962C8B-B14F-4D97-AF65-F5344CB8AC3E}">
        <p14:creationId xmlns:p14="http://schemas.microsoft.com/office/powerpoint/2010/main" val="12298949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FC8D0-0880-6ECD-4CE2-052C001D79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E779E9-6D62-FE5C-C945-FF1E936366E0}"/>
              </a:ext>
            </a:extLst>
          </p:cNvPr>
          <p:cNvSpPr txBox="1"/>
          <p:nvPr/>
        </p:nvSpPr>
        <p:spPr>
          <a:xfrm>
            <a:off x="500743" y="292244"/>
            <a:ext cx="10297886" cy="5875776"/>
          </a:xfrm>
          <a:prstGeom prst="rect">
            <a:avLst/>
          </a:prstGeom>
          <a:noFill/>
        </p:spPr>
        <p:txBody>
          <a:bodyPr wrap="square">
            <a:spAutoFit/>
          </a:bodyPr>
          <a:lstStyle/>
          <a:p>
            <a:pPr algn="l">
              <a:lnSpc>
                <a:spcPts val="2250"/>
              </a:lnSpc>
              <a:buNone/>
            </a:pPr>
            <a:endParaRPr lang="en-US" b="1" i="0" dirty="0">
              <a:solidFill>
                <a:srgbClr val="156082"/>
              </a:solidFill>
              <a:effectLst/>
              <a:latin typeface="Aptos Display" panose="020B0004020202020204" pitchFamily="34" charset="0"/>
            </a:endParaRPr>
          </a:p>
          <a:p>
            <a:pPr algn="l">
              <a:lnSpc>
                <a:spcPts val="2250"/>
              </a:lnSpc>
              <a:buNone/>
            </a:pPr>
            <a:r>
              <a:rPr lang="en-US" b="1" i="0" dirty="0">
                <a:solidFill>
                  <a:srgbClr val="156082"/>
                </a:solidFill>
                <a:effectLst/>
                <a:latin typeface="Aptos Display" panose="020B0004020202020204" pitchFamily="34" charset="0"/>
              </a:rPr>
              <a:t>38. Select guardrail techniques to protect against malicious user inputs to a GenAI application</a:t>
            </a:r>
          </a:p>
          <a:p>
            <a:pPr algn="l">
              <a:lnSpc>
                <a:spcPts val="1800"/>
              </a:lnSpc>
              <a:buNone/>
            </a:pPr>
            <a:endParaRPr lang="en-US" b="1" i="0" dirty="0">
              <a:solidFill>
                <a:srgbClr val="242424"/>
              </a:solidFill>
              <a:effectLst/>
              <a:latin typeface="Aptos Display" panose="020B0004020202020204" pitchFamily="34" charset="0"/>
            </a:endParaRPr>
          </a:p>
          <a:p>
            <a:pPr algn="l">
              <a:lnSpc>
                <a:spcPts val="1800"/>
              </a:lnSpc>
              <a:buNone/>
            </a:pPr>
            <a:r>
              <a:rPr lang="en-US" b="1" i="0" dirty="0">
                <a:solidFill>
                  <a:srgbClr val="242424"/>
                </a:solidFill>
                <a:effectLst/>
                <a:latin typeface="Aptos Display" panose="020B0004020202020204" pitchFamily="34" charset="0"/>
              </a:rPr>
              <a:t>Key Points:</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Guardrail Techniques</a:t>
            </a:r>
            <a:r>
              <a:rPr lang="en-US" b="0" i="0" dirty="0">
                <a:solidFill>
                  <a:srgbClr val="242424"/>
                </a:solidFill>
                <a:effectLst/>
                <a:latin typeface="Aptos Display" panose="020B0004020202020204" pitchFamily="34" charset="0"/>
              </a:rPr>
              <a:t>: Input validation, context-aware filtering, prompt sanitization to protect against harmful or malicious inputs. Implementing these helps in preventing prompt injection attacks and inappropriate content generation.</a:t>
            </a:r>
          </a:p>
          <a:p>
            <a:pPr marL="285750" indent="-285750" algn="l">
              <a:lnSpc>
                <a:spcPts val="2400"/>
              </a:lnSpc>
              <a:buFont typeface="Arial" panose="020B0604020202020204" pitchFamily="34" charset="0"/>
              <a:buChar char="•"/>
            </a:pPr>
            <a:r>
              <a:rPr lang="en-US" b="0" i="0" dirty="0">
                <a:solidFill>
                  <a:srgbClr val="242424"/>
                </a:solidFill>
                <a:effectLst/>
                <a:latin typeface="Aptos Display" panose="020B0004020202020204" pitchFamily="34" charset="0"/>
              </a:rPr>
              <a:t>Learn about </a:t>
            </a:r>
            <a:r>
              <a:rPr lang="en-US" b="1" i="0" dirty="0">
                <a:solidFill>
                  <a:srgbClr val="242424"/>
                </a:solidFill>
                <a:effectLst/>
                <a:latin typeface="Aptos Display" panose="020B0004020202020204" pitchFamily="34" charset="0"/>
              </a:rPr>
              <a:t>Llama Guard LLM </a:t>
            </a:r>
            <a:r>
              <a:rPr lang="en-US" b="0" i="0" dirty="0">
                <a:solidFill>
                  <a:srgbClr val="242424"/>
                </a:solidFill>
                <a:effectLst/>
                <a:latin typeface="Aptos Display" panose="020B0004020202020204" pitchFamily="34" charset="0"/>
              </a:rPr>
              <a:t>which is in Databricks Marketplace</a:t>
            </a:r>
          </a:p>
          <a:p>
            <a:pPr marL="285750" indent="-285750" algn="l">
              <a:lnSpc>
                <a:spcPts val="2400"/>
              </a:lnSpc>
              <a:buFont typeface="Arial" panose="020B0604020202020204" pitchFamily="34" charset="0"/>
              <a:buChar char="•"/>
            </a:pPr>
            <a:r>
              <a:rPr lang="en-US" b="0" i="0" dirty="0">
                <a:solidFill>
                  <a:srgbClr val="242424"/>
                </a:solidFill>
                <a:effectLst/>
                <a:latin typeface="Aptos Display" panose="020B0004020202020204" pitchFamily="34" charset="0"/>
              </a:rPr>
              <a:t>Continuous testing and updating of guardrails are essential to adapt to new types of malicious inputs and ensure the system’s integrity and security.</a:t>
            </a:r>
          </a:p>
          <a:p>
            <a:pPr algn="l">
              <a:lnSpc>
                <a:spcPts val="2250"/>
              </a:lnSpc>
              <a:buNone/>
            </a:pPr>
            <a:endParaRPr lang="en-US" b="1" i="0" dirty="0">
              <a:solidFill>
                <a:srgbClr val="156082"/>
              </a:solidFill>
              <a:effectLst/>
              <a:latin typeface="Aptos Display" panose="020B0004020202020204" pitchFamily="34" charset="0"/>
            </a:endParaRPr>
          </a:p>
          <a:p>
            <a:pPr algn="l">
              <a:lnSpc>
                <a:spcPts val="2250"/>
              </a:lnSpc>
              <a:buNone/>
            </a:pPr>
            <a:r>
              <a:rPr lang="en-US" b="1" i="0" dirty="0">
                <a:solidFill>
                  <a:srgbClr val="156082"/>
                </a:solidFill>
                <a:effectLst/>
                <a:latin typeface="Aptos Display" panose="020B0004020202020204" pitchFamily="34" charset="0"/>
              </a:rPr>
              <a:t>39. Recommend an alternative for problematic text mitigation in a data source feeding a RAG application</a:t>
            </a:r>
          </a:p>
          <a:p>
            <a:pPr algn="l">
              <a:lnSpc>
                <a:spcPts val="1800"/>
              </a:lnSpc>
              <a:buNone/>
            </a:pPr>
            <a:endParaRPr lang="en-US" b="1" i="0" dirty="0">
              <a:solidFill>
                <a:srgbClr val="242424"/>
              </a:solidFill>
              <a:effectLst/>
              <a:latin typeface="Aptos Display" panose="020B0004020202020204" pitchFamily="34" charset="0"/>
            </a:endParaRPr>
          </a:p>
          <a:p>
            <a:pPr algn="l">
              <a:lnSpc>
                <a:spcPts val="1800"/>
              </a:lnSpc>
              <a:buNone/>
            </a:pPr>
            <a:r>
              <a:rPr lang="en-US" b="1" i="0" dirty="0">
                <a:solidFill>
                  <a:srgbClr val="242424"/>
                </a:solidFill>
                <a:effectLst/>
                <a:latin typeface="Aptos Display" panose="020B0004020202020204" pitchFamily="34" charset="0"/>
              </a:rPr>
              <a:t>Key Points:</a:t>
            </a:r>
          </a:p>
          <a:p>
            <a:pPr marL="285750" indent="-285750" algn="l">
              <a:lnSpc>
                <a:spcPts val="2400"/>
              </a:lnSpc>
              <a:buFont typeface="Arial" panose="020B0604020202020204" pitchFamily="34" charset="0"/>
              <a:buChar char="•"/>
            </a:pPr>
            <a:r>
              <a:rPr lang="en-US" b="0" i="0" dirty="0">
                <a:solidFill>
                  <a:srgbClr val="242424"/>
                </a:solidFill>
                <a:effectLst/>
                <a:latin typeface="Aptos Display" panose="020B0004020202020204" pitchFamily="34" charset="0"/>
              </a:rPr>
              <a:t>Addressing issues such as bias, misinformation, or inappropriate content in data sources used</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Data Cleansing</a:t>
            </a:r>
            <a:r>
              <a:rPr lang="en-US" b="0" i="0" dirty="0">
                <a:solidFill>
                  <a:srgbClr val="242424"/>
                </a:solidFill>
                <a:effectLst/>
                <a:latin typeface="Aptos Display" panose="020B0004020202020204" pitchFamily="34" charset="0"/>
              </a:rPr>
              <a:t>: Techniques include preprocessing steps like text normalization, filtering out offensive terms, and leveraging domain-specific stop words lists to cleanse the data before it is fed into the model.</a:t>
            </a:r>
          </a:p>
          <a:p>
            <a:pPr marL="285750" indent="-285750" algn="l">
              <a:lnSpc>
                <a:spcPts val="2400"/>
              </a:lnSpc>
              <a:buFont typeface="Arial" panose="020B0604020202020204" pitchFamily="34" charset="0"/>
              <a:buChar char="•"/>
            </a:pPr>
            <a:r>
              <a:rPr lang="en-US" b="1" i="0" dirty="0">
                <a:solidFill>
                  <a:srgbClr val="242424"/>
                </a:solidFill>
                <a:effectLst/>
                <a:latin typeface="Aptos Display" panose="020B0004020202020204" pitchFamily="34" charset="0"/>
              </a:rPr>
              <a:t>External Data Sources</a:t>
            </a:r>
            <a:r>
              <a:rPr lang="en-US" b="0" i="0" dirty="0">
                <a:solidFill>
                  <a:srgbClr val="242424"/>
                </a:solidFill>
                <a:effectLst/>
                <a:latin typeface="Aptos Display" panose="020B0004020202020204" pitchFamily="34" charset="0"/>
              </a:rPr>
              <a:t>: Using reputable and well-moderated external data sources to augment prompts can help mitigate the inclusion of problematic text, ensuring the generation of more accurate and safe responses.</a:t>
            </a:r>
          </a:p>
        </p:txBody>
      </p:sp>
    </p:spTree>
    <p:extLst>
      <p:ext uri="{BB962C8B-B14F-4D97-AF65-F5344CB8AC3E}">
        <p14:creationId xmlns:p14="http://schemas.microsoft.com/office/powerpoint/2010/main" val="40466678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5CE6-BA5D-E890-5821-B8D793B2DA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3C8CFC-C985-CD8A-AFB9-F287631E2960}"/>
              </a:ext>
            </a:extLst>
          </p:cNvPr>
          <p:cNvSpPr txBox="1"/>
          <p:nvPr/>
        </p:nvSpPr>
        <p:spPr>
          <a:xfrm>
            <a:off x="609600" y="362423"/>
            <a:ext cx="10755086" cy="2987356"/>
          </a:xfrm>
          <a:prstGeom prst="rect">
            <a:avLst/>
          </a:prstGeom>
          <a:noFill/>
        </p:spPr>
        <p:txBody>
          <a:bodyPr wrap="square">
            <a:spAutoFit/>
          </a:bodyPr>
          <a:lstStyle/>
          <a:p>
            <a:pPr algn="l">
              <a:lnSpc>
                <a:spcPts val="2250"/>
              </a:lnSpc>
              <a:buNone/>
            </a:pPr>
            <a:r>
              <a:rPr lang="en-US" b="1" i="0" dirty="0">
                <a:solidFill>
                  <a:srgbClr val="156082"/>
                </a:solidFill>
                <a:effectLst/>
                <a:latin typeface="sohne"/>
              </a:rPr>
              <a:t>40. Use legal/licensing requirements for data sources to avoid legal risk</a:t>
            </a:r>
          </a:p>
          <a:p>
            <a:pPr algn="l">
              <a:lnSpc>
                <a:spcPts val="1800"/>
              </a:lnSpc>
              <a:buNone/>
            </a:pPr>
            <a:endParaRPr lang="en-US" b="1" i="0" dirty="0">
              <a:solidFill>
                <a:srgbClr val="242424"/>
              </a:solidFill>
              <a:effectLst/>
              <a:latin typeface="sohne"/>
            </a:endParaRPr>
          </a:p>
          <a:p>
            <a:pPr algn="l">
              <a:lnSpc>
                <a:spcPts val="1800"/>
              </a:lnSpc>
              <a:buNone/>
            </a:pPr>
            <a:r>
              <a:rPr lang="en-US" b="1" i="0" dirty="0">
                <a:solidFill>
                  <a:srgbClr val="242424"/>
                </a:solidFill>
                <a:effectLst/>
                <a:latin typeface="sohne"/>
              </a:rPr>
              <a:t>Key Points:</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Legal Compliance</a:t>
            </a:r>
            <a:r>
              <a:rPr lang="en-US" b="0" i="0" dirty="0">
                <a:solidFill>
                  <a:srgbClr val="242424"/>
                </a:solidFill>
                <a:effectLst/>
                <a:latin typeface="source-serif-pro"/>
              </a:rPr>
              <a:t>: Understanding and adhering to the legal and licensing requirements of data sources is crucial to avoid legal risks. This involves reviewing licenses and ensuring that the use of data complies with the terms specified.</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Dataset Licensing</a:t>
            </a:r>
            <a:r>
              <a:rPr lang="en-US" b="0" i="0" dirty="0">
                <a:solidFill>
                  <a:srgbClr val="242424"/>
                </a:solidFill>
                <a:effectLst/>
                <a:latin typeface="source-serif-pro"/>
              </a:rPr>
              <a:t>: Evaluate the licensing information of datasets available in various platforms including Databricks Marketplace, consulting with legal teams to ensure that the intended usage is permitted.</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Regular Audits</a:t>
            </a:r>
            <a:r>
              <a:rPr lang="en-US" b="0" i="0" dirty="0">
                <a:solidFill>
                  <a:srgbClr val="242424"/>
                </a:solidFill>
                <a:effectLst/>
                <a:latin typeface="source-serif-pro"/>
              </a:rPr>
              <a:t>: Conducting regular audits of data usage and maintaining detailed records of data sources and their licenses can help in managing legal risks effectively.</a:t>
            </a:r>
          </a:p>
        </p:txBody>
      </p:sp>
    </p:spTree>
    <p:extLst>
      <p:ext uri="{BB962C8B-B14F-4D97-AF65-F5344CB8AC3E}">
        <p14:creationId xmlns:p14="http://schemas.microsoft.com/office/powerpoint/2010/main" val="30733211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DEBF6777-19AC-8FAF-CDBC-ABC7C7759381}"/>
            </a:ext>
          </a:extLst>
        </p:cNvPr>
        <p:cNvGrpSpPr/>
        <p:nvPr/>
      </p:nvGrpSpPr>
      <p:grpSpPr>
        <a:xfrm>
          <a:off x="0" y="0"/>
          <a:ext cx="0" cy="0"/>
          <a:chOff x="0" y="0"/>
          <a:chExt cx="0" cy="0"/>
        </a:xfrm>
      </p:grpSpPr>
      <p:sp>
        <p:nvSpPr>
          <p:cNvPr id="14" name="Isosceles Triangle 13">
            <a:extLst>
              <a:ext uri="{FF2B5EF4-FFF2-40B4-BE49-F238E27FC236}">
                <a16:creationId xmlns:a16="http://schemas.microsoft.com/office/drawing/2014/main" id="{52BCE279-EFB4-B7C0-D40C-7996BA6AF96C}"/>
              </a:ext>
            </a:extLst>
          </p:cNvPr>
          <p:cNvSpPr/>
          <p:nvPr/>
        </p:nvSpPr>
        <p:spPr>
          <a:xfrm rot="5400000">
            <a:off x="-14731" y="2904991"/>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D3F8B8E8-8655-A711-1DE5-BEF3F3800EDE}"/>
              </a:ext>
            </a:extLst>
          </p:cNvPr>
          <p:cNvSpPr/>
          <p:nvPr/>
        </p:nvSpPr>
        <p:spPr>
          <a:xfrm rot="5400000">
            <a:off x="1207454" y="2904990"/>
            <a:ext cx="3538926" cy="104801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Isosceles Triangle 15">
            <a:extLst>
              <a:ext uri="{FF2B5EF4-FFF2-40B4-BE49-F238E27FC236}">
                <a16:creationId xmlns:a16="http://schemas.microsoft.com/office/drawing/2014/main" id="{9C0DCA2C-0113-C808-52E2-215C9D6EAC68}"/>
              </a:ext>
            </a:extLst>
          </p:cNvPr>
          <p:cNvSpPr/>
          <p:nvPr/>
        </p:nvSpPr>
        <p:spPr>
          <a:xfrm rot="5400000">
            <a:off x="2429638" y="2904993"/>
            <a:ext cx="3538926" cy="104801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6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C783FC14-7B76-0583-1006-7DDB10B5D554}"/>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84161D90-766C-2262-9A44-93138B7C5BF9}"/>
              </a:ext>
            </a:extLst>
          </p:cNvPr>
          <p:cNvSpPr/>
          <p:nvPr/>
        </p:nvSpPr>
        <p:spPr>
          <a:xfrm>
            <a:off x="4909597" y="3105832"/>
            <a:ext cx="7137261" cy="646331"/>
          </a:xfrm>
          <a:prstGeom prst="rect">
            <a:avLst/>
          </a:prstGeom>
        </p:spPr>
        <p:txBody>
          <a:bodyPr wrap="square">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Calibri" panose="020F0502020204030204"/>
                <a:ea typeface="+mn-ea"/>
                <a:cs typeface="+mn-cs"/>
              </a:rPr>
              <a:t>Section 6: Evaluation and Monitoring</a:t>
            </a:r>
          </a:p>
        </p:txBody>
      </p:sp>
    </p:spTree>
    <p:extLst>
      <p:ext uri="{BB962C8B-B14F-4D97-AF65-F5344CB8AC3E}">
        <p14:creationId xmlns:p14="http://schemas.microsoft.com/office/powerpoint/2010/main" val="11452715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0987-FA1C-01DF-B156-9FA42F29B0D7}"/>
              </a:ext>
            </a:extLst>
          </p:cNvPr>
          <p:cNvSpPr>
            <a:spLocks noGrp="1"/>
          </p:cNvSpPr>
          <p:nvPr>
            <p:ph type="title"/>
          </p:nvPr>
        </p:nvSpPr>
        <p:spPr/>
        <p:txBody>
          <a:bodyPr/>
          <a:lstStyle/>
          <a:p>
            <a:r>
              <a:rPr lang="en-US" dirty="0"/>
              <a:t>RAG Evaluation</a:t>
            </a:r>
          </a:p>
        </p:txBody>
      </p:sp>
      <p:pic>
        <p:nvPicPr>
          <p:cNvPr id="11266" name="Picture 2">
            <a:extLst>
              <a:ext uri="{FF2B5EF4-FFF2-40B4-BE49-F238E27FC236}">
                <a16:creationId xmlns:a16="http://schemas.microsoft.com/office/drawing/2014/main" id="{9F37FF9E-B261-927E-2D7B-43AA5A180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72671"/>
            <a:ext cx="7577667" cy="5020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2021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326A-7277-D172-1797-CD06D58729AB}"/>
              </a:ext>
            </a:extLst>
          </p:cNvPr>
          <p:cNvSpPr>
            <a:spLocks noGrp="1"/>
          </p:cNvSpPr>
          <p:nvPr>
            <p:ph type="title"/>
          </p:nvPr>
        </p:nvSpPr>
        <p:spPr/>
        <p:txBody>
          <a:bodyPr>
            <a:normAutofit/>
          </a:bodyPr>
          <a:lstStyle/>
          <a:p>
            <a:r>
              <a:rPr lang="en-US" b="1" dirty="0"/>
              <a:t>What Are We Evaluating?</a:t>
            </a:r>
            <a:br>
              <a:rPr lang="en-US" b="1" dirty="0"/>
            </a:br>
            <a:endParaRPr lang="en-US" dirty="0"/>
          </a:p>
        </p:txBody>
      </p:sp>
      <p:sp>
        <p:nvSpPr>
          <p:cNvPr id="3" name="Content Placeholder 2">
            <a:extLst>
              <a:ext uri="{FF2B5EF4-FFF2-40B4-BE49-F238E27FC236}">
                <a16:creationId xmlns:a16="http://schemas.microsoft.com/office/drawing/2014/main" id="{2FC97E34-1ABD-5D96-FD4B-159F3DF71D43}"/>
              </a:ext>
            </a:extLst>
          </p:cNvPr>
          <p:cNvSpPr>
            <a:spLocks noGrp="1"/>
          </p:cNvSpPr>
          <p:nvPr>
            <p:ph idx="1"/>
          </p:nvPr>
        </p:nvSpPr>
        <p:spPr/>
        <p:txBody>
          <a:bodyPr/>
          <a:lstStyle/>
          <a:p>
            <a:r>
              <a:rPr lang="en-US" dirty="0"/>
              <a:t>A RAG application has </a:t>
            </a:r>
            <a:r>
              <a:rPr lang="en-US" b="1" dirty="0"/>
              <a:t>two critical sub-systems</a:t>
            </a:r>
            <a:r>
              <a:rPr lang="en-US" dirty="0"/>
              <a:t> to evaluate:</a:t>
            </a:r>
            <a:br>
              <a:rPr lang="en-US" dirty="0"/>
            </a:br>
            <a:endParaRPr lang="en-US" dirty="0"/>
          </a:p>
        </p:txBody>
      </p:sp>
      <p:pic>
        <p:nvPicPr>
          <p:cNvPr id="12290" name="Picture 2">
            <a:extLst>
              <a:ext uri="{FF2B5EF4-FFF2-40B4-BE49-F238E27FC236}">
                <a16:creationId xmlns:a16="http://schemas.microsoft.com/office/drawing/2014/main" id="{2EC0482B-28FB-B471-891A-9E90F7529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605579"/>
            <a:ext cx="10171387" cy="1997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6686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57028-25DF-5984-4613-FD1E80862F73}"/>
              </a:ext>
            </a:extLst>
          </p:cNvPr>
          <p:cNvSpPr>
            <a:spLocks noGrp="1"/>
          </p:cNvSpPr>
          <p:nvPr>
            <p:ph type="title"/>
          </p:nvPr>
        </p:nvSpPr>
        <p:spPr/>
        <p:txBody>
          <a:bodyPr/>
          <a:lstStyle/>
          <a:p>
            <a:r>
              <a:rPr lang="en-US" b="1" dirty="0"/>
              <a:t>Core Evaluation Metrics</a:t>
            </a:r>
            <a:endParaRPr lang="en-US" dirty="0"/>
          </a:p>
        </p:txBody>
      </p:sp>
      <p:sp>
        <p:nvSpPr>
          <p:cNvPr id="3" name="Content Placeholder 2">
            <a:extLst>
              <a:ext uri="{FF2B5EF4-FFF2-40B4-BE49-F238E27FC236}">
                <a16:creationId xmlns:a16="http://schemas.microsoft.com/office/drawing/2014/main" id="{8523235E-507A-2DF0-0688-63B0919300BD}"/>
              </a:ext>
            </a:extLst>
          </p:cNvPr>
          <p:cNvSpPr>
            <a:spLocks noGrp="1"/>
          </p:cNvSpPr>
          <p:nvPr>
            <p:ph idx="1"/>
          </p:nvPr>
        </p:nvSpPr>
        <p:spPr>
          <a:xfrm>
            <a:off x="852650" y="1419060"/>
            <a:ext cx="10639097" cy="4351338"/>
          </a:xfrm>
        </p:spPr>
        <p:txBody>
          <a:bodyPr/>
          <a:lstStyle/>
          <a:p>
            <a:pPr marL="0" indent="0">
              <a:buNone/>
            </a:pPr>
            <a:r>
              <a:rPr lang="en-US" sz="2000" b="1" dirty="0"/>
              <a:t>A. Retrieval Evaluation</a:t>
            </a:r>
          </a:p>
          <a:p>
            <a:endParaRPr lang="en-US" dirty="0"/>
          </a:p>
        </p:txBody>
      </p:sp>
      <p:pic>
        <p:nvPicPr>
          <p:cNvPr id="13314" name="Picture 2">
            <a:extLst>
              <a:ext uri="{FF2B5EF4-FFF2-40B4-BE49-F238E27FC236}">
                <a16:creationId xmlns:a16="http://schemas.microsoft.com/office/drawing/2014/main" id="{50821BA9-1243-2CA7-8197-BEF95BB15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78" y="1826090"/>
            <a:ext cx="6141013" cy="18532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247884-E8C1-65AB-F9D0-229C5979B28E}"/>
              </a:ext>
            </a:extLst>
          </p:cNvPr>
          <p:cNvSpPr txBox="1"/>
          <p:nvPr/>
        </p:nvSpPr>
        <p:spPr>
          <a:xfrm>
            <a:off x="838199" y="3841047"/>
            <a:ext cx="6093372" cy="369332"/>
          </a:xfrm>
          <a:prstGeom prst="rect">
            <a:avLst/>
          </a:prstGeom>
          <a:noFill/>
        </p:spPr>
        <p:txBody>
          <a:bodyPr wrap="square">
            <a:spAutoFit/>
          </a:bodyPr>
          <a:lstStyle/>
          <a:p>
            <a:pPr marL="0" indent="0">
              <a:buNone/>
            </a:pPr>
            <a:r>
              <a:rPr lang="en-US" b="1" dirty="0"/>
              <a:t>B</a:t>
            </a:r>
            <a:r>
              <a:rPr lang="en-US" sz="1800" b="1" dirty="0"/>
              <a:t>. G</a:t>
            </a:r>
            <a:r>
              <a:rPr lang="en-US" b="1" dirty="0"/>
              <a:t>eneration</a:t>
            </a:r>
            <a:r>
              <a:rPr lang="en-US" sz="1800" b="1" dirty="0"/>
              <a:t> Evaluation</a:t>
            </a:r>
          </a:p>
        </p:txBody>
      </p:sp>
      <p:pic>
        <p:nvPicPr>
          <p:cNvPr id="13318" name="Picture 6">
            <a:extLst>
              <a:ext uri="{FF2B5EF4-FFF2-40B4-BE49-F238E27FC236}">
                <a16:creationId xmlns:a16="http://schemas.microsoft.com/office/drawing/2014/main" id="{53750572-DC17-E04C-E6BE-C5652F755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378" y="4210379"/>
            <a:ext cx="53340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5330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223F0-E527-7A05-120F-F3FE92E1E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4E085-BD4A-E954-D6FE-5B1586CCA517}"/>
              </a:ext>
            </a:extLst>
          </p:cNvPr>
          <p:cNvSpPr>
            <a:spLocks noGrp="1"/>
          </p:cNvSpPr>
          <p:nvPr>
            <p:ph type="title"/>
          </p:nvPr>
        </p:nvSpPr>
        <p:spPr>
          <a:xfrm>
            <a:off x="852650" y="93497"/>
            <a:ext cx="10515600" cy="1325563"/>
          </a:xfrm>
        </p:spPr>
        <p:txBody>
          <a:bodyPr/>
          <a:lstStyle/>
          <a:p>
            <a:r>
              <a:rPr lang="en-US" b="1" dirty="0"/>
              <a:t>Quantitative Evaluation Metrics</a:t>
            </a:r>
            <a:endParaRPr lang="en-US" dirty="0"/>
          </a:p>
        </p:txBody>
      </p:sp>
      <p:sp>
        <p:nvSpPr>
          <p:cNvPr id="3" name="Content Placeholder 2">
            <a:extLst>
              <a:ext uri="{FF2B5EF4-FFF2-40B4-BE49-F238E27FC236}">
                <a16:creationId xmlns:a16="http://schemas.microsoft.com/office/drawing/2014/main" id="{27173209-08F7-B885-6D49-53D1C3D88E4C}"/>
              </a:ext>
            </a:extLst>
          </p:cNvPr>
          <p:cNvSpPr>
            <a:spLocks noGrp="1"/>
          </p:cNvSpPr>
          <p:nvPr>
            <p:ph idx="1"/>
          </p:nvPr>
        </p:nvSpPr>
        <p:spPr>
          <a:xfrm>
            <a:off x="852650" y="1103750"/>
            <a:ext cx="10639097" cy="4351338"/>
          </a:xfrm>
        </p:spPr>
        <p:txBody>
          <a:bodyPr>
            <a:noAutofit/>
          </a:bodyPr>
          <a:lstStyle/>
          <a:p>
            <a:pPr marL="0" indent="0">
              <a:buNone/>
            </a:pPr>
            <a:r>
              <a:rPr lang="en-US" sz="1800" b="1" dirty="0"/>
              <a:t>A. Using Synthetic Q&amp;A Pairs</a:t>
            </a:r>
          </a:p>
          <a:p>
            <a:pPr marL="0" indent="0">
              <a:buNone/>
            </a:pPr>
            <a:r>
              <a:rPr lang="en-US" sz="1800" dirty="0"/>
              <a:t>Create a dataset of known:</a:t>
            </a:r>
          </a:p>
          <a:p>
            <a:r>
              <a:rPr lang="en-US" sz="1800" dirty="0"/>
              <a:t>Questions</a:t>
            </a:r>
          </a:p>
          <a:p>
            <a:r>
              <a:rPr lang="en-US" sz="1800" dirty="0"/>
              <a:t>Expected answers</a:t>
            </a:r>
          </a:p>
          <a:p>
            <a:r>
              <a:rPr lang="en-US" sz="1800" dirty="0"/>
              <a:t>Relevant document chunks</a:t>
            </a:r>
          </a:p>
          <a:p>
            <a:pPr marL="0" indent="0">
              <a:buNone/>
            </a:pPr>
            <a:r>
              <a:rPr lang="en-US" sz="1800" dirty="0"/>
              <a:t>Then test the system for:</a:t>
            </a:r>
          </a:p>
          <a:p>
            <a:r>
              <a:rPr lang="en-US" sz="1800" dirty="0"/>
              <a:t>Retrieval accuracy (was the expected document returned?)</a:t>
            </a:r>
          </a:p>
          <a:p>
            <a:r>
              <a:rPr lang="en-US" sz="1800" dirty="0"/>
              <a:t>Answer correctness (was the final output within expectations?)</a:t>
            </a:r>
          </a:p>
          <a:p>
            <a:pPr marL="0" indent="0">
              <a:buNone/>
            </a:pPr>
            <a:endParaRPr lang="en-US" sz="1800" dirty="0"/>
          </a:p>
          <a:p>
            <a:pPr marL="0" indent="0">
              <a:buNone/>
            </a:pPr>
            <a:r>
              <a:rPr lang="en-US" sz="1800" dirty="0"/>
              <a:t>This enables </a:t>
            </a:r>
            <a:r>
              <a:rPr lang="en-US" sz="1800" b="1" dirty="0"/>
              <a:t>automated evaluation</a:t>
            </a:r>
            <a:r>
              <a:rPr lang="en-US" sz="1800" dirty="0"/>
              <a:t> without needing human labels every time.</a:t>
            </a:r>
          </a:p>
          <a:p>
            <a:pPr marL="0" indent="0">
              <a:buNone/>
            </a:pPr>
            <a:endParaRPr lang="en-US" sz="1800" b="1" dirty="0"/>
          </a:p>
          <a:p>
            <a:pPr marL="0" indent="0">
              <a:buNone/>
            </a:pPr>
            <a:r>
              <a:rPr lang="en-US" sz="1800" b="1" dirty="0"/>
              <a:t>B. Embedding Similarity Check</a:t>
            </a:r>
          </a:p>
          <a:p>
            <a:r>
              <a:rPr lang="en-US" sz="1800" dirty="0"/>
              <a:t>Use cosine similarity between:</a:t>
            </a:r>
          </a:p>
          <a:p>
            <a:r>
              <a:rPr lang="en-US" sz="1800" dirty="0"/>
              <a:t>The query vector and the top-k chunk vectors</a:t>
            </a:r>
          </a:p>
          <a:p>
            <a:r>
              <a:rPr lang="en-US" sz="1800" dirty="0"/>
              <a:t>The response and the retrieved chunks</a:t>
            </a:r>
          </a:p>
          <a:p>
            <a:pPr marL="0" indent="0">
              <a:buNone/>
            </a:pPr>
            <a:endParaRPr lang="en-US" sz="1800" dirty="0"/>
          </a:p>
        </p:txBody>
      </p:sp>
    </p:spTree>
    <p:extLst>
      <p:ext uri="{BB962C8B-B14F-4D97-AF65-F5344CB8AC3E}">
        <p14:creationId xmlns:p14="http://schemas.microsoft.com/office/powerpoint/2010/main" val="375845384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BCCB-A8ED-25EF-63B1-840E6DFDF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BB9F1-5700-D28C-EBB9-0DB76A90F61B}"/>
              </a:ext>
            </a:extLst>
          </p:cNvPr>
          <p:cNvSpPr>
            <a:spLocks noGrp="1"/>
          </p:cNvSpPr>
          <p:nvPr>
            <p:ph type="title"/>
          </p:nvPr>
        </p:nvSpPr>
        <p:spPr>
          <a:xfrm>
            <a:off x="852650" y="93497"/>
            <a:ext cx="10515600" cy="1325563"/>
          </a:xfrm>
        </p:spPr>
        <p:txBody>
          <a:bodyPr/>
          <a:lstStyle/>
          <a:p>
            <a:r>
              <a:rPr lang="en-US" b="1" dirty="0"/>
              <a:t>Quantitative Evaluation Metrics</a:t>
            </a:r>
            <a:endParaRPr lang="en-US" dirty="0"/>
          </a:p>
        </p:txBody>
      </p:sp>
      <p:sp>
        <p:nvSpPr>
          <p:cNvPr id="3" name="Content Placeholder 2">
            <a:extLst>
              <a:ext uri="{FF2B5EF4-FFF2-40B4-BE49-F238E27FC236}">
                <a16:creationId xmlns:a16="http://schemas.microsoft.com/office/drawing/2014/main" id="{1ABB4508-0A36-08A2-1CFA-F508356CCE7C}"/>
              </a:ext>
            </a:extLst>
          </p:cNvPr>
          <p:cNvSpPr>
            <a:spLocks noGrp="1"/>
          </p:cNvSpPr>
          <p:nvPr>
            <p:ph idx="1"/>
          </p:nvPr>
        </p:nvSpPr>
        <p:spPr>
          <a:xfrm>
            <a:off x="852650" y="1103750"/>
            <a:ext cx="10639097" cy="4351338"/>
          </a:xfrm>
        </p:spPr>
        <p:txBody>
          <a:bodyPr>
            <a:noAutofit/>
          </a:bodyPr>
          <a:lstStyle/>
          <a:p>
            <a:pPr marL="0" indent="0">
              <a:buNone/>
            </a:pPr>
            <a:r>
              <a:rPr lang="en-US" sz="1800" b="1" dirty="0"/>
              <a:t>C. Automated LLM Grading</a:t>
            </a:r>
          </a:p>
          <a:p>
            <a:r>
              <a:rPr lang="en-US" sz="1800" dirty="0"/>
              <a:t>Use an LLM like </a:t>
            </a:r>
            <a:r>
              <a:rPr lang="en-US" sz="1800" dirty="0" err="1"/>
              <a:t>ChatDatabricks</a:t>
            </a:r>
            <a:r>
              <a:rPr lang="en-US" sz="1800" dirty="0"/>
              <a:t> to </a:t>
            </a:r>
            <a:r>
              <a:rPr lang="en-US" sz="1800" b="1" dirty="0"/>
              <a:t>grade</a:t>
            </a:r>
            <a:r>
              <a:rPr lang="en-US" sz="1800" dirty="0"/>
              <a:t> another LLM’s response:</a:t>
            </a:r>
          </a:p>
        </p:txBody>
      </p:sp>
      <p:pic>
        <p:nvPicPr>
          <p:cNvPr id="5" name="Picture 4" descr="A screenshot of a computer code&#10;&#10;AI-generated content may be incorrect.">
            <a:extLst>
              <a:ext uri="{FF2B5EF4-FFF2-40B4-BE49-F238E27FC236}">
                <a16:creationId xmlns:a16="http://schemas.microsoft.com/office/drawing/2014/main" id="{311C65A8-FCF8-57FC-188C-0A4C6CBB4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501" y="1832189"/>
            <a:ext cx="2515566" cy="2086645"/>
          </a:xfrm>
          <a:prstGeom prst="rect">
            <a:avLst/>
          </a:prstGeom>
        </p:spPr>
      </p:pic>
      <p:sp>
        <p:nvSpPr>
          <p:cNvPr id="7" name="TextBox 6">
            <a:extLst>
              <a:ext uri="{FF2B5EF4-FFF2-40B4-BE49-F238E27FC236}">
                <a16:creationId xmlns:a16="http://schemas.microsoft.com/office/drawing/2014/main" id="{B2D3725D-FE4E-325E-6454-4499480BE52E}"/>
              </a:ext>
            </a:extLst>
          </p:cNvPr>
          <p:cNvSpPr txBox="1"/>
          <p:nvPr/>
        </p:nvSpPr>
        <p:spPr>
          <a:xfrm>
            <a:off x="1014248" y="4015787"/>
            <a:ext cx="6096000" cy="1852430"/>
          </a:xfrm>
          <a:prstGeom prst="rect">
            <a:avLst/>
          </a:prstGeom>
          <a:noFill/>
        </p:spPr>
        <p:txBody>
          <a:bodyPr wrap="square">
            <a:spAutoFit/>
          </a:bodyPr>
          <a:lstStyle/>
          <a:p>
            <a:pPr algn="l">
              <a:lnSpc>
                <a:spcPts val="2250"/>
              </a:lnSpc>
              <a:buNone/>
            </a:pPr>
            <a:r>
              <a:rPr lang="en-US" b="1" i="0" dirty="0">
                <a:solidFill>
                  <a:srgbClr val="242424"/>
                </a:solidFill>
                <a:effectLst/>
                <a:latin typeface="sohne"/>
              </a:rPr>
              <a:t>4. Human-in-the-Loop Evaluation</a:t>
            </a:r>
          </a:p>
          <a:p>
            <a:pPr algn="l">
              <a:lnSpc>
                <a:spcPts val="2400"/>
              </a:lnSpc>
              <a:buNone/>
            </a:pPr>
            <a:r>
              <a:rPr lang="en-US" b="0" i="0" dirty="0">
                <a:solidFill>
                  <a:srgbClr val="242424"/>
                </a:solidFill>
                <a:effectLst/>
                <a:latin typeface="source-serif-pro"/>
              </a:rPr>
              <a:t>Human evaluation is </a:t>
            </a:r>
            <a:r>
              <a:rPr lang="en-US" b="1" i="0" dirty="0">
                <a:solidFill>
                  <a:srgbClr val="242424"/>
                </a:solidFill>
                <a:effectLst/>
                <a:latin typeface="source-serif-pro"/>
              </a:rPr>
              <a:t>slow but essential</a:t>
            </a:r>
            <a:r>
              <a:rPr lang="en-US" b="0" i="0" dirty="0">
                <a:solidFill>
                  <a:srgbClr val="242424"/>
                </a:solidFill>
                <a:effectLst/>
                <a:latin typeface="source-serif-pro"/>
              </a:rPr>
              <a:t> for:</a:t>
            </a:r>
          </a:p>
          <a:p>
            <a:pPr algn="l">
              <a:lnSpc>
                <a:spcPts val="2400"/>
              </a:lnSpc>
              <a:buFont typeface="Arial" panose="020B0604020202020204" pitchFamily="34" charset="0"/>
              <a:buChar char="•"/>
            </a:pPr>
            <a:r>
              <a:rPr lang="en-US" b="0" i="0" dirty="0">
                <a:solidFill>
                  <a:srgbClr val="242424"/>
                </a:solidFill>
                <a:effectLst/>
                <a:latin typeface="source-serif-pro"/>
              </a:rPr>
              <a:t>New domains</a:t>
            </a:r>
          </a:p>
          <a:p>
            <a:pPr algn="l">
              <a:lnSpc>
                <a:spcPts val="2400"/>
              </a:lnSpc>
              <a:buFont typeface="Arial" panose="020B0604020202020204" pitchFamily="34" charset="0"/>
              <a:buChar char="•"/>
            </a:pPr>
            <a:r>
              <a:rPr lang="en-US" b="0" i="0" dirty="0">
                <a:solidFill>
                  <a:srgbClr val="242424"/>
                </a:solidFill>
                <a:effectLst/>
                <a:latin typeface="source-serif-pro"/>
              </a:rPr>
              <a:t>Regulated answers</a:t>
            </a:r>
          </a:p>
          <a:p>
            <a:pPr algn="l">
              <a:lnSpc>
                <a:spcPts val="2400"/>
              </a:lnSpc>
              <a:buFont typeface="Arial" panose="020B0604020202020204" pitchFamily="34" charset="0"/>
              <a:buChar char="•"/>
            </a:pPr>
            <a:r>
              <a:rPr lang="en-US" b="0" i="0" dirty="0">
                <a:solidFill>
                  <a:srgbClr val="242424"/>
                </a:solidFill>
                <a:effectLst/>
                <a:latin typeface="source-serif-pro"/>
              </a:rPr>
              <a:t>Edge-case queries</a:t>
            </a:r>
          </a:p>
          <a:p>
            <a:pPr algn="l">
              <a:lnSpc>
                <a:spcPts val="1800"/>
              </a:lnSpc>
              <a:buNone/>
            </a:pPr>
            <a:r>
              <a:rPr lang="en-US" b="1" i="0" dirty="0">
                <a:solidFill>
                  <a:srgbClr val="242424"/>
                </a:solidFill>
                <a:effectLst/>
                <a:latin typeface="sohne"/>
              </a:rPr>
              <a:t>Techniques:</a:t>
            </a:r>
          </a:p>
        </p:txBody>
      </p:sp>
    </p:spTree>
    <p:extLst>
      <p:ext uri="{BB962C8B-B14F-4D97-AF65-F5344CB8AC3E}">
        <p14:creationId xmlns:p14="http://schemas.microsoft.com/office/powerpoint/2010/main" val="41226774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6E96-B5F5-BDD0-5191-708688046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F1B04-BFBA-AF88-1929-B90A47982FC7}"/>
              </a:ext>
            </a:extLst>
          </p:cNvPr>
          <p:cNvSpPr>
            <a:spLocks noGrp="1"/>
          </p:cNvSpPr>
          <p:nvPr>
            <p:ph type="title"/>
          </p:nvPr>
        </p:nvSpPr>
        <p:spPr>
          <a:xfrm>
            <a:off x="852650" y="93497"/>
            <a:ext cx="10515600" cy="1325563"/>
          </a:xfrm>
        </p:spPr>
        <p:txBody>
          <a:bodyPr/>
          <a:lstStyle/>
          <a:p>
            <a:r>
              <a:rPr lang="en-US" b="1" dirty="0">
                <a:solidFill>
                  <a:srgbClr val="242424"/>
                </a:solidFill>
                <a:latin typeface="sohne"/>
              </a:rPr>
              <a:t>Human-in-the-Loop Evaluation</a:t>
            </a:r>
            <a:endParaRPr lang="en-US" dirty="0"/>
          </a:p>
        </p:txBody>
      </p:sp>
      <p:sp>
        <p:nvSpPr>
          <p:cNvPr id="3" name="Content Placeholder 2">
            <a:extLst>
              <a:ext uri="{FF2B5EF4-FFF2-40B4-BE49-F238E27FC236}">
                <a16:creationId xmlns:a16="http://schemas.microsoft.com/office/drawing/2014/main" id="{FCACC947-FFED-3893-BE94-32D3A6BA3237}"/>
              </a:ext>
            </a:extLst>
          </p:cNvPr>
          <p:cNvSpPr>
            <a:spLocks noGrp="1"/>
          </p:cNvSpPr>
          <p:nvPr>
            <p:ph idx="1"/>
          </p:nvPr>
        </p:nvSpPr>
        <p:spPr>
          <a:xfrm>
            <a:off x="852650" y="1103750"/>
            <a:ext cx="10639097" cy="4351338"/>
          </a:xfrm>
        </p:spPr>
        <p:txBody>
          <a:bodyPr>
            <a:noAutofit/>
          </a:bodyPr>
          <a:lstStyle/>
          <a:p>
            <a:pPr>
              <a:lnSpc>
                <a:spcPts val="2400"/>
              </a:lnSpc>
              <a:buNone/>
            </a:pPr>
            <a:r>
              <a:rPr lang="en-US" sz="1800" dirty="0">
                <a:solidFill>
                  <a:srgbClr val="242424"/>
                </a:solidFill>
                <a:latin typeface="source-serif-pro"/>
              </a:rPr>
              <a:t>Human evaluation is </a:t>
            </a:r>
            <a:r>
              <a:rPr lang="en-US" sz="1800" b="1" dirty="0">
                <a:solidFill>
                  <a:srgbClr val="242424"/>
                </a:solidFill>
                <a:latin typeface="source-serif-pro"/>
              </a:rPr>
              <a:t>slow but essential</a:t>
            </a:r>
            <a:r>
              <a:rPr lang="en-US" sz="1800" dirty="0">
                <a:solidFill>
                  <a:srgbClr val="242424"/>
                </a:solidFill>
                <a:latin typeface="source-serif-pro"/>
              </a:rPr>
              <a:t> for:</a:t>
            </a:r>
          </a:p>
          <a:p>
            <a:pPr>
              <a:lnSpc>
                <a:spcPts val="2400"/>
              </a:lnSpc>
            </a:pPr>
            <a:r>
              <a:rPr lang="en-US" sz="1800" dirty="0">
                <a:solidFill>
                  <a:srgbClr val="242424"/>
                </a:solidFill>
                <a:latin typeface="source-serif-pro"/>
              </a:rPr>
              <a:t>New domains</a:t>
            </a:r>
          </a:p>
          <a:p>
            <a:pPr>
              <a:lnSpc>
                <a:spcPts val="2400"/>
              </a:lnSpc>
            </a:pPr>
            <a:r>
              <a:rPr lang="en-US" sz="1800" dirty="0">
                <a:solidFill>
                  <a:srgbClr val="242424"/>
                </a:solidFill>
                <a:latin typeface="source-serif-pro"/>
              </a:rPr>
              <a:t>Regulated answers</a:t>
            </a:r>
          </a:p>
          <a:p>
            <a:pPr>
              <a:lnSpc>
                <a:spcPts val="2400"/>
              </a:lnSpc>
            </a:pPr>
            <a:r>
              <a:rPr lang="en-US" sz="1800" dirty="0">
                <a:solidFill>
                  <a:srgbClr val="242424"/>
                </a:solidFill>
                <a:latin typeface="source-serif-pro"/>
              </a:rPr>
              <a:t>Edge-case queries</a:t>
            </a:r>
          </a:p>
          <a:p>
            <a:pPr>
              <a:lnSpc>
                <a:spcPts val="1800"/>
              </a:lnSpc>
              <a:buNone/>
            </a:pPr>
            <a:r>
              <a:rPr lang="en-US" sz="1800" b="1" dirty="0">
                <a:solidFill>
                  <a:srgbClr val="242424"/>
                </a:solidFill>
                <a:latin typeface="sohne"/>
              </a:rPr>
              <a:t>Techniques:</a:t>
            </a:r>
          </a:p>
        </p:txBody>
      </p:sp>
      <p:pic>
        <p:nvPicPr>
          <p:cNvPr id="14338" name="Picture 2">
            <a:extLst>
              <a:ext uri="{FF2B5EF4-FFF2-40B4-BE49-F238E27FC236}">
                <a16:creationId xmlns:a16="http://schemas.microsoft.com/office/drawing/2014/main" id="{B0A7ED68-02FB-862D-D889-5830F4449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7" y="3279418"/>
            <a:ext cx="8661909" cy="2474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4877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3A70-E9C1-256B-D105-0956D189F4C7}"/>
              </a:ext>
            </a:extLst>
          </p:cNvPr>
          <p:cNvSpPr>
            <a:spLocks noGrp="1"/>
          </p:cNvSpPr>
          <p:nvPr>
            <p:ph type="title"/>
          </p:nvPr>
        </p:nvSpPr>
        <p:spPr>
          <a:xfrm>
            <a:off x="838200" y="365125"/>
            <a:ext cx="11112062" cy="1325563"/>
          </a:xfrm>
        </p:spPr>
        <p:txBody>
          <a:bodyPr/>
          <a:lstStyle/>
          <a:p>
            <a:r>
              <a:rPr lang="en-US" b="1" dirty="0"/>
              <a:t>Building an Evaluation Pipeline on Databricks</a:t>
            </a:r>
            <a:endParaRPr lang="en-US" dirty="0"/>
          </a:p>
        </p:txBody>
      </p:sp>
      <p:sp>
        <p:nvSpPr>
          <p:cNvPr id="3" name="Content Placeholder 2">
            <a:extLst>
              <a:ext uri="{FF2B5EF4-FFF2-40B4-BE49-F238E27FC236}">
                <a16:creationId xmlns:a16="http://schemas.microsoft.com/office/drawing/2014/main" id="{82E886FD-352B-50C6-8C80-6DA515EB4957}"/>
              </a:ext>
            </a:extLst>
          </p:cNvPr>
          <p:cNvSpPr>
            <a:spLocks noGrp="1"/>
          </p:cNvSpPr>
          <p:nvPr>
            <p:ph idx="1"/>
          </p:nvPr>
        </p:nvSpPr>
        <p:spPr/>
        <p:txBody>
          <a:bodyPr>
            <a:normAutofit lnSpcReduction="10000"/>
          </a:bodyPr>
          <a:lstStyle/>
          <a:p>
            <a:pPr marL="0" indent="0">
              <a:buNone/>
            </a:pPr>
            <a:r>
              <a:rPr lang="en-US" sz="2400" b="1" dirty="0"/>
              <a:t>Step-by-Step:</a:t>
            </a:r>
          </a:p>
          <a:p>
            <a:r>
              <a:rPr lang="en-US" sz="2400" b="1" dirty="0"/>
              <a:t>Log each RAG response</a:t>
            </a:r>
            <a:r>
              <a:rPr lang="en-US" sz="2400" dirty="0"/>
              <a:t> in a Delta</a:t>
            </a:r>
          </a:p>
          <a:p>
            <a:pPr marL="457200" lvl="1" indent="0">
              <a:buNone/>
            </a:pPr>
            <a:r>
              <a:rPr lang="en-US" sz="2000" dirty="0"/>
              <a:t>Table: query, </a:t>
            </a:r>
            <a:r>
              <a:rPr lang="en-US" sz="2000" dirty="0" err="1"/>
              <a:t>llm_response</a:t>
            </a:r>
            <a:r>
              <a:rPr lang="en-US" sz="2000" dirty="0"/>
              <a:t>, </a:t>
            </a:r>
            <a:r>
              <a:rPr lang="en-US" sz="2000" dirty="0" err="1"/>
              <a:t>retrieved_chunks</a:t>
            </a:r>
            <a:r>
              <a:rPr lang="en-US" sz="2000" dirty="0"/>
              <a:t>, timestamp, </a:t>
            </a:r>
            <a:r>
              <a:rPr lang="en-US" sz="2000" dirty="0" err="1"/>
              <a:t>prompt_version</a:t>
            </a:r>
            <a:endParaRPr lang="en-US" sz="2000" dirty="0"/>
          </a:p>
          <a:p>
            <a:r>
              <a:rPr lang="en-US" sz="2400" b="1" dirty="0"/>
              <a:t>Add synthetic ground truth</a:t>
            </a:r>
            <a:r>
              <a:rPr lang="en-US" sz="2400" dirty="0"/>
              <a:t> for internal tests: </a:t>
            </a:r>
          </a:p>
          <a:p>
            <a:pPr marL="457200" lvl="1" indent="0">
              <a:buNone/>
            </a:pPr>
            <a:r>
              <a:rPr lang="en-US" sz="2000" dirty="0"/>
              <a:t>Store as </a:t>
            </a:r>
            <a:r>
              <a:rPr lang="en-US" sz="2000" dirty="0" err="1"/>
              <a:t>expected_answer</a:t>
            </a:r>
            <a:r>
              <a:rPr lang="en-US" sz="2000" dirty="0"/>
              <a:t>, </a:t>
            </a:r>
            <a:r>
              <a:rPr lang="en-US" sz="2000" dirty="0" err="1"/>
              <a:t>expected_chunks</a:t>
            </a:r>
            <a:endParaRPr lang="en-US" sz="2000" dirty="0"/>
          </a:p>
          <a:p>
            <a:r>
              <a:rPr lang="en-US" sz="2400" b="1" dirty="0"/>
              <a:t>Compute metrics using PySpark: </a:t>
            </a:r>
          </a:p>
          <a:p>
            <a:pPr marL="457200" lvl="1" indent="0">
              <a:buNone/>
            </a:pPr>
            <a:r>
              <a:rPr lang="en-US" sz="2000" dirty="0"/>
              <a:t>Similarity, </a:t>
            </a:r>
            <a:r>
              <a:rPr lang="en-US" sz="2000" dirty="0" err="1"/>
              <a:t>Recall@K</a:t>
            </a:r>
            <a:r>
              <a:rPr lang="en-US" sz="2000" dirty="0"/>
              <a:t>, BLEU/ROUGE scores (optional)</a:t>
            </a:r>
          </a:p>
          <a:p>
            <a:r>
              <a:rPr lang="en-US" sz="2400" b="1" dirty="0"/>
              <a:t>Visualize metrics using Databricks SQL or dashboards: </a:t>
            </a:r>
          </a:p>
          <a:p>
            <a:pPr marL="457200" lvl="1" indent="0">
              <a:buNone/>
            </a:pPr>
            <a:r>
              <a:rPr lang="en-US" sz="2000" dirty="0"/>
              <a:t>Top failed queries, drift over time</a:t>
            </a:r>
          </a:p>
          <a:p>
            <a:r>
              <a:rPr lang="en-US" sz="2400" b="1" dirty="0"/>
              <a:t>Flag outliers for manual review: </a:t>
            </a:r>
          </a:p>
          <a:p>
            <a:pPr marL="457200" lvl="1" indent="0">
              <a:buNone/>
            </a:pPr>
            <a:r>
              <a:rPr lang="en-US" sz="2000" dirty="0"/>
              <a:t>Low-confidence responses → push to review UI</a:t>
            </a:r>
          </a:p>
        </p:txBody>
      </p:sp>
    </p:spTree>
    <p:extLst>
      <p:ext uri="{BB962C8B-B14F-4D97-AF65-F5344CB8AC3E}">
        <p14:creationId xmlns:p14="http://schemas.microsoft.com/office/powerpoint/2010/main" val="331883427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A26A6-A0A5-3197-1F89-046B7C3D4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946C9-7825-7030-5259-F7383AD14CD0}"/>
              </a:ext>
            </a:extLst>
          </p:cNvPr>
          <p:cNvSpPr>
            <a:spLocks noGrp="1"/>
          </p:cNvSpPr>
          <p:nvPr>
            <p:ph type="title"/>
          </p:nvPr>
        </p:nvSpPr>
        <p:spPr/>
        <p:txBody>
          <a:bodyPr/>
          <a:lstStyle/>
          <a:p>
            <a:r>
              <a:rPr lang="en-US" b="1" dirty="0"/>
              <a:t>Building an Evaluation Pipeline on Databricks</a:t>
            </a:r>
            <a:endParaRPr lang="en-US" dirty="0"/>
          </a:p>
        </p:txBody>
      </p:sp>
      <p:sp>
        <p:nvSpPr>
          <p:cNvPr id="3" name="Content Placeholder 2">
            <a:extLst>
              <a:ext uri="{FF2B5EF4-FFF2-40B4-BE49-F238E27FC236}">
                <a16:creationId xmlns:a16="http://schemas.microsoft.com/office/drawing/2014/main" id="{02152CA0-2A1E-9A20-C6E5-F08308AED2B9}"/>
              </a:ext>
            </a:extLst>
          </p:cNvPr>
          <p:cNvSpPr>
            <a:spLocks noGrp="1"/>
          </p:cNvSpPr>
          <p:nvPr>
            <p:ph idx="1"/>
          </p:nvPr>
        </p:nvSpPr>
        <p:spPr/>
        <p:txBody>
          <a:bodyPr>
            <a:normAutofit/>
          </a:bodyPr>
          <a:lstStyle/>
          <a:p>
            <a:pPr marL="0" indent="0">
              <a:buNone/>
            </a:pPr>
            <a:r>
              <a:rPr lang="en-US" b="1" dirty="0"/>
              <a:t>Sample Evaluation Table Schema (Delta)</a:t>
            </a:r>
          </a:p>
        </p:txBody>
      </p:sp>
      <p:pic>
        <p:nvPicPr>
          <p:cNvPr id="15362" name="Picture 2">
            <a:extLst>
              <a:ext uri="{FF2B5EF4-FFF2-40B4-BE49-F238E27FC236}">
                <a16:creationId xmlns:a16="http://schemas.microsoft.com/office/drawing/2014/main" id="{BCDF6C70-6B4D-98AA-0B44-2C4BE1FAC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524919"/>
            <a:ext cx="7580587" cy="419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8333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32694-9527-5394-B553-FA9E720946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7C57E0-F325-FA1B-A188-635A3539C199}"/>
              </a:ext>
            </a:extLst>
          </p:cNvPr>
          <p:cNvSpPr txBox="1"/>
          <p:nvPr/>
        </p:nvSpPr>
        <p:spPr>
          <a:xfrm>
            <a:off x="391886" y="287261"/>
            <a:ext cx="11038114" cy="5355312"/>
          </a:xfrm>
          <a:prstGeom prst="rect">
            <a:avLst/>
          </a:prstGeom>
          <a:noFill/>
        </p:spPr>
        <p:txBody>
          <a:bodyPr wrap="square">
            <a:spAutoFit/>
          </a:bodyPr>
          <a:lstStyle/>
          <a:p>
            <a:r>
              <a:rPr lang="en-US" b="1" dirty="0">
                <a:solidFill>
                  <a:srgbClr val="156082"/>
                </a:solidFill>
              </a:rPr>
              <a:t>41. Select an LLM choice (size and architecture) based on a set of quantitative evaluation metrics</a:t>
            </a:r>
          </a:p>
          <a:p>
            <a:endParaRPr lang="en-US" b="1" dirty="0">
              <a:solidFill>
                <a:schemeClr val="tx2"/>
              </a:solidFill>
            </a:endParaRPr>
          </a:p>
          <a:p>
            <a:r>
              <a:rPr lang="en-US" b="1" dirty="0">
                <a:solidFill>
                  <a:schemeClr val="tx2"/>
                </a:solidFill>
              </a:rPr>
              <a:t>Key Points:</a:t>
            </a:r>
          </a:p>
          <a:p>
            <a:pPr marL="285750" indent="-285750">
              <a:buFont typeface="Arial" panose="020B0604020202020204" pitchFamily="34" charset="0"/>
              <a:buChar char="•"/>
            </a:pPr>
            <a:r>
              <a:rPr lang="en-US" dirty="0">
                <a:solidFill>
                  <a:schemeClr val="tx2"/>
                </a:solidFill>
              </a:rPr>
              <a:t>Learn about various Quantitative Evaluation Metrics like Context Precision, Context Recall, Faithfulness, Answer Relevancy, Answer Correctness</a:t>
            </a:r>
          </a:p>
          <a:p>
            <a:pPr marL="285750" indent="-285750">
              <a:buFont typeface="Arial" panose="020B0604020202020204" pitchFamily="34" charset="0"/>
              <a:buChar char="•"/>
            </a:pPr>
            <a:r>
              <a:rPr lang="en-US" b="1" dirty="0">
                <a:solidFill>
                  <a:schemeClr val="tx2"/>
                </a:solidFill>
              </a:rPr>
              <a:t>Model Size and Architecture</a:t>
            </a:r>
            <a:r>
              <a:rPr lang="en-US" dirty="0">
                <a:solidFill>
                  <a:schemeClr val="tx2"/>
                </a:solidFill>
              </a:rPr>
              <a:t>: Evaluate the trade-offs between model size and architecture (e.g., smaller models for faster inference and lower costs vs. larger models for higher accuracy)</a:t>
            </a:r>
          </a:p>
          <a:p>
            <a:pPr marL="285750" indent="-285750">
              <a:buFont typeface="Arial" panose="020B0604020202020204" pitchFamily="34" charset="0"/>
              <a:buChar char="•"/>
            </a:pPr>
            <a:r>
              <a:rPr lang="en-US" b="1" dirty="0">
                <a:solidFill>
                  <a:schemeClr val="tx2"/>
                </a:solidFill>
              </a:rPr>
              <a:t>Performance vs. Cost</a:t>
            </a:r>
            <a:r>
              <a:rPr lang="en-US" dirty="0">
                <a:solidFill>
                  <a:schemeClr val="tx2"/>
                </a:solidFill>
              </a:rPr>
              <a:t>: Consider the computational resources required and the cost implications of deploying large models, especially in real-time applications VS Batch based LLM applications</a:t>
            </a:r>
          </a:p>
          <a:p>
            <a:pPr marL="285750" indent="-285750">
              <a:buFont typeface="Arial" panose="020B0604020202020204" pitchFamily="34" charset="0"/>
              <a:buChar char="•"/>
            </a:pPr>
            <a:r>
              <a:rPr lang="en-US" b="1" dirty="0">
                <a:solidFill>
                  <a:schemeClr val="tx2"/>
                </a:solidFill>
              </a:rPr>
              <a:t>LLMs as a Judge</a:t>
            </a:r>
            <a:r>
              <a:rPr lang="en-US" dirty="0">
                <a:solidFill>
                  <a:schemeClr val="tx2"/>
                </a:solidFill>
              </a:rPr>
              <a:t>: Best practices for using an LLM to evaluate another LLM:</a:t>
            </a:r>
          </a:p>
          <a:p>
            <a:pPr marL="742950" lvl="1" indent="-285750">
              <a:buFont typeface="Arial" panose="020B0604020202020204" pitchFamily="34" charset="0"/>
              <a:buChar char="•"/>
            </a:pPr>
            <a:r>
              <a:rPr lang="en-US" dirty="0">
                <a:solidFill>
                  <a:schemeClr val="tx2"/>
                </a:solidFill>
              </a:rPr>
              <a:t>Use Small Rubric Scales: Prefer scales like 1–3 or 1–5.</a:t>
            </a:r>
          </a:p>
          <a:p>
            <a:pPr marL="742950" lvl="1" indent="-285750">
              <a:buFont typeface="Arial" panose="020B0604020202020204" pitchFamily="34" charset="0"/>
              <a:buChar char="•"/>
            </a:pPr>
            <a:r>
              <a:rPr lang="en-US" dirty="0">
                <a:solidFill>
                  <a:schemeClr val="tx2"/>
                </a:solidFill>
              </a:rPr>
              <a:t>Provide Examples: Include diverse examples with detailed justifications for each score.</a:t>
            </a:r>
          </a:p>
          <a:p>
            <a:pPr marL="742950" lvl="1" indent="-285750">
              <a:buFont typeface="Arial" panose="020B0604020202020204" pitchFamily="34" charset="0"/>
              <a:buChar char="•"/>
            </a:pPr>
            <a:r>
              <a:rPr lang="en-US" dirty="0">
                <a:solidFill>
                  <a:schemeClr val="tx2"/>
                </a:solidFill>
              </a:rPr>
              <a:t>Use Additive Scales: Break evaluation into parts with additive scoring (e.g., 1 point for X, 1 for Y, 0 for Z = 2 points).</a:t>
            </a:r>
          </a:p>
          <a:p>
            <a:pPr marL="742950" lvl="1" indent="-285750">
              <a:buFont typeface="Arial" panose="020B0604020202020204" pitchFamily="34" charset="0"/>
              <a:buChar char="•"/>
            </a:pPr>
            <a:r>
              <a:rPr lang="en-US" dirty="0">
                <a:solidFill>
                  <a:schemeClr val="tx2"/>
                </a:solidFill>
              </a:rPr>
              <a:t>Use High-Token LLMs: More tokens allow for richer context in evaluations.</a:t>
            </a:r>
          </a:p>
          <a:p>
            <a:pPr marL="285750" indent="-285750">
              <a:buFont typeface="Arial" panose="020B0604020202020204" pitchFamily="34" charset="0"/>
              <a:buChar char="•"/>
            </a:pPr>
            <a:r>
              <a:rPr lang="en-US" b="1" dirty="0">
                <a:solidFill>
                  <a:schemeClr val="tx2"/>
                </a:solidFill>
              </a:rPr>
              <a:t>Offline VS Online Evaluation</a:t>
            </a:r>
            <a:r>
              <a:rPr lang="en-US" dirty="0">
                <a:solidFill>
                  <a:schemeClr val="tx2"/>
                </a:solidFill>
              </a:rPr>
              <a:t> — User response on LLM output; Detect Drifts; Learn about new </a:t>
            </a:r>
            <a:r>
              <a:rPr lang="en-US" b="1" dirty="0">
                <a:solidFill>
                  <a:schemeClr val="tx2"/>
                </a:solidFill>
              </a:rPr>
              <a:t>Databricks</a:t>
            </a:r>
            <a:r>
              <a:rPr lang="en-US" dirty="0">
                <a:solidFill>
                  <a:schemeClr val="tx2"/>
                </a:solidFill>
              </a:rPr>
              <a:t> Solutions.</a:t>
            </a:r>
          </a:p>
          <a:p>
            <a:pPr marL="742950" lvl="1" indent="-285750">
              <a:buFont typeface="Arial" panose="020B0604020202020204" pitchFamily="34" charset="0"/>
              <a:buChar char="•"/>
            </a:pPr>
            <a:endParaRPr lang="en-US" dirty="0">
              <a:solidFill>
                <a:schemeClr val="tx2"/>
              </a:solidFill>
            </a:endParaRPr>
          </a:p>
          <a:p>
            <a:pPr lvl="1"/>
            <a:r>
              <a:rPr lang="en-US" dirty="0">
                <a:solidFill>
                  <a:schemeClr val="tx2"/>
                </a:solidFill>
              </a:rPr>
              <a:t>	</a:t>
            </a:r>
          </a:p>
        </p:txBody>
      </p:sp>
    </p:spTree>
    <p:extLst>
      <p:ext uri="{BB962C8B-B14F-4D97-AF65-F5344CB8AC3E}">
        <p14:creationId xmlns:p14="http://schemas.microsoft.com/office/powerpoint/2010/main" val="28230514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4746-CF72-52F6-852B-B4D2121961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C15628-2508-6073-0C3E-FC2B5692EAA2}"/>
              </a:ext>
            </a:extLst>
          </p:cNvPr>
          <p:cNvSpPr txBox="1"/>
          <p:nvPr/>
        </p:nvSpPr>
        <p:spPr>
          <a:xfrm>
            <a:off x="729343" y="489857"/>
            <a:ext cx="10831286" cy="4942379"/>
          </a:xfrm>
          <a:prstGeom prst="rect">
            <a:avLst/>
          </a:prstGeom>
          <a:noFill/>
        </p:spPr>
        <p:txBody>
          <a:bodyPr wrap="square">
            <a:spAutoFit/>
          </a:bodyPr>
          <a:lstStyle/>
          <a:p>
            <a:pPr algn="l">
              <a:lnSpc>
                <a:spcPts val="2250"/>
              </a:lnSpc>
              <a:buNone/>
            </a:pPr>
            <a:r>
              <a:rPr lang="en-US" b="1" i="0" dirty="0">
                <a:solidFill>
                  <a:srgbClr val="156082"/>
                </a:solidFill>
                <a:effectLst/>
                <a:latin typeface="sohne"/>
              </a:rPr>
              <a:t>42. Select key metrics to monitor for a specific LLM deployment scenario</a:t>
            </a:r>
          </a:p>
          <a:p>
            <a:pPr algn="l">
              <a:lnSpc>
                <a:spcPts val="1800"/>
              </a:lnSpc>
              <a:buNone/>
            </a:pPr>
            <a:endParaRPr lang="en-US" b="1" i="0" dirty="0">
              <a:solidFill>
                <a:srgbClr val="242424"/>
              </a:solidFill>
              <a:effectLst/>
              <a:latin typeface="sohne"/>
            </a:endParaRPr>
          </a:p>
          <a:p>
            <a:pPr algn="l">
              <a:lnSpc>
                <a:spcPts val="1800"/>
              </a:lnSpc>
              <a:buNone/>
            </a:pPr>
            <a:r>
              <a:rPr lang="en-US" b="1" i="0" dirty="0">
                <a:solidFill>
                  <a:srgbClr val="242424"/>
                </a:solidFill>
                <a:effectLst/>
                <a:latin typeface="sohne"/>
              </a:rPr>
              <a:t>Key Points:</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Monitoring Metrics</a:t>
            </a:r>
            <a:r>
              <a:rPr lang="en-US" b="0" i="0" dirty="0">
                <a:solidFill>
                  <a:srgbClr val="242424"/>
                </a:solidFill>
                <a:effectLst/>
                <a:latin typeface="source-serif-pro"/>
              </a:rPr>
              <a:t>: Key metrics include latency, throughput, accuracy, and resource utilization. For LLMs, additional metrics like context precision, relevancy, and faithfulness are important to ensure the quality of generated responses.</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Real-time Monitoring</a:t>
            </a:r>
            <a:r>
              <a:rPr lang="en-US" b="0" i="0" dirty="0">
                <a:solidFill>
                  <a:srgbClr val="242424"/>
                </a:solidFill>
                <a:effectLst/>
                <a:latin typeface="source-serif-pro"/>
              </a:rPr>
              <a:t>: Implement continuous monitoring of model performance using tools — </a:t>
            </a:r>
            <a:r>
              <a:rPr lang="en-US" b="0" i="0" dirty="0" err="1">
                <a:solidFill>
                  <a:srgbClr val="242424"/>
                </a:solidFill>
                <a:effectLst/>
                <a:latin typeface="source-serif-pro"/>
              </a:rPr>
              <a:t>MLflow</a:t>
            </a:r>
            <a:r>
              <a:rPr lang="en-US" b="0" i="0" dirty="0">
                <a:solidFill>
                  <a:srgbClr val="242424"/>
                </a:solidFill>
                <a:effectLst/>
                <a:latin typeface="source-serif-pro"/>
              </a:rPr>
              <a:t> to log and visualize these metrics, enabling proactive issue diagnosis and performance tuning.</a:t>
            </a:r>
          </a:p>
          <a:p>
            <a:pPr marL="285750" indent="-285750" algn="l">
              <a:lnSpc>
                <a:spcPts val="2400"/>
              </a:lnSpc>
              <a:buFont typeface="Arial" panose="020B0604020202020204" pitchFamily="34" charset="0"/>
              <a:buChar char="•"/>
            </a:pPr>
            <a:r>
              <a:rPr lang="en-US" b="1" i="0" dirty="0">
                <a:solidFill>
                  <a:srgbClr val="242424"/>
                </a:solidFill>
                <a:effectLst/>
                <a:latin typeface="source-serif-pro"/>
              </a:rPr>
              <a:t>Monitoring Solutions</a:t>
            </a:r>
            <a:r>
              <a:rPr lang="en-US" b="0" i="0" dirty="0">
                <a:solidFill>
                  <a:srgbClr val="242424"/>
                </a:solidFill>
                <a:effectLst/>
                <a:latin typeface="source-serif-pro"/>
              </a:rPr>
              <a:t>: Like Alerts for automated emails and insights, metric calculations, and dashboard to maintain optimal performance and cost-efficiency.</a:t>
            </a:r>
          </a:p>
          <a:p>
            <a:endParaRPr lang="en-US" b="1" dirty="0">
              <a:solidFill>
                <a:schemeClr val="tx2"/>
              </a:solidFill>
            </a:endParaRPr>
          </a:p>
          <a:p>
            <a:r>
              <a:rPr lang="en-US" b="1" dirty="0">
                <a:solidFill>
                  <a:srgbClr val="156082"/>
                </a:solidFill>
              </a:rPr>
              <a:t>43. Evaluate model performance in a RAG application using </a:t>
            </a:r>
            <a:r>
              <a:rPr lang="en-US" b="1" dirty="0" err="1">
                <a:solidFill>
                  <a:srgbClr val="156082"/>
                </a:solidFill>
              </a:rPr>
              <a:t>MLflow</a:t>
            </a:r>
            <a:endParaRPr lang="en-US" b="1" dirty="0">
              <a:solidFill>
                <a:srgbClr val="156082"/>
              </a:solidFill>
            </a:endParaRPr>
          </a:p>
          <a:p>
            <a:endParaRPr lang="en-US" b="1" dirty="0">
              <a:solidFill>
                <a:schemeClr val="tx2"/>
              </a:solidFill>
            </a:endParaRPr>
          </a:p>
          <a:p>
            <a:r>
              <a:rPr lang="en-US" b="1" dirty="0">
                <a:solidFill>
                  <a:schemeClr val="tx2"/>
                </a:solidFill>
              </a:rPr>
              <a:t>Key Points:</a:t>
            </a:r>
          </a:p>
          <a:p>
            <a:pPr marL="285750" indent="-285750">
              <a:buFont typeface="Arial" panose="020B0604020202020204" pitchFamily="34" charset="0"/>
              <a:buChar char="•"/>
            </a:pPr>
            <a:r>
              <a:rPr lang="en-US" b="1" dirty="0" err="1">
                <a:solidFill>
                  <a:schemeClr val="tx2"/>
                </a:solidFill>
              </a:rPr>
              <a:t>MLflow</a:t>
            </a:r>
            <a:r>
              <a:rPr lang="en-US" b="1" dirty="0">
                <a:solidFill>
                  <a:schemeClr val="tx2"/>
                </a:solidFill>
              </a:rPr>
              <a:t> for RAG Evaluation</a:t>
            </a:r>
            <a:r>
              <a:rPr lang="en-US" dirty="0">
                <a:solidFill>
                  <a:schemeClr val="tx2"/>
                </a:solidFill>
              </a:rPr>
              <a:t>: </a:t>
            </a:r>
            <a:r>
              <a:rPr lang="en-US" dirty="0" err="1">
                <a:solidFill>
                  <a:schemeClr val="tx2"/>
                </a:solidFill>
              </a:rPr>
              <a:t>MLflow</a:t>
            </a:r>
            <a:r>
              <a:rPr lang="en-US" dirty="0">
                <a:solidFill>
                  <a:schemeClr val="tx2"/>
                </a:solidFill>
              </a:rPr>
              <a:t> supports the evaluation of RAG applications by tracking and comparing performance metrics across different model versions and configurations. </a:t>
            </a:r>
            <a:r>
              <a:rPr lang="en-US" dirty="0" err="1">
                <a:solidFill>
                  <a:schemeClr val="tx2"/>
                </a:solidFill>
              </a:rPr>
              <a:t>MLflow</a:t>
            </a:r>
            <a:r>
              <a:rPr lang="en-US" dirty="0">
                <a:solidFill>
                  <a:schemeClr val="tx2"/>
                </a:solidFill>
              </a:rPr>
              <a:t> to log parameters, metrics, and artifacts</a:t>
            </a:r>
          </a:p>
        </p:txBody>
      </p:sp>
    </p:spTree>
    <p:extLst>
      <p:ext uri="{BB962C8B-B14F-4D97-AF65-F5344CB8AC3E}">
        <p14:creationId xmlns:p14="http://schemas.microsoft.com/office/powerpoint/2010/main" val="371112722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90103-BE5E-81A6-9886-DB20356EE3FD}"/>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1EE006B6-B645-7B08-170D-101D8C476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983" y="3554250"/>
            <a:ext cx="10429445" cy="3093575"/>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4299935-4192-6C45-111A-BD3522AC2CB1}"/>
              </a:ext>
            </a:extLst>
          </p:cNvPr>
          <p:cNvSpPr txBox="1"/>
          <p:nvPr/>
        </p:nvSpPr>
        <p:spPr>
          <a:xfrm>
            <a:off x="673984" y="405522"/>
            <a:ext cx="10592729" cy="2898229"/>
          </a:xfrm>
          <a:prstGeom prst="rect">
            <a:avLst/>
          </a:prstGeom>
          <a:noFill/>
        </p:spPr>
        <p:txBody>
          <a:bodyPr wrap="square">
            <a:spAutoFit/>
          </a:bodyPr>
          <a:lstStyle/>
          <a:p>
            <a:pPr algn="l">
              <a:lnSpc>
                <a:spcPts val="2250"/>
              </a:lnSpc>
              <a:buNone/>
            </a:pPr>
            <a:r>
              <a:rPr lang="en-US" b="1" i="0" dirty="0">
                <a:solidFill>
                  <a:srgbClr val="156082"/>
                </a:solidFill>
                <a:effectLst/>
                <a:latin typeface="sohne"/>
              </a:rPr>
              <a:t>44. Use inference logging to assess deployed RAG application performance</a:t>
            </a:r>
          </a:p>
          <a:p>
            <a:pPr algn="l">
              <a:lnSpc>
                <a:spcPts val="2250"/>
              </a:lnSpc>
              <a:buNone/>
            </a:pPr>
            <a:endParaRPr lang="en-US" b="1" dirty="0">
              <a:solidFill>
                <a:srgbClr val="242424"/>
              </a:solidFill>
              <a:latin typeface="sohne"/>
            </a:endParaRPr>
          </a:p>
          <a:p>
            <a:r>
              <a:rPr lang="en-US" b="1" dirty="0">
                <a:solidFill>
                  <a:schemeClr val="tx2"/>
                </a:solidFill>
              </a:rPr>
              <a:t>Key Points:</a:t>
            </a:r>
          </a:p>
          <a:p>
            <a:pPr marL="285750" indent="-285750">
              <a:buFont typeface="Arial" panose="020B0604020202020204" pitchFamily="34" charset="0"/>
              <a:buChar char="•"/>
            </a:pPr>
            <a:r>
              <a:rPr lang="en-US" b="1" dirty="0">
                <a:solidFill>
                  <a:schemeClr val="tx2"/>
                </a:solidFill>
              </a:rPr>
              <a:t>Inference Table Logging</a:t>
            </a:r>
            <a:r>
              <a:rPr lang="en-US" dirty="0">
                <a:solidFill>
                  <a:schemeClr val="tx2"/>
                </a:solidFill>
              </a:rPr>
              <a:t>: Capture detailed logs of inference requests and responses to analyze model behavior and performance in production. This includes logging input queries, retrieved contexts, and generated outputs.</a:t>
            </a:r>
          </a:p>
          <a:p>
            <a:pPr marL="285750" indent="-285750">
              <a:buFont typeface="Arial" panose="020B0604020202020204" pitchFamily="34" charset="0"/>
              <a:buChar char="•"/>
            </a:pPr>
            <a:r>
              <a:rPr lang="en-US" b="1" dirty="0">
                <a:solidFill>
                  <a:schemeClr val="tx2"/>
                </a:solidFill>
              </a:rPr>
              <a:t>Data Utilization</a:t>
            </a:r>
            <a:r>
              <a:rPr lang="en-US" dirty="0">
                <a:solidFill>
                  <a:schemeClr val="tx2"/>
                </a:solidFill>
              </a:rPr>
              <a:t>: Use logged data to compute key metrics such as latency, accuracy, and relevance, and to identify patterns or anomalies that may indicate issues with the deployed model.</a:t>
            </a:r>
          </a:p>
          <a:p>
            <a:pPr marL="285750" indent="-285750">
              <a:buFont typeface="Arial" panose="020B0604020202020204" pitchFamily="34" charset="0"/>
              <a:buChar char="•"/>
            </a:pPr>
            <a:r>
              <a:rPr lang="en-US" dirty="0">
                <a:solidFill>
                  <a:schemeClr val="tx2"/>
                </a:solidFill>
              </a:rPr>
              <a:t>Log in </a:t>
            </a:r>
            <a:r>
              <a:rPr lang="en-US" b="1" dirty="0">
                <a:solidFill>
                  <a:schemeClr val="tx2"/>
                </a:solidFill>
              </a:rPr>
              <a:t>inference tables</a:t>
            </a:r>
            <a:r>
              <a:rPr lang="en-US" dirty="0">
                <a:solidFill>
                  <a:schemeClr val="tx2"/>
                </a:solidFill>
              </a:rPr>
              <a:t> to visualize performance trends and set up alerts for key metrics, ensuring continuous performance optimization. Automatic Logging — PII, Input expectation and rules.</a:t>
            </a:r>
          </a:p>
        </p:txBody>
      </p:sp>
    </p:spTree>
    <p:extLst>
      <p:ext uri="{BB962C8B-B14F-4D97-AF65-F5344CB8AC3E}">
        <p14:creationId xmlns:p14="http://schemas.microsoft.com/office/powerpoint/2010/main" val="237091313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6CEC-6F98-2D18-93D3-843008E1D1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A16826-C93E-08F6-5F2F-73033A1EC5F2}"/>
              </a:ext>
            </a:extLst>
          </p:cNvPr>
          <p:cNvSpPr txBox="1"/>
          <p:nvPr/>
        </p:nvSpPr>
        <p:spPr>
          <a:xfrm>
            <a:off x="359229" y="341689"/>
            <a:ext cx="5519057" cy="6001643"/>
          </a:xfrm>
          <a:prstGeom prst="rect">
            <a:avLst/>
          </a:prstGeom>
          <a:noFill/>
        </p:spPr>
        <p:txBody>
          <a:bodyPr wrap="square">
            <a:spAutoFit/>
          </a:bodyPr>
          <a:lstStyle/>
          <a:p>
            <a:pPr algn="l">
              <a:lnSpc>
                <a:spcPts val="1800"/>
              </a:lnSpc>
              <a:buNone/>
            </a:pPr>
            <a:r>
              <a:rPr lang="en-US" b="1" i="0" dirty="0">
                <a:solidFill>
                  <a:srgbClr val="242424"/>
                </a:solidFill>
                <a:effectLst/>
                <a:latin typeface="sohne"/>
              </a:rPr>
              <a:t>Monitoring( 3 types):</a:t>
            </a:r>
          </a:p>
          <a:p>
            <a:pPr algn="l">
              <a:lnSpc>
                <a:spcPts val="1800"/>
              </a:lnSpc>
              <a:buNone/>
            </a:pPr>
            <a:endParaRPr lang="en-US" b="1" i="0" dirty="0">
              <a:solidFill>
                <a:srgbClr val="242424"/>
              </a:solidFill>
              <a:effectLst/>
              <a:latin typeface="sohne"/>
            </a:endParaRPr>
          </a:p>
          <a:p>
            <a:pPr marL="342900" indent="-342900" algn="l">
              <a:lnSpc>
                <a:spcPts val="2400"/>
              </a:lnSpc>
              <a:buFont typeface="+mj-lt"/>
              <a:buAutoNum type="arabicPeriod"/>
            </a:pPr>
            <a:r>
              <a:rPr lang="en-US" b="1" i="0" dirty="0">
                <a:solidFill>
                  <a:srgbClr val="242424"/>
                </a:solidFill>
                <a:effectLst/>
                <a:latin typeface="source-serif-pro"/>
              </a:rPr>
              <a:t>Time series</a:t>
            </a:r>
            <a:r>
              <a:rPr lang="en-US" b="0" i="0" dirty="0">
                <a:solidFill>
                  <a:srgbClr val="242424"/>
                </a:solidFill>
                <a:effectLst/>
                <a:latin typeface="source-serif-pro"/>
              </a:rPr>
              <a:t>: It computes data quality metrics across time-based windows of the time series.</a:t>
            </a:r>
          </a:p>
          <a:p>
            <a:pPr marL="342900" indent="-342900" algn="l">
              <a:lnSpc>
                <a:spcPts val="2400"/>
              </a:lnSpc>
              <a:buFont typeface="+mj-lt"/>
              <a:buAutoNum type="arabicPeriod"/>
            </a:pPr>
            <a:r>
              <a:rPr lang="en-US" b="1" i="0" dirty="0" err="1">
                <a:solidFill>
                  <a:srgbClr val="242424"/>
                </a:solidFill>
                <a:effectLst/>
                <a:latin typeface="source-serif-pro"/>
              </a:rPr>
              <a:t>InferenceLog</a:t>
            </a:r>
            <a:r>
              <a:rPr lang="en-US" b="0" i="0" dirty="0">
                <a:solidFill>
                  <a:srgbClr val="242424"/>
                </a:solidFill>
                <a:effectLst/>
                <a:latin typeface="source-serif-pro"/>
              </a:rPr>
              <a:t>: This monitor is used for tables that contain the request log for a model. Each row in the table represents a request, with columns for the timestamp, the model inputs, the corresponding prediction, and optionally the ground-truth label. The monitor compares model performance and data quality metrics across time-based windows of the request log.</a:t>
            </a:r>
          </a:p>
          <a:p>
            <a:pPr marL="342900" indent="-342900" algn="l">
              <a:lnSpc>
                <a:spcPts val="2400"/>
              </a:lnSpc>
              <a:buFont typeface="+mj-lt"/>
              <a:buAutoNum type="arabicPeriod"/>
            </a:pPr>
            <a:r>
              <a:rPr lang="en-US" b="1" i="0" dirty="0">
                <a:solidFill>
                  <a:srgbClr val="242424"/>
                </a:solidFill>
                <a:effectLst/>
                <a:latin typeface="source-serif-pro"/>
              </a:rPr>
              <a:t>Snapshot</a:t>
            </a:r>
            <a:r>
              <a:rPr lang="en-US" b="0" i="0" dirty="0">
                <a:solidFill>
                  <a:srgbClr val="242424"/>
                </a:solidFill>
                <a:effectLst/>
                <a:latin typeface="source-serif-pro"/>
              </a:rPr>
              <a:t>: This type is used for all other types of tables. Monitoring calculates data quality metrics over all the data in the table, and the entire table is processed with every refresh.</a:t>
            </a:r>
          </a:p>
          <a:p>
            <a:pPr algn="l">
              <a:lnSpc>
                <a:spcPts val="2400"/>
              </a:lnSpc>
            </a:pPr>
            <a:endParaRPr lang="en-US" dirty="0">
              <a:solidFill>
                <a:srgbClr val="242424"/>
              </a:solidFill>
              <a:latin typeface="source-serif-pro"/>
            </a:endParaRPr>
          </a:p>
          <a:p>
            <a:r>
              <a:rPr lang="en-US" b="1" dirty="0">
                <a:solidFill>
                  <a:schemeClr val="tx2"/>
                </a:solidFill>
              </a:rPr>
              <a:t>Turn on Monitoring using:</a:t>
            </a:r>
          </a:p>
          <a:p>
            <a:pPr marL="342900" indent="-342900">
              <a:buFont typeface="+mj-lt"/>
              <a:buAutoNum type="arabicPeriod"/>
            </a:pPr>
            <a:r>
              <a:rPr lang="en-US" dirty="0">
                <a:solidFill>
                  <a:schemeClr val="tx2"/>
                </a:solidFill>
              </a:rPr>
              <a:t>Quality tab on UC Tables</a:t>
            </a:r>
          </a:p>
          <a:p>
            <a:pPr marL="342900" indent="-342900">
              <a:buFont typeface="+mj-lt"/>
              <a:buAutoNum type="arabicPeriod"/>
            </a:pPr>
            <a:r>
              <a:rPr lang="en-US" dirty="0">
                <a:solidFill>
                  <a:schemeClr val="tx2"/>
                </a:solidFill>
              </a:rPr>
              <a:t>Code:</a:t>
            </a:r>
          </a:p>
        </p:txBody>
      </p:sp>
      <p:pic>
        <p:nvPicPr>
          <p:cNvPr id="5" name="Picture 4" descr="A computer code with many colored text&#10;&#10;AI-generated content may be incorrect.">
            <a:extLst>
              <a:ext uri="{FF2B5EF4-FFF2-40B4-BE49-F238E27FC236}">
                <a16:creationId xmlns:a16="http://schemas.microsoft.com/office/drawing/2014/main" id="{28D6D981-C8F2-E93E-8CE7-A79694641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286" y="580595"/>
            <a:ext cx="5964534" cy="5285593"/>
          </a:xfrm>
          <a:prstGeom prst="rect">
            <a:avLst/>
          </a:prstGeom>
        </p:spPr>
      </p:pic>
      <p:sp>
        <p:nvSpPr>
          <p:cNvPr id="7" name="TextBox 6">
            <a:extLst>
              <a:ext uri="{FF2B5EF4-FFF2-40B4-BE49-F238E27FC236}">
                <a16:creationId xmlns:a16="http://schemas.microsoft.com/office/drawing/2014/main" id="{B9ACDCBA-F3BD-7610-4715-E933DDACF27F}"/>
              </a:ext>
            </a:extLst>
          </p:cNvPr>
          <p:cNvSpPr txBox="1"/>
          <p:nvPr/>
        </p:nvSpPr>
        <p:spPr>
          <a:xfrm>
            <a:off x="8338458" y="5866189"/>
            <a:ext cx="1230086" cy="384080"/>
          </a:xfrm>
          <a:prstGeom prst="rect">
            <a:avLst/>
          </a:prstGeom>
          <a:noFill/>
        </p:spPr>
        <p:txBody>
          <a:bodyPr wrap="square">
            <a:spAutoFit/>
          </a:bodyPr>
          <a:lstStyle/>
          <a:p>
            <a:pPr algn="l">
              <a:lnSpc>
                <a:spcPts val="2400"/>
              </a:lnSpc>
            </a:pPr>
            <a:r>
              <a:rPr lang="en-IN" i="0" dirty="0">
                <a:solidFill>
                  <a:srgbClr val="242424"/>
                </a:solidFill>
                <a:effectLst/>
                <a:latin typeface="source-serif-pro"/>
              </a:rPr>
              <a:t>2. Code</a:t>
            </a:r>
          </a:p>
        </p:txBody>
      </p:sp>
    </p:spTree>
    <p:extLst>
      <p:ext uri="{BB962C8B-B14F-4D97-AF65-F5344CB8AC3E}">
        <p14:creationId xmlns:p14="http://schemas.microsoft.com/office/powerpoint/2010/main" val="42537229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0F7EE-A96B-3F47-DE59-BA4FCC6501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F20D21-48EE-B3DE-D6AF-092729DF337C}"/>
              </a:ext>
            </a:extLst>
          </p:cNvPr>
          <p:cNvSpPr txBox="1"/>
          <p:nvPr/>
        </p:nvSpPr>
        <p:spPr>
          <a:xfrm>
            <a:off x="511628" y="385821"/>
            <a:ext cx="9764485" cy="2217915"/>
          </a:xfrm>
          <a:prstGeom prst="rect">
            <a:avLst/>
          </a:prstGeom>
          <a:noFill/>
        </p:spPr>
        <p:txBody>
          <a:bodyPr wrap="square">
            <a:spAutoFit/>
          </a:bodyPr>
          <a:lstStyle/>
          <a:p>
            <a:pPr algn="l">
              <a:lnSpc>
                <a:spcPts val="2250"/>
              </a:lnSpc>
              <a:buNone/>
            </a:pPr>
            <a:r>
              <a:rPr lang="en-IN" b="1" i="0" dirty="0">
                <a:solidFill>
                  <a:srgbClr val="156082"/>
                </a:solidFill>
                <a:effectLst/>
                <a:latin typeface="sohne"/>
              </a:rPr>
              <a:t>45. Use Databricks features to control LLM costs for RAG applications</a:t>
            </a:r>
          </a:p>
          <a:p>
            <a:pPr marL="285750" indent="-285750" algn="l">
              <a:lnSpc>
                <a:spcPts val="2400"/>
              </a:lnSpc>
              <a:buFont typeface="Arial" panose="020B0604020202020204" pitchFamily="34" charset="0"/>
              <a:buChar char="•"/>
            </a:pPr>
            <a:endParaRPr lang="en-IN" b="1" i="0" dirty="0">
              <a:solidFill>
                <a:srgbClr val="242424"/>
              </a:solidFill>
              <a:effectLst/>
              <a:latin typeface="source-serif-pro"/>
            </a:endParaRPr>
          </a:p>
          <a:p>
            <a:pPr marL="285750" indent="-285750" algn="l">
              <a:lnSpc>
                <a:spcPts val="2400"/>
              </a:lnSpc>
              <a:buFont typeface="Arial" panose="020B0604020202020204" pitchFamily="34" charset="0"/>
              <a:buChar char="•"/>
            </a:pPr>
            <a:r>
              <a:rPr lang="en-IN" b="1" i="0" dirty="0">
                <a:solidFill>
                  <a:srgbClr val="242424"/>
                </a:solidFill>
                <a:effectLst/>
                <a:latin typeface="source-serif-pro"/>
              </a:rPr>
              <a:t>Cost Control Strategies</a:t>
            </a:r>
            <a:r>
              <a:rPr lang="en-IN" b="0" i="0" dirty="0">
                <a:solidFill>
                  <a:srgbClr val="242424"/>
                </a:solidFill>
                <a:effectLst/>
                <a:latin typeface="source-serif-pro"/>
              </a:rPr>
              <a:t>: model sizes; efficient data retrieval strategies — vector library like FAISS vs vector stores; batch processing for non-real-time tasks.</a:t>
            </a:r>
          </a:p>
          <a:p>
            <a:pPr marL="285750" indent="-285750" algn="l">
              <a:lnSpc>
                <a:spcPts val="2400"/>
              </a:lnSpc>
              <a:buFont typeface="Arial" panose="020B0604020202020204" pitchFamily="34" charset="0"/>
              <a:buChar char="•"/>
            </a:pPr>
            <a:r>
              <a:rPr lang="en-IN" b="0" i="0" dirty="0">
                <a:solidFill>
                  <a:srgbClr val="242424"/>
                </a:solidFill>
                <a:effectLst/>
                <a:latin typeface="source-serif-pro"/>
              </a:rPr>
              <a:t>Track resource usage</a:t>
            </a:r>
          </a:p>
          <a:p>
            <a:pPr marL="285750" indent="-285750" algn="l">
              <a:lnSpc>
                <a:spcPts val="2400"/>
              </a:lnSpc>
              <a:buFont typeface="Arial" panose="020B0604020202020204" pitchFamily="34" charset="0"/>
              <a:buChar char="•"/>
            </a:pPr>
            <a:r>
              <a:rPr lang="en-IN" b="1" i="0" dirty="0">
                <a:solidFill>
                  <a:srgbClr val="242424"/>
                </a:solidFill>
                <a:effectLst/>
                <a:latin typeface="source-serif-pro"/>
              </a:rPr>
              <a:t>Resource Management</a:t>
            </a:r>
            <a:r>
              <a:rPr lang="en-IN" b="0" i="0" dirty="0">
                <a:solidFill>
                  <a:srgbClr val="242424"/>
                </a:solidFill>
                <a:effectLst/>
                <a:latin typeface="source-serif-pro"/>
              </a:rPr>
              <a:t>: Utilize features like auto-scaling and resource tagging to manage and optimize resource allocation dynamically</a:t>
            </a:r>
          </a:p>
        </p:txBody>
      </p:sp>
    </p:spTree>
    <p:extLst>
      <p:ext uri="{BB962C8B-B14F-4D97-AF65-F5344CB8AC3E}">
        <p14:creationId xmlns:p14="http://schemas.microsoft.com/office/powerpoint/2010/main" val="126319204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D850-072B-3938-2DC2-783DBB654D1E}"/>
              </a:ext>
            </a:extLst>
          </p:cNvPr>
          <p:cNvSpPr>
            <a:spLocks noGrp="1"/>
          </p:cNvSpPr>
          <p:nvPr>
            <p:ph type="title"/>
          </p:nvPr>
        </p:nvSpPr>
        <p:spPr/>
        <p:txBody>
          <a:bodyPr/>
          <a:lstStyle/>
          <a:p>
            <a:r>
              <a:rPr lang="en-US" dirty="0"/>
              <a:t>Summary</a:t>
            </a:r>
          </a:p>
        </p:txBody>
      </p:sp>
      <p:pic>
        <p:nvPicPr>
          <p:cNvPr id="16386" name="Picture 2">
            <a:extLst>
              <a:ext uri="{FF2B5EF4-FFF2-40B4-BE49-F238E27FC236}">
                <a16:creationId xmlns:a16="http://schemas.microsoft.com/office/drawing/2014/main" id="{4AC9F9B9-6ABA-20CC-779C-CE631200E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855" y="1624503"/>
            <a:ext cx="8116614" cy="3608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19624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B4E0B"/>
        </a:solidFill>
        <a:effectLst/>
      </p:bgPr>
    </p:bg>
    <p:spTree>
      <p:nvGrpSpPr>
        <p:cNvPr id="1" name="">
          <a:extLst>
            <a:ext uri="{FF2B5EF4-FFF2-40B4-BE49-F238E27FC236}">
              <a16:creationId xmlns:a16="http://schemas.microsoft.com/office/drawing/2014/main" id="{60417EB4-DBB4-548F-916E-AEA244F60AB2}"/>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5CD09BFC-E3BA-A235-2AB6-C584AAC5051B}"/>
              </a:ext>
            </a:extLst>
          </p:cNvPr>
          <p:cNvSpPr txBox="1"/>
          <p:nvPr/>
        </p:nvSpPr>
        <p:spPr>
          <a:xfrm>
            <a:off x="11263086" y="6273225"/>
            <a:ext cx="783772" cy="584775"/>
          </a:xfrm>
          <a:prstGeom prst="rect">
            <a:avLst/>
          </a:prstGeom>
          <a:noFill/>
        </p:spPr>
        <p:txBody>
          <a:bodyPr wrap="square" rtlCol="0">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EXL</a:t>
            </a:r>
          </a:p>
        </p:txBody>
      </p:sp>
      <p:sp>
        <p:nvSpPr>
          <p:cNvPr id="18" name="Rectangle 17">
            <a:extLst>
              <a:ext uri="{FF2B5EF4-FFF2-40B4-BE49-F238E27FC236}">
                <a16:creationId xmlns:a16="http://schemas.microsoft.com/office/drawing/2014/main" id="{59A58F13-CD03-37B4-E9FF-A6815DDBAF4C}"/>
              </a:ext>
            </a:extLst>
          </p:cNvPr>
          <p:cNvSpPr/>
          <p:nvPr/>
        </p:nvSpPr>
        <p:spPr>
          <a:xfrm>
            <a:off x="4529133" y="3013501"/>
            <a:ext cx="6096000" cy="830997"/>
          </a:xfrm>
          <a:prstGeom prst="rect">
            <a:avLst/>
          </a:prstGeom>
        </p:spPr>
        <p:txBody>
          <a:bodyPr>
            <a:spAutoFit/>
          </a:bodyPr>
          <a:lstStyle/>
          <a:p>
            <a:pPr marL="0" marR="0" lvl="0" indent="0" algn="l" defTabSz="457166"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alibri" panose="020F0502020204030204"/>
                <a:ea typeface="+mn-ea"/>
                <a:cs typeface="+mn-cs"/>
              </a:rPr>
              <a:t>Thank you</a:t>
            </a:r>
          </a:p>
        </p:txBody>
      </p:sp>
    </p:spTree>
    <p:extLst>
      <p:ext uri="{BB962C8B-B14F-4D97-AF65-F5344CB8AC3E}">
        <p14:creationId xmlns:p14="http://schemas.microsoft.com/office/powerpoint/2010/main" val="3053617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34DE2A3-98C4-4033-AA3B-B8C4C44BE503}" vid="{B08FF550-AA44-4A78-8574-F606066281A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10499</TotalTime>
  <Words>11016</Words>
  <Application>Microsoft Office PowerPoint</Application>
  <PresentationFormat>Widescreen</PresentationFormat>
  <Paragraphs>901</Paragraphs>
  <Slides>135</Slides>
  <Notes>1</Notes>
  <HiddenSlides>18</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135</vt:i4>
      </vt:variant>
    </vt:vector>
  </HeadingPairs>
  <TitlesOfParts>
    <vt:vector size="149" baseType="lpstr">
      <vt:lpstr>Aptos</vt:lpstr>
      <vt:lpstr>Aptos Display</vt:lpstr>
      <vt:lpstr>Arial</vt:lpstr>
      <vt:lpstr>berkeleyMono</vt:lpstr>
      <vt:lpstr>Calibri</vt:lpstr>
      <vt:lpstr>Calibri Light</vt:lpstr>
      <vt:lpstr>fkGroteskNeue</vt:lpstr>
      <vt:lpstr>sohne</vt:lpstr>
      <vt:lpstr>source-code-pro</vt:lpstr>
      <vt:lpstr>source-serif-pro</vt:lpstr>
      <vt:lpstr>Symbol</vt:lpstr>
      <vt:lpstr>System Font Regular</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Source Document Types in RAG Pipelines</vt:lpstr>
      <vt:lpstr>Text Extraction and Preprocessing PDF/Text Extraction Example: </vt:lpstr>
      <vt:lpstr>Chunking Strategies for Semantic Understanding</vt:lpstr>
      <vt:lpstr>Example (LangChain):</vt:lpstr>
      <vt:lpstr>Embedding Generation — Vectorizing Your Chunks </vt:lpstr>
      <vt:lpstr>Embedding Generation — Vectorizing Your Chunks </vt:lpstr>
      <vt:lpstr>Metadata Design — Traceability, Filtering, Search </vt:lpstr>
      <vt:lpstr>Delta Table Design for RAG</vt:lpstr>
      <vt:lpstr>Sample Code to Create Delta Table:</vt:lpstr>
      <vt:lpstr>Vector Indexing Using Mosaic AI Vector Search</vt:lpstr>
      <vt:lpstr>Governance and Observability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 Part 2</vt:lpstr>
      <vt:lpstr>PowerPoint Presentation</vt:lpstr>
      <vt:lpstr>Embedding Models and Vectorization </vt:lpstr>
      <vt:lpstr>Example: </vt:lpstr>
      <vt:lpstr>Cosine Similarity</vt:lpstr>
      <vt:lpstr>PowerPoint Presentation</vt:lpstr>
      <vt:lpstr>PowerPoint Presentation</vt:lpstr>
      <vt:lpstr>PowerPoint Presentation</vt:lpstr>
      <vt:lpstr>Types of Embedding Models on Databricks</vt:lpstr>
      <vt:lpstr>Vectorizing Data on Databricks </vt:lpstr>
      <vt:lpstr>PowerPoint Presentation</vt:lpstr>
      <vt:lpstr>Best Practices for Embedding Pipelines </vt:lpstr>
      <vt:lpstr>Evaluating Embedding Model Quality</vt:lpstr>
      <vt:lpstr>Databricks Vector Search Fundamentals</vt:lpstr>
      <vt:lpstr>Databricks Vector Search Fundamentals</vt:lpstr>
      <vt:lpstr>How Does Vector Search Work in Databricks? </vt:lpstr>
      <vt:lpstr>Step-by-Step: Creating a Vector Search Index</vt:lpstr>
      <vt:lpstr>Step-by-Step: Creating a Vector Search Index</vt:lpstr>
      <vt:lpstr>PowerPoint Presentation</vt:lpstr>
      <vt:lpstr>PowerPoint Presentation</vt:lpstr>
      <vt:lpstr>PowerPoint Presentation</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Integrating Vector Search into GenAI Pipelines</vt:lpstr>
      <vt:lpstr>RAG Architecture Recap</vt:lpstr>
      <vt:lpstr>1. Vector Search Setup (Recap)</vt:lpstr>
      <vt:lpstr>3. Designing the Prompt Template</vt:lpstr>
      <vt:lpstr>Run the pipeline: </vt:lpstr>
      <vt:lpstr>PowerPoint Presentation</vt:lpstr>
      <vt:lpstr>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Assembling a RAG Application on Databricks LangChain + ChatDatabricks + Mosaic Vector Search = A Production-Ready RAG Pipeline</vt:lpstr>
      <vt:lpstr>Assembling a RAG Application on Databricks</vt:lpstr>
      <vt:lpstr>RAG Architecture Recap (Production View) </vt:lpstr>
      <vt:lpstr>Application Structure</vt:lpstr>
      <vt:lpstr>Summary</vt:lpstr>
      <vt:lpstr>PowerPoint Presentation</vt:lpstr>
      <vt:lpstr>PowerPoint Presentation</vt:lpstr>
      <vt:lpstr>PowerPoint Presentation</vt:lpstr>
      <vt:lpstr>PowerPoint Presentation</vt:lpstr>
      <vt:lpstr>PowerPoint Presentation</vt:lpstr>
      <vt:lpstr>PowerPoint Presentation</vt:lpstr>
      <vt:lpstr>RAG Evaluation</vt:lpstr>
      <vt:lpstr>What Are We Evaluating? </vt:lpstr>
      <vt:lpstr>Core Evaluation Metrics</vt:lpstr>
      <vt:lpstr>Quantitative Evaluation Metrics</vt:lpstr>
      <vt:lpstr>Quantitative Evaluation Metrics</vt:lpstr>
      <vt:lpstr>Human-in-the-Loop Evaluation</vt:lpstr>
      <vt:lpstr>Building an Evaluation Pipeline on Databricks</vt:lpstr>
      <vt:lpstr>Building an Evaluation Pipeline on Databricks</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Manish</dc:creator>
  <cp:lastModifiedBy>Monika Arora</cp:lastModifiedBy>
  <cp:revision>123</cp:revision>
  <dcterms:created xsi:type="dcterms:W3CDTF">2025-10-16T10:31:45Z</dcterms:created>
  <dcterms:modified xsi:type="dcterms:W3CDTF">2025-11-07T08:55:48Z</dcterms:modified>
</cp:coreProperties>
</file>